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36"/>
  </p:notesMasterIdLst>
  <p:sldIdLst>
    <p:sldId id="256" r:id="rId5"/>
    <p:sldId id="257" r:id="rId6"/>
    <p:sldId id="293" r:id="rId7"/>
    <p:sldId id="259" r:id="rId8"/>
    <p:sldId id="260" r:id="rId9"/>
    <p:sldId id="261" r:id="rId10"/>
    <p:sldId id="262" r:id="rId11"/>
    <p:sldId id="263" r:id="rId12"/>
    <p:sldId id="264" r:id="rId13"/>
    <p:sldId id="276" r:id="rId14"/>
    <p:sldId id="277" r:id="rId15"/>
    <p:sldId id="278" r:id="rId16"/>
    <p:sldId id="292" r:id="rId17"/>
    <p:sldId id="279" r:id="rId18"/>
    <p:sldId id="299" r:id="rId19"/>
    <p:sldId id="282" r:id="rId20"/>
    <p:sldId id="270" r:id="rId21"/>
    <p:sldId id="266" r:id="rId22"/>
    <p:sldId id="265" r:id="rId23"/>
    <p:sldId id="267" r:id="rId24"/>
    <p:sldId id="268" r:id="rId25"/>
    <p:sldId id="269" r:id="rId26"/>
    <p:sldId id="295" r:id="rId27"/>
    <p:sldId id="283" r:id="rId28"/>
    <p:sldId id="296" r:id="rId29"/>
    <p:sldId id="285" r:id="rId30"/>
    <p:sldId id="286" r:id="rId31"/>
    <p:sldId id="287" r:id="rId32"/>
    <p:sldId id="288" r:id="rId33"/>
    <p:sldId id="289" r:id="rId34"/>
    <p:sldId id="290" r:id="rId35"/>
  </p:sldIdLst>
  <p:sldSz cx="18288000" cy="10287000"/>
  <p:notesSz cx="6858000" cy="9144000"/>
  <p:embeddedFontLst>
    <p:embeddedFont>
      <p:font typeface="Abadi" panose="020B0604020104020204" pitchFamily="34" charset="0"/>
      <p:regular r:id="rId37"/>
      <p:bold r:id="rId38"/>
      <p:italic r:id="rId39"/>
      <p:boldItalic r:id="rId40"/>
    </p:embeddedFont>
    <p:embeddedFont>
      <p:font typeface="Agency FB" panose="020B0503020202020204" pitchFamily="34" charset="0"/>
      <p:regular r:id="rId41"/>
      <p:bold r:id="rId42"/>
    </p:embeddedFont>
    <p:embeddedFont>
      <p:font typeface="DIN Offc 1" panose="020B0604020202020204" charset="0"/>
      <p:regular r:id="rId43"/>
    </p:embeddedFont>
    <p:embeddedFont>
      <p:font typeface="DIN Offc 2" panose="020B0604020202020204" charset="0"/>
      <p:regular r:id="rId44"/>
    </p:embeddedFont>
    <p:embeddedFont>
      <p:font typeface="DIN Offc 3" panose="020B0604020202020204" charset="0"/>
      <p:regular r:id="rId45"/>
    </p:embeddedFont>
    <p:embeddedFont>
      <p:font typeface="FH Lecturis Rounded Test Bold" panose="020B0604020202020204" charset="0"/>
      <p:regular r:id="rId46"/>
    </p:embeddedFont>
    <p:embeddedFont>
      <p:font typeface="Footlight MT Light" panose="0204060206030A020304" pitchFamily="18" charset="0"/>
      <p:regular r:id="rId47"/>
    </p:embeddedFont>
    <p:embeddedFont>
      <p:font typeface="Public Sans Bold" panose="020B0604020202020204" charset="0"/>
      <p:regular r:id="rId48"/>
    </p:embeddedFont>
    <p:embeddedFont>
      <p:font typeface="Tahoma" panose="020B0604030504040204" pitchFamily="34" charset="0"/>
      <p:regular r:id="rId49"/>
      <p:bold r:id="rId50"/>
    </p:embeddedFont>
    <p:embeddedFont>
      <p:font typeface="Tahoma Bold" panose="020B0804030504040204" pitchFamily="34" charset="0"/>
      <p:regular r:id="rId51"/>
      <p:bold r:id="rId52"/>
    </p:embeddedFont>
  </p:embeddedFontLst>
  <p:custDataLst>
    <p:tags r:id="rId5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E12FCF-907F-457A-A280-9F685C31F452}" v="30" dt="2026-01-30T15:05:18.7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8177" autoAdjust="0"/>
  </p:normalViewPr>
  <p:slideViewPr>
    <p:cSldViewPr>
      <p:cViewPr varScale="1">
        <p:scale>
          <a:sx n="36" d="100"/>
          <a:sy n="36" d="100"/>
        </p:scale>
        <p:origin x="640" y="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3.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tags" Target="tags/tag1.xml"/><Relationship Id="rId58" Type="http://schemas.microsoft.com/office/2016/11/relationships/changesInfo" Target="changesInfos/changesInfo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7.fntdata"/><Relationship Id="rId48" Type="http://schemas.openxmlformats.org/officeDocument/2006/relationships/font" Target="fonts/font12.fntdata"/><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font" Target="fonts/font15.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2.fntdata"/><Relationship Id="rId46" Type="http://schemas.openxmlformats.org/officeDocument/2006/relationships/font" Target="fonts/font10.fntdata"/><Relationship Id="rId59"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font" Target="fonts/font5.fntdata"/><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49" Type="http://schemas.openxmlformats.org/officeDocument/2006/relationships/font" Target="fonts/font13.fntdata"/><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font" Target="fonts/font8.fntdata"/><Relationship Id="rId52" Type="http://schemas.openxmlformats.org/officeDocument/2006/relationships/font" Target="fonts/font16.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lene Vassell" userId="081ea492-faf3-4c90-8d98-21f2ee4fba51" providerId="ADAL" clId="{11344E0D-64EA-4F00-8F3F-CFAE27F87010}"/>
    <pc:docChg chg="undo custSel addSld delSld modSld sldOrd">
      <pc:chgData name="Marlene Vassell" userId="081ea492-faf3-4c90-8d98-21f2ee4fba51" providerId="ADAL" clId="{11344E0D-64EA-4F00-8F3F-CFAE27F87010}" dt="2026-02-02T09:14:37.437" v="149" actId="478"/>
      <pc:docMkLst>
        <pc:docMk/>
      </pc:docMkLst>
      <pc:sldChg chg="modSp mod">
        <pc:chgData name="Marlene Vassell" userId="081ea492-faf3-4c90-8d98-21f2ee4fba51" providerId="ADAL" clId="{11344E0D-64EA-4F00-8F3F-CFAE27F87010}" dt="2026-01-30T13:59:10.794" v="59" actId="20577"/>
        <pc:sldMkLst>
          <pc:docMk/>
          <pc:sldMk cId="0" sldId="256"/>
        </pc:sldMkLst>
        <pc:spChg chg="mod">
          <ac:chgData name="Marlene Vassell" userId="081ea492-faf3-4c90-8d98-21f2ee4fba51" providerId="ADAL" clId="{11344E0D-64EA-4F00-8F3F-CFAE27F87010}" dt="2026-01-30T13:59:10.794" v="59" actId="20577"/>
          <ac:spMkLst>
            <pc:docMk/>
            <pc:sldMk cId="0" sldId="256"/>
            <ac:spMk id="4" creationId="{00000000-0000-0000-0000-000000000000}"/>
          </ac:spMkLst>
        </pc:spChg>
      </pc:sldChg>
      <pc:sldChg chg="delSp modSp mod">
        <pc:chgData name="Marlene Vassell" userId="081ea492-faf3-4c90-8d98-21f2ee4fba51" providerId="ADAL" clId="{11344E0D-64EA-4F00-8F3F-CFAE27F87010}" dt="2026-02-02T09:14:37.437" v="149" actId="478"/>
        <pc:sldMkLst>
          <pc:docMk/>
          <pc:sldMk cId="0" sldId="257"/>
        </pc:sldMkLst>
        <pc:spChg chg="del mod">
          <ac:chgData name="Marlene Vassell" userId="081ea492-faf3-4c90-8d98-21f2ee4fba51" providerId="ADAL" clId="{11344E0D-64EA-4F00-8F3F-CFAE27F87010}" dt="2026-02-02T09:14:37.437" v="149" actId="478"/>
          <ac:spMkLst>
            <pc:docMk/>
            <pc:sldMk cId="0" sldId="257"/>
            <ac:spMk id="20" creationId="{CFCFCF95-4575-6358-BA75-7555BCD278B0}"/>
          </ac:spMkLst>
        </pc:spChg>
      </pc:sldChg>
      <pc:sldChg chg="modSp mod modNotesTx">
        <pc:chgData name="Marlene Vassell" userId="081ea492-faf3-4c90-8d98-21f2ee4fba51" providerId="ADAL" clId="{11344E0D-64EA-4F00-8F3F-CFAE27F87010}" dt="2026-01-30T14:46:13.916" v="121" actId="12612"/>
        <pc:sldMkLst>
          <pc:docMk/>
          <pc:sldMk cId="1554742304" sldId="293"/>
        </pc:sldMkLst>
        <pc:spChg chg="mod">
          <ac:chgData name="Marlene Vassell" userId="081ea492-faf3-4c90-8d98-21f2ee4fba51" providerId="ADAL" clId="{11344E0D-64EA-4F00-8F3F-CFAE27F87010}" dt="2026-01-30T14:46:13.916" v="121" actId="12612"/>
          <ac:spMkLst>
            <pc:docMk/>
            <pc:sldMk cId="1554742304" sldId="293"/>
            <ac:spMk id="2" creationId="{B3B7F822-4D13-08F9-DC08-376282129A17}"/>
          </ac:spMkLst>
        </pc:spChg>
        <pc:spChg chg="mod">
          <ac:chgData name="Marlene Vassell" userId="081ea492-faf3-4c90-8d98-21f2ee4fba51" providerId="ADAL" clId="{11344E0D-64EA-4F00-8F3F-CFAE27F87010}" dt="2026-01-30T14:46:13.783" v="119"/>
          <ac:spMkLst>
            <pc:docMk/>
            <pc:sldMk cId="1554742304" sldId="293"/>
            <ac:spMk id="3" creationId="{ADC07819-48B4-0E8D-345C-FAF3BBA86845}"/>
          </ac:spMkLst>
        </pc:spChg>
      </pc:sldChg>
      <pc:sldChg chg="addSp delSp modSp mod ord">
        <pc:chgData name="Marlene Vassell" userId="081ea492-faf3-4c90-8d98-21f2ee4fba51" providerId="ADAL" clId="{11344E0D-64EA-4F00-8F3F-CFAE27F87010}" dt="2026-01-30T15:13:06.911" v="146" actId="478"/>
        <pc:sldMkLst>
          <pc:docMk/>
          <pc:sldMk cId="0" sldId="296"/>
        </pc:sldMkLst>
        <pc:picChg chg="mod">
          <ac:chgData name="Marlene Vassell" userId="081ea492-faf3-4c90-8d98-21f2ee4fba51" providerId="ADAL" clId="{11344E0D-64EA-4F00-8F3F-CFAE27F87010}" dt="2026-01-30T14:11:06.297" v="90" actId="1076"/>
          <ac:picMkLst>
            <pc:docMk/>
            <pc:sldMk cId="0" sldId="296"/>
            <ac:picMk id="13" creationId="{040A09B2-34FB-3CBD-5384-41AFD70460E8}"/>
          </ac:picMkLst>
        </pc:picChg>
      </pc:sldChg>
      <pc:sldChg chg="addSp delSp modSp add mod">
        <pc:chgData name="Marlene Vassell" userId="081ea492-faf3-4c90-8d98-21f2ee4fba51" providerId="ADAL" clId="{11344E0D-64EA-4F00-8F3F-CFAE27F87010}" dt="2026-01-30T15:02:52.018" v="134" actId="1076"/>
        <pc:sldMkLst>
          <pc:docMk/>
          <pc:sldMk cId="293326384" sldId="299"/>
        </pc:sldMkLst>
        <pc:spChg chg="add mod">
          <ac:chgData name="Marlene Vassell" userId="081ea492-faf3-4c90-8d98-21f2ee4fba51" providerId="ADAL" clId="{11344E0D-64EA-4F00-8F3F-CFAE27F87010}" dt="2026-01-30T15:02:52.018" v="134" actId="1076"/>
          <ac:spMkLst>
            <pc:docMk/>
            <pc:sldMk cId="293326384" sldId="299"/>
            <ac:spMk id="16" creationId="{FCEC3038-B4A7-AE97-4628-8488A98CA31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02.02.2026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71B2431-D351-4C6E-A3CF-9DFAC0E3E050}" type="slidenum">
              <a:rPr lang="cs-CZ" smtClean="0"/>
              <a:t>1</a:t>
            </a:fld>
            <a:endParaRPr lang="cs-CZ"/>
          </a:p>
        </p:txBody>
      </p:sp>
    </p:spTree>
    <p:extLst>
      <p:ext uri="{BB962C8B-B14F-4D97-AF65-F5344CB8AC3E}">
        <p14:creationId xmlns:p14="http://schemas.microsoft.com/office/powerpoint/2010/main" val="3771296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pPr fontAlgn="t"/>
            <a:r>
              <a:rPr lang="en-GB" sz="1200" b="1" i="0" kern="1200" dirty="0">
                <a:solidFill>
                  <a:schemeClr val="tx1"/>
                </a:solidFill>
                <a:effectLst/>
                <a:latin typeface="+mn-lt"/>
                <a:ea typeface="+mn-ea"/>
                <a:cs typeface="+mn-cs"/>
              </a:rPr>
              <a:t>1. Teamwork &amp; Collaboration</a:t>
            </a:r>
          </a:p>
          <a:p>
            <a:pPr fontAlgn="t"/>
            <a:r>
              <a:rPr lang="en-GB" sz="1200" b="0" i="0" kern="1200" dirty="0">
                <a:solidFill>
                  <a:schemeClr val="tx1"/>
                </a:solidFill>
                <a:effectLst/>
                <a:latin typeface="+mn-lt"/>
                <a:ea typeface="+mn-ea"/>
                <a:cs typeface="+mn-cs"/>
              </a:rPr>
              <a:t>You stepped outside your usual duties to support the kitchen and front-of-house staff, working together to manage the sudden pressure.</a:t>
            </a:r>
          </a:p>
          <a:p>
            <a:pPr fontAlgn="t"/>
            <a:r>
              <a:rPr lang="en-GB" sz="1200" b="1" i="0" kern="1200" dirty="0">
                <a:solidFill>
                  <a:schemeClr val="tx1"/>
                </a:solidFill>
                <a:effectLst/>
                <a:latin typeface="+mn-lt"/>
                <a:ea typeface="+mn-ea"/>
                <a:cs typeface="+mn-cs"/>
              </a:rPr>
              <a:t>⭐ 2. Problem-Solving</a:t>
            </a:r>
          </a:p>
          <a:p>
            <a:pPr fontAlgn="t"/>
            <a:r>
              <a:rPr lang="en-GB" sz="1200" b="0" i="0" kern="1200" dirty="0">
                <a:solidFill>
                  <a:schemeClr val="tx1"/>
                </a:solidFill>
                <a:effectLst/>
                <a:latin typeface="+mn-lt"/>
                <a:ea typeface="+mn-ea"/>
                <a:cs typeface="+mn-cs"/>
              </a:rPr>
              <a:t>You quickly figured out how to reorganise tables, manage workflow, and adjust to the unexpected situation.</a:t>
            </a:r>
          </a:p>
          <a:p>
            <a:pPr fontAlgn="t"/>
            <a:r>
              <a:rPr lang="en-GB" sz="1200" b="1" i="0" kern="1200" dirty="0">
                <a:solidFill>
                  <a:schemeClr val="tx1"/>
                </a:solidFill>
                <a:effectLst/>
                <a:latin typeface="+mn-lt"/>
                <a:ea typeface="+mn-ea"/>
                <a:cs typeface="+mn-cs"/>
              </a:rPr>
              <a:t>⭐ 3. Communication Skills</a:t>
            </a:r>
          </a:p>
          <a:p>
            <a:pPr fontAlgn="t"/>
            <a:r>
              <a:rPr lang="en-GB" sz="1200" b="0" i="0" kern="1200" dirty="0">
                <a:solidFill>
                  <a:schemeClr val="tx1"/>
                </a:solidFill>
                <a:effectLst/>
                <a:latin typeface="+mn-lt"/>
                <a:ea typeface="+mn-ea"/>
                <a:cs typeface="+mn-cs"/>
              </a:rPr>
              <a:t>You kept customers informed and calm, managing expectations clearly and professionally.</a:t>
            </a:r>
          </a:p>
          <a:p>
            <a:pPr fontAlgn="t"/>
            <a:r>
              <a:rPr lang="en-GB" sz="1200" b="1" i="0" kern="1200" dirty="0">
                <a:solidFill>
                  <a:schemeClr val="tx1"/>
                </a:solidFill>
                <a:effectLst/>
                <a:latin typeface="+mn-lt"/>
                <a:ea typeface="+mn-ea"/>
                <a:cs typeface="+mn-cs"/>
              </a:rPr>
              <a:t>⭐ 4. Customer Service</a:t>
            </a:r>
          </a:p>
          <a:p>
            <a:pPr fontAlgn="t"/>
            <a:r>
              <a:rPr lang="en-GB" sz="1200" b="0" i="0" kern="1200" dirty="0">
                <a:solidFill>
                  <a:schemeClr val="tx1"/>
                </a:solidFill>
                <a:effectLst/>
                <a:latin typeface="+mn-lt"/>
                <a:ea typeface="+mn-ea"/>
                <a:cs typeface="+mn-cs"/>
              </a:rPr>
              <a:t>You provided reassurance, addressed concerns, and ensured guests still had a positive experience despite delays.</a:t>
            </a:r>
          </a:p>
          <a:p>
            <a:pPr fontAlgn="t"/>
            <a:r>
              <a:rPr lang="en-GB" sz="1200" b="1" i="0" kern="1200" dirty="0">
                <a:solidFill>
                  <a:schemeClr val="tx1"/>
                </a:solidFill>
                <a:effectLst/>
                <a:latin typeface="+mn-lt"/>
                <a:ea typeface="+mn-ea"/>
                <a:cs typeface="+mn-cs"/>
              </a:rPr>
              <a:t>⭐ 5. Time Management</a:t>
            </a:r>
          </a:p>
          <a:p>
            <a:pPr fontAlgn="t"/>
            <a:r>
              <a:rPr lang="en-GB" sz="1200" b="0" i="0" kern="1200" dirty="0">
                <a:solidFill>
                  <a:schemeClr val="tx1"/>
                </a:solidFill>
                <a:effectLst/>
                <a:latin typeface="+mn-lt"/>
                <a:ea typeface="+mn-ea"/>
                <a:cs typeface="+mn-cs"/>
              </a:rPr>
              <a:t>You balanced multiple tasks—seating guests, taking orders, assisting the team—while staying efficient.</a:t>
            </a:r>
          </a:p>
          <a:p>
            <a:pPr fontAlgn="t"/>
            <a:r>
              <a:rPr lang="en-GB" sz="1200" b="1" i="0" kern="1200" dirty="0">
                <a:solidFill>
                  <a:schemeClr val="tx1"/>
                </a:solidFill>
                <a:effectLst/>
                <a:latin typeface="+mn-lt"/>
                <a:ea typeface="+mn-ea"/>
                <a:cs typeface="+mn-cs"/>
              </a:rPr>
              <a:t>⭐ 6. Adaptability / Flexibility</a:t>
            </a:r>
          </a:p>
          <a:p>
            <a:pPr fontAlgn="t"/>
            <a:r>
              <a:rPr lang="en-GB" sz="1200" b="0" i="0" kern="1200" dirty="0">
                <a:solidFill>
                  <a:schemeClr val="tx1"/>
                </a:solidFill>
                <a:effectLst/>
                <a:latin typeface="+mn-lt"/>
                <a:ea typeface="+mn-ea"/>
                <a:cs typeface="+mn-cs"/>
              </a:rPr>
              <a:t>You responded quickly to an unplanned situation, adjusting your role to meet the immediate needs of the business.</a:t>
            </a:r>
          </a:p>
          <a:p>
            <a:pPr fontAlgn="t"/>
            <a:r>
              <a:rPr lang="en-GB" sz="1200" b="1" i="0" kern="1200" dirty="0">
                <a:solidFill>
                  <a:schemeClr val="tx1"/>
                </a:solidFill>
                <a:effectLst/>
                <a:latin typeface="+mn-lt"/>
                <a:ea typeface="+mn-ea"/>
                <a:cs typeface="+mn-cs"/>
              </a:rPr>
              <a:t>⭐ 7. Stress Management</a:t>
            </a:r>
          </a:p>
          <a:p>
            <a:pPr fontAlgn="t"/>
            <a:r>
              <a:rPr lang="en-GB" sz="1200" b="0" i="0" kern="1200" dirty="0">
                <a:solidFill>
                  <a:schemeClr val="tx1"/>
                </a:solidFill>
                <a:effectLst/>
                <a:latin typeface="+mn-lt"/>
                <a:ea typeface="+mn-ea"/>
                <a:cs typeface="+mn-cs"/>
              </a:rPr>
              <a:t>Even under pressure, you stayed composed, which helped maintain a positive environment for both customers and colleagues.</a:t>
            </a:r>
          </a:p>
          <a:p>
            <a:pPr fontAlgn="t"/>
            <a:r>
              <a:rPr lang="en-GB" sz="1200" b="1" i="0" kern="1200" dirty="0">
                <a:solidFill>
                  <a:schemeClr val="tx1"/>
                </a:solidFill>
                <a:effectLst/>
                <a:latin typeface="+mn-lt"/>
                <a:ea typeface="+mn-ea"/>
                <a:cs typeface="+mn-cs"/>
              </a:rPr>
              <a:t>⭐ 8. Leadership (even without a title)</a:t>
            </a:r>
          </a:p>
          <a:p>
            <a:pPr fontAlgn="t"/>
            <a:r>
              <a:rPr lang="en-GB" sz="1200" b="0" i="0" kern="1200" dirty="0">
                <a:solidFill>
                  <a:schemeClr val="tx1"/>
                </a:solidFill>
                <a:effectLst/>
                <a:latin typeface="+mn-lt"/>
                <a:ea typeface="+mn-ea"/>
                <a:cs typeface="+mn-cs"/>
              </a:rPr>
              <a:t>You took initiative, organised people, and guided the situation forward until the kitchen caught up.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871B2431-D351-4C6E-A3CF-9DFAC0E3E050}" type="slidenum">
              <a:rPr lang="cs-CZ" smtClean="0"/>
              <a:t>3</a:t>
            </a:fld>
            <a:endParaRPr lang="cs-CZ"/>
          </a:p>
        </p:txBody>
      </p:sp>
    </p:spTree>
    <p:extLst>
      <p:ext uri="{BB962C8B-B14F-4D97-AF65-F5344CB8AC3E}">
        <p14:creationId xmlns:p14="http://schemas.microsoft.com/office/powerpoint/2010/main" val="40871995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GB" dirty="0"/>
              <a:t>Employers have identified the key qualities they look for in individuals when recruiting. Use this audit to consider which skills you have experience in an those you still need to develop. If you need ideas check out the Careers+ website or make an appointment with a careers coach.</a:t>
            </a:r>
          </a:p>
          <a:p>
            <a:r>
              <a:rPr lang="en-GB" dirty="0"/>
              <a:t>Skill areas: problem solving / decision making, planning an organising, teamwork, written communication, verbal communication / presentation skills, digital literacy, creativity / initiative.</a:t>
            </a:r>
          </a:p>
          <a:p>
            <a:endParaRPr lang="en-GB" dirty="0"/>
          </a:p>
        </p:txBody>
      </p:sp>
      <p:sp>
        <p:nvSpPr>
          <p:cNvPr id="4" name="Slide Number Placeholder 3"/>
          <p:cNvSpPr>
            <a:spLocks noGrp="1"/>
          </p:cNvSpPr>
          <p:nvPr>
            <p:ph type="sldNum" sz="quarter" idx="5"/>
          </p:nvPr>
        </p:nvSpPr>
        <p:spPr/>
        <p:txBody>
          <a:bodyPr/>
          <a:lstStyle/>
          <a:p>
            <a:fld id="{871B2431-D351-4C6E-A3CF-9DFAC0E3E050}" type="slidenum">
              <a:rPr lang="cs-CZ" smtClean="0"/>
              <a:t>7</a:t>
            </a:fld>
            <a:endParaRPr lang="cs-CZ"/>
          </a:p>
        </p:txBody>
      </p:sp>
    </p:spTree>
    <p:extLst>
      <p:ext uri="{BB962C8B-B14F-4D97-AF65-F5344CB8AC3E}">
        <p14:creationId xmlns:p14="http://schemas.microsoft.com/office/powerpoint/2010/main" val="36082355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Update profile examples</a:t>
            </a:r>
          </a:p>
          <a:p>
            <a:r>
              <a:rPr lang="en-US"/>
              <a:t>20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dirty="0"/>
              <a:t>8</a:t>
            </a:r>
          </a:p>
          <a:p>
            <a:r>
              <a:rPr lang="en-US" dirty="0"/>
              <a:t>This is a pattern or sequence based question - which tile from the bottom row should come next in the sequence on the top row? </a:t>
            </a:r>
          </a:p>
          <a:p>
            <a:r>
              <a:rPr lang="en-US" dirty="0"/>
              <a:t>Ask student to shout out answers. </a:t>
            </a:r>
          </a:p>
          <a:p>
            <a:endParaRPr lang="en-US" dirty="0"/>
          </a:p>
          <a:p>
            <a:r>
              <a:rPr lang="en-US" dirty="0"/>
              <a:t>ANSWER: C</a:t>
            </a:r>
          </a:p>
          <a:p>
            <a:endParaRPr lang="en-US" dirty="0"/>
          </a:p>
          <a:p>
            <a:r>
              <a:rPr lang="en-US" dirty="0"/>
              <a:t>Ask students why its C? They must notice everything about the pattern which includes…direction of arrow, shape, direction of line</a:t>
            </a:r>
          </a:p>
          <a:p>
            <a:endParaRPr lang="en-US" dirty="0"/>
          </a:p>
          <a:p>
            <a:r>
              <a:rPr lang="en-US" dirty="0"/>
              <a:t>This is question 1 of 14 (you can see numbers across the top). They start easy and then get progressively harder. </a:t>
            </a:r>
          </a:p>
          <a:p>
            <a:r>
              <a:rPr lang="en-US" dirty="0"/>
              <a:t>Note the timer in top right corner – 14ms to answer 14 questions. If you do the math this gives your roughly 60 seconds for each question… and as said before they get harder so remember to work quickly &amp; accurately.</a:t>
            </a:r>
          </a:p>
          <a:p>
            <a:endParaRPr lang="en-GB" dirty="0"/>
          </a:p>
        </p:txBody>
      </p:sp>
      <p:sp>
        <p:nvSpPr>
          <p:cNvPr id="4" name="Slide Number Placeholder 3"/>
          <p:cNvSpPr>
            <a:spLocks noGrp="1"/>
          </p:cNvSpPr>
          <p:nvPr>
            <p:ph type="sldNum" sz="quarter" idx="5"/>
          </p:nvPr>
        </p:nvSpPr>
        <p:spPr/>
        <p:txBody>
          <a:bodyPr/>
          <a:lstStyle/>
          <a:p>
            <a:fld id="{871B2431-D351-4C6E-A3CF-9DFAC0E3E050}" type="slidenum">
              <a:rPr lang="cs-CZ" smtClean="0"/>
              <a:t>15</a:t>
            </a:fld>
            <a:endParaRPr lang="cs-CZ"/>
          </a:p>
        </p:txBody>
      </p:sp>
    </p:spTree>
    <p:extLst>
      <p:ext uri="{BB962C8B-B14F-4D97-AF65-F5344CB8AC3E}">
        <p14:creationId xmlns:p14="http://schemas.microsoft.com/office/powerpoint/2010/main" val="7710400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Update slide for GradFirst</a:t>
            </a:r>
          </a:p>
          <a:p>
            <a:r>
              <a:rPr lang="en-US"/>
              <a:t>27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r>
              <a:rPr lang="en-US"/>
              <a:t>Any questions?</a:t>
            </a:r>
          </a:p>
          <a:p>
            <a:endParaRPr lang="en-US"/>
          </a:p>
          <a:p>
            <a:r>
              <a:rPr lang="en-US"/>
              <a:t>Tell us what you think...</a:t>
            </a:r>
          </a:p>
          <a:p>
            <a:endParaRPr lang="en-US"/>
          </a:p>
          <a:p>
            <a:r>
              <a:rPr lang="en-US"/>
              <a:t>QR code needs amending/updating</a:t>
            </a:r>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Encourage students to think more broadly than the usual non-grad sites like indeed and total jobs. Also consider industry-based jobsites/industry bodies and careers+ jobs portal. Mention that careers+ have industry-based jobsite listings on the website. </a:t>
            </a:r>
          </a:p>
          <a:p>
            <a:r>
              <a:rPr lang="en-US" dirty="0"/>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Encourage students to think more broadly than the usual non-grad sites like indeed and total jobs. Also consider industry-based jobsites/industry bodies and careers+ jobs portal. Mention that careers+ have industry-based jobsite listings on the website. </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Encourage students to think more broadly than the usual non-grad sites like indeed and total jobs. Also consider industry-based jobsites/industry bodies and careers+ jobs portal. Mention that careers+ have industry-based jobsite listings on the website. </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RICS provides career pathway advice as well as a jobs board for the industry </a:t>
            </a:r>
          </a:p>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8" Type="http://schemas.openxmlformats.org/officeDocument/2006/relationships/hyperlink" Target="https://www.slido.com/powerpoint-polling?utm_source=powerpoint&amp;utm_medium=placeholder-slide" TargetMode="External"/><Relationship Id="rId13" Type="http://schemas.openxmlformats.org/officeDocument/2006/relationships/image" Target="../media/image9.svg"/><Relationship Id="rId3" Type="http://schemas.openxmlformats.org/officeDocument/2006/relationships/tags" Target="../tags/tag4.xml"/><Relationship Id="rId7" Type="http://schemas.openxmlformats.org/officeDocument/2006/relationships/image" Target="../media/image5.svg"/><Relationship Id="rId12" Type="http://schemas.openxmlformats.org/officeDocument/2006/relationships/image" Target="../media/image8.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4.png"/><Relationship Id="rId11" Type="http://schemas.openxmlformats.org/officeDocument/2006/relationships/hyperlink" Target="https://www.slido.com/support/ppi/how-to-change-the-design" TargetMode="External"/><Relationship Id="rId5" Type="http://schemas.openxmlformats.org/officeDocument/2006/relationships/notesSlide" Target="../notesSlides/notesSlide2.xml"/><Relationship Id="rId10" Type="http://schemas.openxmlformats.org/officeDocument/2006/relationships/image" Target="../media/image7.svg"/><Relationship Id="rId4" Type="http://schemas.openxmlformats.org/officeDocument/2006/relationships/slideLayout" Target="../slideLayouts/slideLayout7.xml"/><Relationship Id="rId9"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 Id="rId9"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5.svg"/></Relationships>
</file>

<file path=ppt/slides/_rels/slide9.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pn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svg"/><Relationship Id="rId2" Type="http://schemas.openxmlformats.org/officeDocument/2006/relationships/hyperlink" Target="https://www.google.com/url?sa=i&amp;url=https%3A%2F%2Fen.wikipedia.org%2Fwiki%2FGoogle_logo&amp;psig=AOvVaw3V9TcXF0utq9SAyuBXskXl&amp;ust=1761208848822000&amp;source=images&amp;cd=vfe&amp;opi=89978449&amp;ved=0CBYQjRxqFwoTCNDMm720t5ADFQAAAAAdAAAAABAE" TargetMode="External"/><Relationship Id="rId1" Type="http://schemas.openxmlformats.org/officeDocument/2006/relationships/slideLayout" Target="../slideLayouts/slideLayout7.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27.png"/><Relationship Id="rId9" Type="http://schemas.openxmlformats.org/officeDocument/2006/relationships/image" Target="../media/image32.png"/><Relationship Id="rId14" Type="http://schemas.openxmlformats.org/officeDocument/2006/relationships/image" Target="../media/image37.png"/></Relationships>
</file>

<file path=ppt/slides/_rels/slide1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svg"/></Relationships>
</file>

<file path=ppt/slides/_rels/slide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hyperlink" Target="https://bcu.careercentre.me/Resources/CustomPage/28573" TargetMode="External"/><Relationship Id="rId4" Type="http://schemas.openxmlformats.org/officeDocument/2006/relationships/image" Target="../media/image48.png"/></Relationships>
</file>

<file path=ppt/slides/_rels/slide1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33.svg"/></Relationships>
</file>

<file path=ppt/slides/_rels/slide19.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8.png"/><Relationship Id="rId3" Type="http://schemas.openxmlformats.org/officeDocument/2006/relationships/image" Target="../media/image51.svg"/><Relationship Id="rId7" Type="http://schemas.openxmlformats.org/officeDocument/2006/relationships/hyperlink" Target="https://www.theforage.com/landing/birmingham-city-university-aobm8/computing-opportunities-pBJ6" TargetMode="External"/><Relationship Id="rId12" Type="http://schemas.openxmlformats.org/officeDocument/2006/relationships/image" Target="../media/image57.svg"/><Relationship Id="rId17" Type="http://schemas.openxmlformats.org/officeDocument/2006/relationships/image" Target="../media/image61.png"/><Relationship Id="rId2" Type="http://schemas.openxmlformats.org/officeDocument/2006/relationships/image" Target="../media/image50.png"/><Relationship Id="rId16" Type="http://schemas.openxmlformats.org/officeDocument/2006/relationships/image" Target="../media/image60.svg"/><Relationship Id="rId1" Type="http://schemas.openxmlformats.org/officeDocument/2006/relationships/slideLayout" Target="../slideLayouts/slideLayout7.xml"/><Relationship Id="rId6" Type="http://schemas.openxmlformats.org/officeDocument/2006/relationships/hyperlink" Target="https://www.theforage.com/landing/birmingham-city-university-aobm8/engineering-9boh" TargetMode="External"/><Relationship Id="rId11" Type="http://schemas.openxmlformats.org/officeDocument/2006/relationships/image" Target="../media/image56.png"/><Relationship Id="rId5" Type="http://schemas.openxmlformats.org/officeDocument/2006/relationships/image" Target="../media/image53.svg"/><Relationship Id="rId15" Type="http://schemas.openxmlformats.org/officeDocument/2006/relationships/image" Target="../media/image59.png"/><Relationship Id="rId10" Type="http://schemas.openxmlformats.org/officeDocument/2006/relationships/hyperlink" Target="https://www.theforage.com/landing/birmingham-city-university-aobm8/built-environment-opportunities-y7Db" TargetMode="External"/><Relationship Id="rId4" Type="http://schemas.openxmlformats.org/officeDocument/2006/relationships/image" Target="../media/image52.png"/><Relationship Id="rId9" Type="http://schemas.openxmlformats.org/officeDocument/2006/relationships/image" Target="../media/image55.png"/><Relationship Id="rId14" Type="http://schemas.openxmlformats.org/officeDocument/2006/relationships/hyperlink" Target="https://www.theforage.com/landing/birmingham-city-university-aobm8/built-environment-opportunities-68bp" TargetMode="External"/></Relationships>
</file>

<file path=ppt/slides/_rels/slide20.xml.rels><?xml version="1.0" encoding="UTF-8" standalone="yes"?>
<Relationships xmlns="http://schemas.openxmlformats.org/package/2006/relationships"><Relationship Id="rId8" Type="http://schemas.openxmlformats.org/officeDocument/2006/relationships/image" Target="../media/image66.svg"/><Relationship Id="rId3" Type="http://schemas.openxmlformats.org/officeDocument/2006/relationships/image" Target="../media/image1.png"/><Relationship Id="rId7" Type="http://schemas.openxmlformats.org/officeDocument/2006/relationships/image" Target="../media/image65.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64.svg"/><Relationship Id="rId11" Type="http://schemas.openxmlformats.org/officeDocument/2006/relationships/hyperlink" Target="https://new.express.adobe.com/webpage/9sKzEFpLTya8U" TargetMode="External"/><Relationship Id="rId5" Type="http://schemas.openxmlformats.org/officeDocument/2006/relationships/image" Target="../media/image63.png"/><Relationship Id="rId10" Type="http://schemas.openxmlformats.org/officeDocument/2006/relationships/image" Target="../media/image68.svg"/><Relationship Id="rId4" Type="http://schemas.openxmlformats.org/officeDocument/2006/relationships/image" Target="../media/image62.png"/><Relationship Id="rId9" Type="http://schemas.openxmlformats.org/officeDocument/2006/relationships/image" Target="../media/image67.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71.svg"/><Relationship Id="rId5" Type="http://schemas.openxmlformats.org/officeDocument/2006/relationships/image" Target="../media/image70.png"/><Relationship Id="rId4" Type="http://schemas.openxmlformats.org/officeDocument/2006/relationships/image" Target="../media/image6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71.svg"/><Relationship Id="rId5" Type="http://schemas.openxmlformats.org/officeDocument/2006/relationships/image" Target="../media/image70.png"/><Relationship Id="rId4" Type="http://schemas.openxmlformats.org/officeDocument/2006/relationships/hyperlink" Target="https://moodle.bcu.ac.uk/course/view.php?id=89723"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72.png"/><Relationship Id="rId7" Type="http://schemas.openxmlformats.org/officeDocument/2006/relationships/image" Target="../media/image75.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74.png"/><Relationship Id="rId5" Type="http://schemas.openxmlformats.org/officeDocument/2006/relationships/hyperlink" Target="https://www.bcs.org/" TargetMode="External"/><Relationship Id="rId4" Type="http://schemas.openxmlformats.org/officeDocument/2006/relationships/image" Target="../media/image73.png"/></Relationships>
</file>

<file path=ppt/slides/_rels/slide24.xml.rels><?xml version="1.0" encoding="UTF-8" standalone="yes"?>
<Relationships xmlns="http://schemas.openxmlformats.org/package/2006/relationships"><Relationship Id="rId3" Type="http://schemas.openxmlformats.org/officeDocument/2006/relationships/hyperlink" Target="https://bcu.careercentre.me/Members" TargetMode="External"/><Relationship Id="rId2" Type="http://schemas.openxmlformats.org/officeDocument/2006/relationships/image" Target="../media/image72.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2.png"/><Relationship Id="rId1" Type="http://schemas.openxmlformats.org/officeDocument/2006/relationships/slideLayout" Target="../slideLayouts/slideLayout7.xml"/><Relationship Id="rId5" Type="http://schemas.openxmlformats.org/officeDocument/2006/relationships/image" Target="../media/image79.png"/><Relationship Id="rId4" Type="http://schemas.openxmlformats.org/officeDocument/2006/relationships/image" Target="../media/image78.svg"/></Relationships>
</file>

<file path=ppt/slides/_rels/slide28.xml.rels><?xml version="1.0" encoding="UTF-8" standalone="yes"?>
<Relationships xmlns="http://schemas.openxmlformats.org/package/2006/relationships"><Relationship Id="rId3" Type="http://schemas.openxmlformats.org/officeDocument/2006/relationships/image" Target="../media/image81.svg"/><Relationship Id="rId2" Type="http://schemas.openxmlformats.org/officeDocument/2006/relationships/image" Target="../media/image80.png"/><Relationship Id="rId1" Type="http://schemas.openxmlformats.org/officeDocument/2006/relationships/slideLayout" Target="../slideLayouts/slideLayout7.xml"/><Relationship Id="rId5" Type="http://schemas.openxmlformats.org/officeDocument/2006/relationships/image" Target="../media/image83.svg"/><Relationship Id="rId4" Type="http://schemas.openxmlformats.org/officeDocument/2006/relationships/image" Target="../media/image82.png"/></Relationships>
</file>

<file path=ppt/slides/_rels/slide29.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image" Target="../media/image91.png"/><Relationship Id="rId13" Type="http://schemas.openxmlformats.org/officeDocument/2006/relationships/image" Target="../media/image96.png"/><Relationship Id="rId3" Type="http://schemas.openxmlformats.org/officeDocument/2006/relationships/image" Target="../media/image86.svg"/><Relationship Id="rId7" Type="http://schemas.openxmlformats.org/officeDocument/2006/relationships/image" Target="../media/image90.svg"/><Relationship Id="rId12" Type="http://schemas.openxmlformats.org/officeDocument/2006/relationships/image" Target="../media/image95.png"/><Relationship Id="rId2" Type="http://schemas.openxmlformats.org/officeDocument/2006/relationships/image" Target="../media/image85.png"/><Relationship Id="rId1" Type="http://schemas.openxmlformats.org/officeDocument/2006/relationships/slideLayout" Target="../slideLayouts/slideLayout7.xml"/><Relationship Id="rId6" Type="http://schemas.openxmlformats.org/officeDocument/2006/relationships/image" Target="../media/image89.png"/><Relationship Id="rId11" Type="http://schemas.openxmlformats.org/officeDocument/2006/relationships/image" Target="../media/image94.png"/><Relationship Id="rId5" Type="http://schemas.openxmlformats.org/officeDocument/2006/relationships/image" Target="../media/image88.svg"/><Relationship Id="rId10" Type="http://schemas.openxmlformats.org/officeDocument/2006/relationships/image" Target="../media/image93.png"/><Relationship Id="rId4" Type="http://schemas.openxmlformats.org/officeDocument/2006/relationships/image" Target="../media/image87.png"/><Relationship Id="rId9" Type="http://schemas.openxmlformats.org/officeDocument/2006/relationships/image" Target="../media/image92.png"/><Relationship Id="rId14" Type="http://schemas.openxmlformats.org/officeDocument/2006/relationships/image" Target="../media/image97.png"/></Relationships>
</file>

<file path=ppt/slides/_rels/slide31.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E4E"/>
        </a:solidFill>
        <a:effectLst/>
      </p:bgPr>
    </p:bg>
    <p:spTree>
      <p:nvGrpSpPr>
        <p:cNvPr id="1" name=""/>
        <p:cNvGrpSpPr/>
        <p:nvPr/>
      </p:nvGrpSpPr>
      <p:grpSpPr>
        <a:xfrm>
          <a:off x="0" y="0"/>
          <a:ext cx="0" cy="0"/>
          <a:chOff x="0" y="0"/>
          <a:chExt cx="0" cy="0"/>
        </a:xfrm>
      </p:grpSpPr>
      <p:sp>
        <p:nvSpPr>
          <p:cNvPr id="2" name="Freeform 2"/>
          <p:cNvSpPr/>
          <p:nvPr/>
        </p:nvSpPr>
        <p:spPr>
          <a:xfrm>
            <a:off x="15136382" y="207149"/>
            <a:ext cx="2856499" cy="573594"/>
          </a:xfrm>
          <a:custGeom>
            <a:avLst/>
            <a:gdLst/>
            <a:ahLst/>
            <a:cxnLst/>
            <a:rect l="l" t="t" r="r" b="b"/>
            <a:pathLst>
              <a:path w="2856499" h="573594">
                <a:moveTo>
                  <a:pt x="0" y="0"/>
                </a:moveTo>
                <a:lnTo>
                  <a:pt x="2856499" y="0"/>
                </a:lnTo>
                <a:lnTo>
                  <a:pt x="2856499" y="573594"/>
                </a:lnTo>
                <a:lnTo>
                  <a:pt x="0" y="573594"/>
                </a:lnTo>
                <a:lnTo>
                  <a:pt x="0" y="0"/>
                </a:lnTo>
                <a:close/>
              </a:path>
            </a:pathLst>
          </a:custGeom>
          <a:blipFill>
            <a:blip r:embed="rId3"/>
            <a:stretch>
              <a:fillRect/>
            </a:stretch>
          </a:blipFill>
        </p:spPr>
        <p:txBody>
          <a:bodyPr/>
          <a:lstStyle/>
          <a:p>
            <a:endParaRPr lang="en-GB"/>
          </a:p>
        </p:txBody>
      </p:sp>
      <p:sp>
        <p:nvSpPr>
          <p:cNvPr id="3" name="TextBox 3"/>
          <p:cNvSpPr txBox="1"/>
          <p:nvPr/>
        </p:nvSpPr>
        <p:spPr>
          <a:xfrm>
            <a:off x="1918276" y="3268872"/>
            <a:ext cx="14451448" cy="1721431"/>
          </a:xfrm>
          <a:prstGeom prst="rect">
            <a:avLst/>
          </a:prstGeom>
        </p:spPr>
        <p:txBody>
          <a:bodyPr lIns="0" tIns="0" rIns="0" bIns="0" rtlCol="0" anchor="t">
            <a:spAutoFit/>
          </a:bodyPr>
          <a:lstStyle/>
          <a:p>
            <a:pPr algn="ctr">
              <a:lnSpc>
                <a:spcPts val="11400"/>
              </a:lnSpc>
            </a:pPr>
            <a:r>
              <a:rPr lang="en-US" sz="10962" b="1">
                <a:solidFill>
                  <a:srgbClr val="C3EDFE"/>
                </a:solidFill>
                <a:latin typeface="FH Lecturis Rounded Test Bold"/>
                <a:ea typeface="FH Lecturis Rounded Test Bold"/>
                <a:cs typeface="FH Lecturis Rounded Test Bold"/>
                <a:sym typeface="FH Lecturis Rounded Test Bold"/>
              </a:rPr>
              <a:t>Career Planning</a:t>
            </a:r>
          </a:p>
        </p:txBody>
      </p:sp>
      <p:sp>
        <p:nvSpPr>
          <p:cNvPr id="4" name="TextBox 4"/>
          <p:cNvSpPr txBox="1"/>
          <p:nvPr/>
        </p:nvSpPr>
        <p:spPr>
          <a:xfrm>
            <a:off x="3923897" y="6289085"/>
            <a:ext cx="10440206" cy="2104359"/>
          </a:xfrm>
          <a:prstGeom prst="rect">
            <a:avLst/>
          </a:prstGeom>
        </p:spPr>
        <p:txBody>
          <a:bodyPr lIns="0" tIns="0" rIns="0" bIns="0" rtlCol="0" anchor="t">
            <a:spAutoFit/>
          </a:bodyPr>
          <a:lstStyle/>
          <a:p>
            <a:pPr algn="ctr">
              <a:lnSpc>
                <a:spcPts val="4200"/>
              </a:lnSpc>
            </a:pPr>
            <a:r>
              <a:rPr lang="en-US" sz="3000" spc="375" dirty="0">
                <a:solidFill>
                  <a:srgbClr val="FFFFFF"/>
                </a:solidFill>
                <a:latin typeface="DIN Offc 1"/>
                <a:ea typeface="DIN Offc 1"/>
                <a:cs typeface="DIN Offc 1"/>
                <a:sym typeface="DIN Offc 1"/>
              </a:rPr>
              <a:t>Computing</a:t>
            </a:r>
          </a:p>
          <a:p>
            <a:pPr algn="ctr">
              <a:lnSpc>
                <a:spcPts val="4200"/>
              </a:lnSpc>
            </a:pPr>
            <a:endParaRPr lang="en-US" sz="3000" spc="375" dirty="0">
              <a:solidFill>
                <a:srgbClr val="FFFFFF"/>
              </a:solidFill>
              <a:latin typeface="DIN Offc 1"/>
              <a:ea typeface="DIN Offc 1"/>
              <a:cs typeface="DIN Offc 1"/>
              <a:sym typeface="DIN Offc 1"/>
            </a:endParaRPr>
          </a:p>
          <a:p>
            <a:pPr algn="ctr">
              <a:lnSpc>
                <a:spcPts val="4200"/>
              </a:lnSpc>
            </a:pPr>
            <a:r>
              <a:rPr lang="en-US" sz="3000" spc="375" dirty="0">
                <a:solidFill>
                  <a:srgbClr val="FFFFFF"/>
                </a:solidFill>
                <a:latin typeface="DIN Offc 1"/>
                <a:ea typeface="DIN Offc 1"/>
                <a:cs typeface="DIN Offc 1"/>
                <a:sym typeface="DIN Offc 1"/>
              </a:rPr>
              <a:t>Delivered by – Marlene Vassell </a:t>
            </a:r>
          </a:p>
          <a:p>
            <a:pPr algn="ctr">
              <a:lnSpc>
                <a:spcPts val="4200"/>
              </a:lnSpc>
            </a:pPr>
            <a:endParaRPr lang="en-US" sz="3000" spc="375" dirty="0">
              <a:solidFill>
                <a:srgbClr val="FFFFFF"/>
              </a:solidFill>
              <a:latin typeface="DIN Offc 1"/>
              <a:ea typeface="DIN Offc 1"/>
              <a:cs typeface="DIN Offc 1"/>
              <a:sym typeface="DIN Offc 1"/>
            </a:endParaRPr>
          </a:p>
        </p:txBody>
      </p:sp>
      <p:grpSp>
        <p:nvGrpSpPr>
          <p:cNvPr id="5" name="Group 5"/>
          <p:cNvGrpSpPr/>
          <p:nvPr/>
        </p:nvGrpSpPr>
        <p:grpSpPr>
          <a:xfrm>
            <a:off x="1028700" y="7353300"/>
            <a:ext cx="1905000" cy="1905000"/>
            <a:chOff x="0" y="0"/>
            <a:chExt cx="2540000" cy="2540000"/>
          </a:xfrm>
        </p:grpSpPr>
        <p:grpSp>
          <p:nvGrpSpPr>
            <p:cNvPr id="6" name="Group 6"/>
            <p:cNvGrpSpPr/>
            <p:nvPr/>
          </p:nvGrpSpPr>
          <p:grpSpPr>
            <a:xfrm>
              <a:off x="0" y="1270000"/>
              <a:ext cx="1270000" cy="1270000"/>
              <a:chOff x="0" y="0"/>
              <a:chExt cx="338164" cy="338164"/>
            </a:xfrm>
          </p:grpSpPr>
          <p:sp>
            <p:nvSpPr>
              <p:cNvPr id="7" name="Freeform 7"/>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8" name="TextBox 8"/>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nvGrpSpPr>
            <p:cNvPr id="9" name="Group 9"/>
            <p:cNvGrpSpPr/>
            <p:nvPr/>
          </p:nvGrpSpPr>
          <p:grpSpPr>
            <a:xfrm>
              <a:off x="1270000" y="0"/>
              <a:ext cx="1270000" cy="1270000"/>
              <a:chOff x="0" y="0"/>
              <a:chExt cx="338164" cy="338164"/>
            </a:xfrm>
          </p:grpSpPr>
          <p:sp>
            <p:nvSpPr>
              <p:cNvPr id="10" name="Freeform 10"/>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11" name="TextBox 11"/>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grpSp>
        <p:nvGrpSpPr>
          <p:cNvPr id="12" name="Group 12"/>
          <p:cNvGrpSpPr/>
          <p:nvPr/>
        </p:nvGrpSpPr>
        <p:grpSpPr>
          <a:xfrm>
            <a:off x="8005672" y="780743"/>
            <a:ext cx="2847975" cy="1905000"/>
            <a:chOff x="0" y="0"/>
            <a:chExt cx="3797300" cy="2540000"/>
          </a:xfrm>
        </p:grpSpPr>
        <p:grpSp>
          <p:nvGrpSpPr>
            <p:cNvPr id="13" name="Group 13"/>
            <p:cNvGrpSpPr/>
            <p:nvPr/>
          </p:nvGrpSpPr>
          <p:grpSpPr>
            <a:xfrm>
              <a:off x="0" y="1270000"/>
              <a:ext cx="1270000" cy="1270000"/>
              <a:chOff x="0" y="0"/>
              <a:chExt cx="338164" cy="338164"/>
            </a:xfrm>
          </p:grpSpPr>
          <p:sp>
            <p:nvSpPr>
              <p:cNvPr id="14" name="Freeform 14"/>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15" name="TextBox 15"/>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nvGrpSpPr>
            <p:cNvPr id="16" name="Group 16"/>
            <p:cNvGrpSpPr/>
            <p:nvPr/>
          </p:nvGrpSpPr>
          <p:grpSpPr>
            <a:xfrm>
              <a:off x="1270000" y="0"/>
              <a:ext cx="1270000" cy="1270000"/>
              <a:chOff x="0" y="0"/>
              <a:chExt cx="338164" cy="338164"/>
            </a:xfrm>
          </p:grpSpPr>
          <p:sp>
            <p:nvSpPr>
              <p:cNvPr id="17" name="Freeform 17"/>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18" name="TextBox 18"/>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nvGrpSpPr>
            <p:cNvPr id="19" name="Group 19"/>
            <p:cNvGrpSpPr/>
            <p:nvPr/>
          </p:nvGrpSpPr>
          <p:grpSpPr>
            <a:xfrm>
              <a:off x="2527300" y="0"/>
              <a:ext cx="1270000" cy="1270000"/>
              <a:chOff x="0" y="0"/>
              <a:chExt cx="338164" cy="338164"/>
            </a:xfrm>
          </p:grpSpPr>
          <p:sp>
            <p:nvSpPr>
              <p:cNvPr id="20" name="Freeform 20"/>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21" name="TextBox 21"/>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grpSp>
        <p:nvGrpSpPr>
          <p:cNvPr id="22" name="Group 22"/>
          <p:cNvGrpSpPr/>
          <p:nvPr/>
        </p:nvGrpSpPr>
        <p:grpSpPr>
          <a:xfrm>
            <a:off x="15612131" y="5003210"/>
            <a:ext cx="1905000" cy="4721815"/>
            <a:chOff x="0" y="0"/>
            <a:chExt cx="2540000" cy="6295753"/>
          </a:xfrm>
        </p:grpSpPr>
        <p:grpSp>
          <p:nvGrpSpPr>
            <p:cNvPr id="23" name="Group 23"/>
            <p:cNvGrpSpPr/>
            <p:nvPr/>
          </p:nvGrpSpPr>
          <p:grpSpPr>
            <a:xfrm>
              <a:off x="1270000" y="5025753"/>
              <a:ext cx="1270000" cy="1270000"/>
              <a:chOff x="0" y="0"/>
              <a:chExt cx="338164" cy="338164"/>
            </a:xfrm>
          </p:grpSpPr>
          <p:sp>
            <p:nvSpPr>
              <p:cNvPr id="24" name="Freeform 24"/>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25" name="TextBox 25"/>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nvGrpSpPr>
            <p:cNvPr id="26" name="Group 26"/>
            <p:cNvGrpSpPr/>
            <p:nvPr/>
          </p:nvGrpSpPr>
          <p:grpSpPr>
            <a:xfrm>
              <a:off x="1270000" y="3768453"/>
              <a:ext cx="1270000" cy="1270000"/>
              <a:chOff x="0" y="0"/>
              <a:chExt cx="338164" cy="338164"/>
            </a:xfrm>
          </p:grpSpPr>
          <p:sp>
            <p:nvSpPr>
              <p:cNvPr id="27" name="Freeform 27"/>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28" name="TextBox 28"/>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nvGrpSpPr>
            <p:cNvPr id="29" name="Group 29"/>
            <p:cNvGrpSpPr/>
            <p:nvPr/>
          </p:nvGrpSpPr>
          <p:grpSpPr>
            <a:xfrm>
              <a:off x="1270000" y="2511153"/>
              <a:ext cx="1270000" cy="1270000"/>
              <a:chOff x="0" y="0"/>
              <a:chExt cx="338164" cy="338164"/>
            </a:xfrm>
          </p:grpSpPr>
          <p:sp>
            <p:nvSpPr>
              <p:cNvPr id="30" name="Freeform 30"/>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31" name="TextBox 31"/>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nvGrpSpPr>
            <p:cNvPr id="32" name="Group 32"/>
            <p:cNvGrpSpPr/>
            <p:nvPr/>
          </p:nvGrpSpPr>
          <p:grpSpPr>
            <a:xfrm>
              <a:off x="0" y="1270000"/>
              <a:ext cx="1270000" cy="1270000"/>
              <a:chOff x="0" y="0"/>
              <a:chExt cx="338164" cy="338164"/>
            </a:xfrm>
          </p:grpSpPr>
          <p:sp>
            <p:nvSpPr>
              <p:cNvPr id="33" name="Freeform 33"/>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34" name="TextBox 34"/>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nvGrpSpPr>
            <p:cNvPr id="35" name="Group 35"/>
            <p:cNvGrpSpPr/>
            <p:nvPr/>
          </p:nvGrpSpPr>
          <p:grpSpPr>
            <a:xfrm>
              <a:off x="1270000" y="0"/>
              <a:ext cx="1270000" cy="1270000"/>
              <a:chOff x="0" y="0"/>
              <a:chExt cx="338164" cy="338164"/>
            </a:xfrm>
          </p:grpSpPr>
          <p:sp>
            <p:nvSpPr>
              <p:cNvPr id="36" name="Freeform 36"/>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37" name="TextBox 37"/>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E4E"/>
        </a:solidFill>
        <a:effectLst/>
      </p:bgPr>
    </p:bg>
    <p:spTree>
      <p:nvGrpSpPr>
        <p:cNvPr id="1" name=""/>
        <p:cNvGrpSpPr/>
        <p:nvPr/>
      </p:nvGrpSpPr>
      <p:grpSpPr>
        <a:xfrm>
          <a:off x="0" y="0"/>
          <a:ext cx="0" cy="0"/>
          <a:chOff x="0" y="0"/>
          <a:chExt cx="0" cy="0"/>
        </a:xfrm>
      </p:grpSpPr>
      <p:sp>
        <p:nvSpPr>
          <p:cNvPr id="2" name="TextBox 2"/>
          <p:cNvSpPr txBox="1"/>
          <p:nvPr/>
        </p:nvSpPr>
        <p:spPr>
          <a:xfrm>
            <a:off x="-4342810" y="446814"/>
            <a:ext cx="22399638" cy="1309403"/>
          </a:xfrm>
          <a:prstGeom prst="rect">
            <a:avLst/>
          </a:prstGeom>
        </p:spPr>
        <p:txBody>
          <a:bodyPr lIns="0" tIns="0" rIns="0" bIns="0" rtlCol="0" anchor="t">
            <a:spAutoFit/>
          </a:bodyPr>
          <a:lstStyle/>
          <a:p>
            <a:pPr algn="ctr">
              <a:lnSpc>
                <a:spcPts val="8915"/>
              </a:lnSpc>
            </a:pPr>
            <a:r>
              <a:rPr lang="en-US" sz="8083" b="1">
                <a:solidFill>
                  <a:srgbClr val="C4E4F6"/>
                </a:solidFill>
                <a:latin typeface="FH Lecturis Rounded Test Bold"/>
                <a:ea typeface="FH Lecturis Rounded Test Bold"/>
                <a:cs typeface="FH Lecturis Rounded Test Bold"/>
                <a:sym typeface="FH Lecturis Rounded Test Bold"/>
              </a:rPr>
              <a:t>Today’s Session</a:t>
            </a:r>
          </a:p>
        </p:txBody>
      </p:sp>
      <p:grpSp>
        <p:nvGrpSpPr>
          <p:cNvPr id="3" name="Group 3"/>
          <p:cNvGrpSpPr/>
          <p:nvPr/>
        </p:nvGrpSpPr>
        <p:grpSpPr>
          <a:xfrm>
            <a:off x="-1" y="2213417"/>
            <a:ext cx="18288002" cy="8326004"/>
            <a:chOff x="0" y="0"/>
            <a:chExt cx="5683590" cy="2192857"/>
          </a:xfrm>
        </p:grpSpPr>
        <p:sp>
          <p:nvSpPr>
            <p:cNvPr id="4" name="Freeform 4"/>
            <p:cNvSpPr/>
            <p:nvPr/>
          </p:nvSpPr>
          <p:spPr>
            <a:xfrm>
              <a:off x="0" y="0"/>
              <a:ext cx="5683590" cy="2192857"/>
            </a:xfrm>
            <a:custGeom>
              <a:avLst/>
              <a:gdLst/>
              <a:ahLst/>
              <a:cxnLst/>
              <a:rect l="l" t="t" r="r" b="b"/>
              <a:pathLst>
                <a:path w="5683590" h="2192857">
                  <a:moveTo>
                    <a:pt x="0" y="0"/>
                  </a:moveTo>
                  <a:lnTo>
                    <a:pt x="5683590" y="0"/>
                  </a:lnTo>
                  <a:lnTo>
                    <a:pt x="5683590" y="2192857"/>
                  </a:lnTo>
                  <a:lnTo>
                    <a:pt x="0" y="2192857"/>
                  </a:lnTo>
                  <a:close/>
                </a:path>
              </a:pathLst>
            </a:custGeom>
            <a:solidFill>
              <a:srgbClr val="FFF3DE"/>
            </a:solidFill>
          </p:spPr>
          <p:txBody>
            <a:bodyPr/>
            <a:lstStyle/>
            <a:p>
              <a:endParaRPr lang="en-GB"/>
            </a:p>
          </p:txBody>
        </p:sp>
        <p:sp>
          <p:nvSpPr>
            <p:cNvPr id="5" name="TextBox 5"/>
            <p:cNvSpPr txBox="1"/>
            <p:nvPr/>
          </p:nvSpPr>
          <p:spPr>
            <a:xfrm>
              <a:off x="0" y="-95250"/>
              <a:ext cx="5683590" cy="2288107"/>
            </a:xfrm>
            <a:prstGeom prst="rect">
              <a:avLst/>
            </a:prstGeom>
          </p:spPr>
          <p:txBody>
            <a:bodyPr lIns="50800" tIns="50800" rIns="50800" bIns="50800" rtlCol="0" anchor="ctr"/>
            <a:lstStyle/>
            <a:p>
              <a:pPr algn="ctr">
                <a:lnSpc>
                  <a:spcPts val="3500"/>
                </a:lnSpc>
              </a:pPr>
              <a:endParaRPr/>
            </a:p>
          </p:txBody>
        </p:sp>
      </p:grpSp>
      <p:sp>
        <p:nvSpPr>
          <p:cNvPr id="6" name="Freeform 6"/>
          <p:cNvSpPr/>
          <p:nvPr/>
        </p:nvSpPr>
        <p:spPr>
          <a:xfrm>
            <a:off x="14703847" y="118403"/>
            <a:ext cx="3352981" cy="673289"/>
          </a:xfrm>
          <a:custGeom>
            <a:avLst/>
            <a:gdLst/>
            <a:ahLst/>
            <a:cxnLst/>
            <a:rect l="l" t="t" r="r" b="b"/>
            <a:pathLst>
              <a:path w="3352981" h="673289">
                <a:moveTo>
                  <a:pt x="0" y="0"/>
                </a:moveTo>
                <a:lnTo>
                  <a:pt x="3352981" y="0"/>
                </a:lnTo>
                <a:lnTo>
                  <a:pt x="3352981" y="673289"/>
                </a:lnTo>
                <a:lnTo>
                  <a:pt x="0" y="673289"/>
                </a:lnTo>
                <a:lnTo>
                  <a:pt x="0" y="0"/>
                </a:lnTo>
                <a:close/>
              </a:path>
            </a:pathLst>
          </a:custGeom>
          <a:blipFill>
            <a:blip r:embed="rId2"/>
            <a:stretch>
              <a:fillRect/>
            </a:stretch>
          </a:blipFill>
        </p:spPr>
        <p:txBody>
          <a:bodyPr/>
          <a:lstStyle/>
          <a:p>
            <a:endParaRPr lang="en-GB"/>
          </a:p>
        </p:txBody>
      </p:sp>
      <p:grpSp>
        <p:nvGrpSpPr>
          <p:cNvPr id="7" name="Group 7"/>
          <p:cNvGrpSpPr/>
          <p:nvPr/>
        </p:nvGrpSpPr>
        <p:grpSpPr>
          <a:xfrm rot="-5400000">
            <a:off x="0" y="1028700"/>
            <a:ext cx="1199085" cy="1199085"/>
            <a:chOff x="0" y="0"/>
            <a:chExt cx="1598780" cy="1598780"/>
          </a:xfrm>
        </p:grpSpPr>
        <p:grpSp>
          <p:nvGrpSpPr>
            <p:cNvPr id="8" name="Group 8"/>
            <p:cNvGrpSpPr/>
            <p:nvPr/>
          </p:nvGrpSpPr>
          <p:grpSpPr>
            <a:xfrm>
              <a:off x="0" y="799390"/>
              <a:ext cx="799390" cy="799390"/>
              <a:chOff x="0" y="0"/>
              <a:chExt cx="338164" cy="338164"/>
            </a:xfrm>
          </p:grpSpPr>
          <p:sp>
            <p:nvSpPr>
              <p:cNvPr id="9" name="Freeform 9"/>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10" name="TextBox 10"/>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nvGrpSpPr>
            <p:cNvPr id="11" name="Group 11"/>
            <p:cNvGrpSpPr/>
            <p:nvPr/>
          </p:nvGrpSpPr>
          <p:grpSpPr>
            <a:xfrm>
              <a:off x="799390" y="0"/>
              <a:ext cx="799390" cy="799390"/>
              <a:chOff x="0" y="0"/>
              <a:chExt cx="338164" cy="338164"/>
            </a:xfrm>
          </p:grpSpPr>
          <p:sp>
            <p:nvSpPr>
              <p:cNvPr id="12" name="Freeform 12"/>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13" name="TextBox 13"/>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sp>
        <p:nvSpPr>
          <p:cNvPr id="14" name="Freeform 14"/>
          <p:cNvSpPr/>
          <p:nvPr/>
        </p:nvSpPr>
        <p:spPr>
          <a:xfrm>
            <a:off x="10857079" y="3810986"/>
            <a:ext cx="5523258" cy="5447314"/>
          </a:xfrm>
          <a:custGeom>
            <a:avLst/>
            <a:gdLst/>
            <a:ahLst/>
            <a:cxnLst/>
            <a:rect l="l" t="t" r="r" b="b"/>
            <a:pathLst>
              <a:path w="5523258" h="5447314">
                <a:moveTo>
                  <a:pt x="0" y="0"/>
                </a:moveTo>
                <a:lnTo>
                  <a:pt x="5523258" y="0"/>
                </a:lnTo>
                <a:lnTo>
                  <a:pt x="5523258" y="5447314"/>
                </a:lnTo>
                <a:lnTo>
                  <a:pt x="0" y="544731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15" name="TextBox 15"/>
          <p:cNvSpPr txBox="1"/>
          <p:nvPr/>
        </p:nvSpPr>
        <p:spPr>
          <a:xfrm>
            <a:off x="268668" y="3174870"/>
            <a:ext cx="8740756" cy="1516954"/>
          </a:xfrm>
          <a:prstGeom prst="rect">
            <a:avLst/>
          </a:prstGeom>
        </p:spPr>
        <p:txBody>
          <a:bodyPr lIns="0" tIns="0" rIns="0" bIns="0" rtlCol="0" anchor="t">
            <a:spAutoFit/>
          </a:bodyPr>
          <a:lstStyle/>
          <a:p>
            <a:pPr marL="685800" indent="-685800" algn="l">
              <a:lnSpc>
                <a:spcPts val="6234"/>
              </a:lnSpc>
              <a:buFont typeface="Arial" panose="020B0604020202020204" pitchFamily="34" charset="0"/>
              <a:buChar char="•"/>
            </a:pPr>
            <a:r>
              <a:rPr lang="en-US" sz="4453" dirty="0">
                <a:solidFill>
                  <a:srgbClr val="000000"/>
                </a:solidFill>
                <a:latin typeface="DIN Offc 2"/>
                <a:ea typeface="DIN Offc 2"/>
                <a:cs typeface="DIN Offc 2"/>
                <a:sym typeface="DIN Offc 2"/>
              </a:rPr>
              <a:t>Review the development of your skills and experience.</a:t>
            </a:r>
          </a:p>
        </p:txBody>
      </p:sp>
      <p:sp>
        <p:nvSpPr>
          <p:cNvPr id="16" name="TextBox 16"/>
          <p:cNvSpPr txBox="1"/>
          <p:nvPr/>
        </p:nvSpPr>
        <p:spPr>
          <a:xfrm>
            <a:off x="9299864" y="2026683"/>
            <a:ext cx="8115300" cy="1879395"/>
          </a:xfrm>
          <a:prstGeom prst="rect">
            <a:avLst/>
          </a:prstGeom>
        </p:spPr>
        <p:txBody>
          <a:bodyPr lIns="0" tIns="0" rIns="0" bIns="0" rtlCol="0" anchor="t">
            <a:spAutoFit/>
          </a:bodyPr>
          <a:lstStyle/>
          <a:p>
            <a:pPr algn="ctr">
              <a:lnSpc>
                <a:spcPts val="14683"/>
              </a:lnSpc>
            </a:pPr>
            <a:r>
              <a:rPr lang="en-US" sz="8681" b="1">
                <a:solidFill>
                  <a:srgbClr val="000000"/>
                </a:solidFill>
                <a:latin typeface="FH Lecturis Rounded Test Bold"/>
                <a:ea typeface="FH Lecturis Rounded Test Bold"/>
                <a:cs typeface="FH Lecturis Rounded Test Bold"/>
                <a:sym typeface="FH Lecturis Rounded Test Bold"/>
              </a:rPr>
              <a:t>DEVELOP</a:t>
            </a:r>
          </a:p>
        </p:txBody>
      </p:sp>
      <p:sp>
        <p:nvSpPr>
          <p:cNvPr id="17" name="TextBox 17"/>
          <p:cNvSpPr txBox="1"/>
          <p:nvPr/>
        </p:nvSpPr>
        <p:spPr>
          <a:xfrm>
            <a:off x="248014" y="4761894"/>
            <a:ext cx="9131107" cy="1539332"/>
          </a:xfrm>
          <a:prstGeom prst="rect">
            <a:avLst/>
          </a:prstGeom>
        </p:spPr>
        <p:txBody>
          <a:bodyPr lIns="0" tIns="0" rIns="0" bIns="0" rtlCol="0" anchor="t">
            <a:spAutoFit/>
          </a:bodyPr>
          <a:lstStyle/>
          <a:p>
            <a:pPr marL="685800" indent="-685800" algn="l">
              <a:lnSpc>
                <a:spcPts val="6311"/>
              </a:lnSpc>
              <a:buFont typeface="Arial" panose="020B0604020202020204" pitchFamily="34" charset="0"/>
              <a:buChar char="•"/>
            </a:pPr>
            <a:r>
              <a:rPr lang="en-US" sz="4449" dirty="0">
                <a:solidFill>
                  <a:srgbClr val="000000"/>
                </a:solidFill>
                <a:latin typeface="DIN Offc 2"/>
                <a:ea typeface="DIN Offc 2"/>
                <a:cs typeface="DIN Offc 2"/>
                <a:sym typeface="DIN Offc 2"/>
              </a:rPr>
              <a:t>Evidence your skills and experience using STAR.</a:t>
            </a:r>
          </a:p>
        </p:txBody>
      </p:sp>
      <p:sp>
        <p:nvSpPr>
          <p:cNvPr id="18" name="TextBox 18"/>
          <p:cNvSpPr txBox="1"/>
          <p:nvPr/>
        </p:nvSpPr>
        <p:spPr>
          <a:xfrm>
            <a:off x="215334" y="6534643"/>
            <a:ext cx="8928665" cy="1467966"/>
          </a:xfrm>
          <a:prstGeom prst="rect">
            <a:avLst/>
          </a:prstGeom>
        </p:spPr>
        <p:txBody>
          <a:bodyPr wrap="square" lIns="0" tIns="0" rIns="0" bIns="0" rtlCol="0" anchor="t">
            <a:spAutoFit/>
          </a:bodyPr>
          <a:lstStyle/>
          <a:p>
            <a:pPr marL="571500" indent="-571500" algn="l">
              <a:lnSpc>
                <a:spcPts val="6031"/>
              </a:lnSpc>
              <a:buFont typeface="Arial" panose="020B0604020202020204" pitchFamily="34" charset="0"/>
              <a:buChar char="•"/>
            </a:pPr>
            <a:r>
              <a:rPr lang="en-US" sz="4308" dirty="0">
                <a:solidFill>
                  <a:srgbClr val="000000"/>
                </a:solidFill>
                <a:latin typeface="DIN Offc 2"/>
                <a:ea typeface="DIN Offc 2"/>
                <a:cs typeface="DIN Offc 2"/>
                <a:sym typeface="DIN Offc 2"/>
              </a:rPr>
              <a:t>Set goals to further develop your skills and experience.</a:t>
            </a:r>
          </a:p>
        </p:txBody>
      </p:sp>
      <p:sp>
        <p:nvSpPr>
          <p:cNvPr id="19" name="TextBox 19"/>
          <p:cNvSpPr txBox="1"/>
          <p:nvPr/>
        </p:nvSpPr>
        <p:spPr>
          <a:xfrm>
            <a:off x="-2955916" y="1625461"/>
            <a:ext cx="14278589" cy="1746490"/>
          </a:xfrm>
          <a:prstGeom prst="rect">
            <a:avLst/>
          </a:prstGeom>
        </p:spPr>
        <p:txBody>
          <a:bodyPr lIns="0" tIns="0" rIns="0" bIns="0" rtlCol="0" anchor="t">
            <a:spAutoFit/>
          </a:bodyPr>
          <a:lstStyle/>
          <a:p>
            <a:pPr algn="ctr">
              <a:lnSpc>
                <a:spcPts val="14596"/>
              </a:lnSpc>
            </a:pPr>
            <a:r>
              <a:rPr lang="en-US" sz="6416" b="1">
                <a:solidFill>
                  <a:srgbClr val="000000"/>
                </a:solidFill>
                <a:latin typeface="FH Lecturis Rounded Test Bold"/>
                <a:ea typeface="FH Lecturis Rounded Test Bold"/>
                <a:cs typeface="FH Lecturis Rounded Test Bold"/>
                <a:sym typeface="FH Lecturis Rounded Test Bold"/>
              </a:rPr>
              <a:t>Learning Objectives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B7F822-4D13-08F9-DC08-376282129A17}"/>
              </a:ext>
            </a:extLst>
          </p:cNvPr>
          <p:cNvSpPr/>
          <p:nvPr>
            <p:custDataLst>
              <p:tags r:id="rId2"/>
            </p:custDataLst>
          </p:nvPr>
        </p:nvSpPr>
        <p:spPr>
          <a:xfrm>
            <a:off x="667040" y="2614055"/>
            <a:ext cx="3557544" cy="3557544"/>
          </a:xfrm>
          <a:prstGeom prst="rect">
            <a:avLst/>
          </a:prstGeom>
          <a:blipFill>
            <a:blip r:embed="rId6">
              <a:extLst>
                <a:ext uri="{96DAC541-7B7A-43D3-8B79-37D633B846F1}">
                  <asvg:svgBlip xmlns:asvg="http://schemas.microsoft.com/office/drawing/2016/SVG/main" r:embed="rId7"/>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extLst>
              <a:ext uri="{FF2B5EF4-FFF2-40B4-BE49-F238E27FC236}">
                <a16:creationId xmlns:a16="http://schemas.microsoft.com/office/drawing/2014/main" id="{ADC07819-48B4-0E8D-345C-FAF3BBA86845}"/>
              </a:ext>
            </a:extLst>
          </p:cNvPr>
          <p:cNvSpPr/>
          <p:nvPr>
            <p:custDataLst>
              <p:tags r:id="rId3"/>
            </p:custDataLst>
          </p:nvPr>
        </p:nvSpPr>
        <p:spPr>
          <a:xfrm>
            <a:off x="4669277" y="1501346"/>
            <a:ext cx="12729337" cy="5782962"/>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400" b="1">
                <a:solidFill>
                  <a:srgbClr val="000000"/>
                </a:solidFill>
              </a:rPr>
              <a:t>You’re working in a busy restaurant. One evening, a large booking arrives unexpectedly, and the kitchen is short-staffed.
You help reorganise tables, take extra orders, and keep customers calm while the team catches up.
What skills did you use?</a:t>
            </a:r>
            <a:endParaRPr lang="en-GB" sz="2400" b="1" dirty="0">
              <a:solidFill>
                <a:srgbClr val="000000"/>
              </a:solidFill>
            </a:endParaRPr>
          </a:p>
        </p:txBody>
      </p:sp>
      <p:sp>
        <p:nvSpPr>
          <p:cNvPr id="4" name="Rectangle 3">
            <a:extLst>
              <a:ext uri="{FF2B5EF4-FFF2-40B4-BE49-F238E27FC236}">
                <a16:creationId xmlns:a16="http://schemas.microsoft.com/office/drawing/2014/main" id="{FFAEB05E-4EAA-36CA-B134-211CCDB9A47F}"/>
              </a:ext>
            </a:extLst>
          </p:cNvPr>
          <p:cNvSpPr/>
          <p:nvPr/>
        </p:nvSpPr>
        <p:spPr>
          <a:xfrm>
            <a:off x="0" y="8730049"/>
            <a:ext cx="18288000" cy="1556951"/>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1111733" tIns="389106" rIns="2779331" bIns="305726" rtlCol="0" anchor="ctr">
            <a:normAutofit/>
          </a:bodyPr>
          <a:lstStyle/>
          <a:p>
            <a:r>
              <a:rPr lang="en-GB" sz="2600">
                <a:solidFill>
                  <a:srgbClr val="FFFFFF"/>
                </a:solidFill>
              </a:rPr>
              <a:t>The </a:t>
            </a:r>
            <a:r>
              <a:rPr lang="en-GB" sz="2600">
                <a:solidFill>
                  <a:srgbClr val="FFFFFF"/>
                </a:solidFill>
                <a:hlinkClick r:id="rId8">
                  <a:extLst>
                    <a:ext uri="{A12FA001-AC4F-418D-AE19-62706E023703}">
                      <ahyp:hlinkClr xmlns:ahyp="http://schemas.microsoft.com/office/drawing/2018/hyperlinkcolor" val="tx"/>
                    </a:ext>
                  </a:extLst>
                </a:hlinkClick>
              </a:rPr>
              <a:t>Slido app</a:t>
            </a:r>
            <a:r>
              <a:rPr lang="en-GB"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3604A0DC-14F7-4682-8FCE-F5063D488E7C}"/>
              </a:ext>
            </a:extLst>
          </p:cNvPr>
          <p:cNvPicPr>
            <a:picLocks/>
          </p:cNvPicPr>
          <p:nvPr/>
        </p:nvPicPr>
        <p:blipFill>
          <a:blip r:embed="rId9">
            <a:extLst>
              <a:ext uri="{96DAC541-7B7A-43D3-8B79-37D633B846F1}">
                <asvg:svgBlip xmlns:asvg="http://schemas.microsoft.com/office/drawing/2016/SVG/main" r:embed="rId10"/>
              </a:ext>
            </a:extLst>
          </a:blip>
          <a:stretch>
            <a:fillRect/>
          </a:stretch>
        </p:blipFill>
        <p:spPr>
          <a:xfrm>
            <a:off x="444693" y="9286177"/>
            <a:ext cx="444693" cy="444693"/>
          </a:xfrm>
          <a:prstGeom prst="rect">
            <a:avLst/>
          </a:prstGeom>
        </p:spPr>
      </p:pic>
      <p:sp>
        <p:nvSpPr>
          <p:cNvPr id="7" name="Trapezium 6">
            <a:extLst>
              <a:ext uri="{FF2B5EF4-FFF2-40B4-BE49-F238E27FC236}">
                <a16:creationId xmlns:a16="http://schemas.microsoft.com/office/drawing/2014/main" id="{81FBED57-E3EC-3A00-5AE8-668EBEC714B3}"/>
              </a:ext>
            </a:extLst>
          </p:cNvPr>
          <p:cNvSpPr/>
          <p:nvPr/>
        </p:nvSpPr>
        <p:spPr>
          <a:xfrm rot="2700000">
            <a:off x="14430556" y="772386"/>
            <a:ext cx="5002797" cy="1167319"/>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a:bodyPr>
          <a:lstStyle/>
          <a:p>
            <a:pPr algn="ctr"/>
            <a:r>
              <a:rPr lang="en-GB" sz="2600" b="1">
                <a:solidFill>
                  <a:srgbClr val="198038"/>
                </a:solidFill>
              </a:rPr>
              <a:t>Do not edit
</a:t>
            </a:r>
            <a:r>
              <a:rPr lang="en-GB" sz="2200">
                <a:solidFill>
                  <a:srgbClr val="198038"/>
                </a:solidFill>
                <a:hlinkClick r:id="rId11">
                  <a:extLst>
                    <a:ext uri="{A12FA001-AC4F-418D-AE19-62706E023703}">
                      <ahyp:hlinkClr xmlns:ahyp="http://schemas.microsoft.com/office/drawing/2018/hyperlinkcolor" val="tx"/>
                    </a:ext>
                  </a:extLst>
                </a:hlinkClick>
              </a:rPr>
              <a:t>How to change the design</a:t>
            </a:r>
            <a:endParaRPr lang="en-GB" sz="2200">
              <a:solidFill>
                <a:srgbClr val="198038"/>
              </a:solidFill>
            </a:endParaRPr>
          </a:p>
        </p:txBody>
      </p:sp>
      <p:pic>
        <p:nvPicPr>
          <p:cNvPr id="9" name="Graphic 8">
            <a:extLst>
              <a:ext uri="{FF2B5EF4-FFF2-40B4-BE49-F238E27FC236}">
                <a16:creationId xmlns:a16="http://schemas.microsoft.com/office/drawing/2014/main" id="{5C5ECDE8-85D5-7A3D-D8B5-ECC3DACE1116}"/>
              </a:ext>
            </a:extLst>
          </p:cNvPr>
          <p:cNvPicPr>
            <a:picLocks/>
          </p:cNvPicPr>
          <p:nvPr/>
        </p:nvPicPr>
        <p:blipFill>
          <a:blip r:embed="rId12">
            <a:extLst>
              <a:ext uri="{96DAC541-7B7A-43D3-8B79-37D633B846F1}">
                <asvg:svgBlip xmlns:asvg="http://schemas.microsoft.com/office/drawing/2016/SVG/main" r:embed="rId13"/>
              </a:ext>
            </a:extLst>
          </a:blip>
          <a:stretch>
            <a:fillRect/>
          </a:stretch>
        </p:blipFill>
        <p:spPr>
          <a:xfrm>
            <a:off x="16120123" y="9230591"/>
            <a:ext cx="1667599" cy="555866"/>
          </a:xfrm>
          <a:prstGeom prst="rect">
            <a:avLst/>
          </a:prstGeom>
        </p:spPr>
      </p:pic>
    </p:spTree>
    <p:custDataLst>
      <p:tags r:id="rId1"/>
    </p:custDataLst>
    <p:extLst>
      <p:ext uri="{BB962C8B-B14F-4D97-AF65-F5344CB8AC3E}">
        <p14:creationId xmlns:p14="http://schemas.microsoft.com/office/powerpoint/2010/main" val="1554742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2F50"/>
        </a:solidFill>
        <a:effectLst/>
      </p:bgPr>
    </p:bg>
    <p:spTree>
      <p:nvGrpSpPr>
        <p:cNvPr id="1" name=""/>
        <p:cNvGrpSpPr/>
        <p:nvPr/>
      </p:nvGrpSpPr>
      <p:grpSpPr>
        <a:xfrm>
          <a:off x="0" y="0"/>
          <a:ext cx="0" cy="0"/>
          <a:chOff x="0" y="0"/>
          <a:chExt cx="0" cy="0"/>
        </a:xfrm>
      </p:grpSpPr>
      <p:grpSp>
        <p:nvGrpSpPr>
          <p:cNvPr id="2" name="Group 2"/>
          <p:cNvGrpSpPr/>
          <p:nvPr/>
        </p:nvGrpSpPr>
        <p:grpSpPr>
          <a:xfrm>
            <a:off x="-1" y="2118651"/>
            <a:ext cx="18288001" cy="8326004"/>
            <a:chOff x="0" y="0"/>
            <a:chExt cx="5683590" cy="2192857"/>
          </a:xfrm>
        </p:grpSpPr>
        <p:sp>
          <p:nvSpPr>
            <p:cNvPr id="3" name="Freeform 3"/>
            <p:cNvSpPr/>
            <p:nvPr/>
          </p:nvSpPr>
          <p:spPr>
            <a:xfrm>
              <a:off x="0" y="0"/>
              <a:ext cx="5683590" cy="2192857"/>
            </a:xfrm>
            <a:custGeom>
              <a:avLst/>
              <a:gdLst/>
              <a:ahLst/>
              <a:cxnLst/>
              <a:rect l="l" t="t" r="r" b="b"/>
              <a:pathLst>
                <a:path w="5683590" h="2192857">
                  <a:moveTo>
                    <a:pt x="0" y="0"/>
                  </a:moveTo>
                  <a:lnTo>
                    <a:pt x="5683590" y="0"/>
                  </a:lnTo>
                  <a:lnTo>
                    <a:pt x="5683590" y="2192857"/>
                  </a:lnTo>
                  <a:lnTo>
                    <a:pt x="0" y="2192857"/>
                  </a:lnTo>
                  <a:close/>
                </a:path>
              </a:pathLst>
            </a:custGeom>
            <a:solidFill>
              <a:srgbClr val="FFF3DE"/>
            </a:solidFill>
          </p:spPr>
          <p:txBody>
            <a:bodyPr/>
            <a:lstStyle/>
            <a:p>
              <a:endParaRPr lang="en-GB"/>
            </a:p>
          </p:txBody>
        </p:sp>
        <p:sp>
          <p:nvSpPr>
            <p:cNvPr id="4" name="TextBox 4"/>
            <p:cNvSpPr txBox="1"/>
            <p:nvPr/>
          </p:nvSpPr>
          <p:spPr>
            <a:xfrm>
              <a:off x="0" y="-95250"/>
              <a:ext cx="5683590" cy="2288107"/>
            </a:xfrm>
            <a:prstGeom prst="rect">
              <a:avLst/>
            </a:prstGeom>
          </p:spPr>
          <p:txBody>
            <a:bodyPr lIns="50800" tIns="50800" rIns="50800" bIns="50800" rtlCol="0" anchor="ctr"/>
            <a:lstStyle/>
            <a:p>
              <a:pPr algn="ctr">
                <a:lnSpc>
                  <a:spcPts val="3500"/>
                </a:lnSpc>
              </a:pPr>
              <a:endParaRPr/>
            </a:p>
          </p:txBody>
        </p:sp>
      </p:grpSp>
      <p:grpSp>
        <p:nvGrpSpPr>
          <p:cNvPr id="5" name="Group 5"/>
          <p:cNvGrpSpPr/>
          <p:nvPr/>
        </p:nvGrpSpPr>
        <p:grpSpPr>
          <a:xfrm>
            <a:off x="340456" y="9975541"/>
            <a:ext cx="169903" cy="169903"/>
            <a:chOff x="0" y="0"/>
            <a:chExt cx="226537" cy="226537"/>
          </a:xfrm>
        </p:grpSpPr>
        <p:sp>
          <p:nvSpPr>
            <p:cNvPr id="6" name="Freeform 6"/>
            <p:cNvSpPr/>
            <p:nvPr/>
          </p:nvSpPr>
          <p:spPr>
            <a:xfrm>
              <a:off x="0" y="0"/>
              <a:ext cx="226568" cy="226568"/>
            </a:xfrm>
            <a:custGeom>
              <a:avLst/>
              <a:gdLst/>
              <a:ahLst/>
              <a:cxnLst/>
              <a:rect l="l" t="t" r="r" b="b"/>
              <a:pathLst>
                <a:path w="226568" h="226568">
                  <a:moveTo>
                    <a:pt x="113284" y="0"/>
                  </a:moveTo>
                  <a:cubicBezTo>
                    <a:pt x="50673" y="0"/>
                    <a:pt x="0" y="50673"/>
                    <a:pt x="0" y="113284"/>
                  </a:cubicBezTo>
                  <a:cubicBezTo>
                    <a:pt x="0" y="175895"/>
                    <a:pt x="50673" y="226568"/>
                    <a:pt x="113284" y="226568"/>
                  </a:cubicBezTo>
                  <a:cubicBezTo>
                    <a:pt x="175895" y="226568"/>
                    <a:pt x="226568" y="175895"/>
                    <a:pt x="226568" y="113284"/>
                  </a:cubicBezTo>
                  <a:cubicBezTo>
                    <a:pt x="226568" y="50673"/>
                    <a:pt x="175768" y="0"/>
                    <a:pt x="113284" y="0"/>
                  </a:cubicBezTo>
                  <a:close/>
                </a:path>
              </a:pathLst>
            </a:custGeom>
            <a:solidFill>
              <a:srgbClr val="F7CD34"/>
            </a:solidFill>
          </p:spPr>
          <p:txBody>
            <a:bodyPr/>
            <a:lstStyle/>
            <a:p>
              <a:endParaRPr lang="en-GB"/>
            </a:p>
          </p:txBody>
        </p:sp>
      </p:grpSp>
      <p:grpSp>
        <p:nvGrpSpPr>
          <p:cNvPr id="7" name="Group 7"/>
          <p:cNvGrpSpPr/>
          <p:nvPr/>
        </p:nvGrpSpPr>
        <p:grpSpPr>
          <a:xfrm>
            <a:off x="3221498" y="9422539"/>
            <a:ext cx="169903" cy="169903"/>
            <a:chOff x="0" y="0"/>
            <a:chExt cx="226537" cy="226537"/>
          </a:xfrm>
        </p:grpSpPr>
        <p:sp>
          <p:nvSpPr>
            <p:cNvPr id="8" name="Freeform 8"/>
            <p:cNvSpPr/>
            <p:nvPr/>
          </p:nvSpPr>
          <p:spPr>
            <a:xfrm>
              <a:off x="0" y="0"/>
              <a:ext cx="226568" cy="226568"/>
            </a:xfrm>
            <a:custGeom>
              <a:avLst/>
              <a:gdLst/>
              <a:ahLst/>
              <a:cxnLst/>
              <a:rect l="l" t="t" r="r" b="b"/>
              <a:pathLst>
                <a:path w="226568" h="226568">
                  <a:moveTo>
                    <a:pt x="113284" y="0"/>
                  </a:moveTo>
                  <a:cubicBezTo>
                    <a:pt x="50673" y="0"/>
                    <a:pt x="0" y="50673"/>
                    <a:pt x="0" y="113284"/>
                  </a:cubicBezTo>
                  <a:cubicBezTo>
                    <a:pt x="0" y="175895"/>
                    <a:pt x="50673" y="226568"/>
                    <a:pt x="113284" y="226568"/>
                  </a:cubicBezTo>
                  <a:cubicBezTo>
                    <a:pt x="175895" y="226568"/>
                    <a:pt x="226568" y="175895"/>
                    <a:pt x="226568" y="113284"/>
                  </a:cubicBezTo>
                  <a:cubicBezTo>
                    <a:pt x="226568" y="50673"/>
                    <a:pt x="175768" y="0"/>
                    <a:pt x="113284" y="0"/>
                  </a:cubicBezTo>
                  <a:close/>
                </a:path>
              </a:pathLst>
            </a:custGeom>
            <a:solidFill>
              <a:srgbClr val="F14975"/>
            </a:solidFill>
          </p:spPr>
          <p:txBody>
            <a:bodyPr/>
            <a:lstStyle/>
            <a:p>
              <a:endParaRPr lang="en-GB"/>
            </a:p>
          </p:txBody>
        </p:sp>
      </p:grpSp>
      <p:grpSp>
        <p:nvGrpSpPr>
          <p:cNvPr id="9" name="Group 9"/>
          <p:cNvGrpSpPr/>
          <p:nvPr/>
        </p:nvGrpSpPr>
        <p:grpSpPr>
          <a:xfrm>
            <a:off x="17456754" y="9422539"/>
            <a:ext cx="169903" cy="169903"/>
            <a:chOff x="0" y="0"/>
            <a:chExt cx="226537" cy="226537"/>
          </a:xfrm>
        </p:grpSpPr>
        <p:sp>
          <p:nvSpPr>
            <p:cNvPr id="10" name="Freeform 10"/>
            <p:cNvSpPr/>
            <p:nvPr/>
          </p:nvSpPr>
          <p:spPr>
            <a:xfrm>
              <a:off x="0" y="0"/>
              <a:ext cx="226568" cy="226568"/>
            </a:xfrm>
            <a:custGeom>
              <a:avLst/>
              <a:gdLst/>
              <a:ahLst/>
              <a:cxnLst/>
              <a:rect l="l" t="t" r="r" b="b"/>
              <a:pathLst>
                <a:path w="226568" h="226568">
                  <a:moveTo>
                    <a:pt x="113284" y="0"/>
                  </a:moveTo>
                  <a:cubicBezTo>
                    <a:pt x="50673" y="0"/>
                    <a:pt x="0" y="50673"/>
                    <a:pt x="0" y="113284"/>
                  </a:cubicBezTo>
                  <a:cubicBezTo>
                    <a:pt x="0" y="175895"/>
                    <a:pt x="50673" y="226568"/>
                    <a:pt x="113284" y="226568"/>
                  </a:cubicBezTo>
                  <a:cubicBezTo>
                    <a:pt x="175895" y="226568"/>
                    <a:pt x="226568" y="175895"/>
                    <a:pt x="226568" y="113284"/>
                  </a:cubicBezTo>
                  <a:cubicBezTo>
                    <a:pt x="226568" y="50673"/>
                    <a:pt x="175768" y="0"/>
                    <a:pt x="113284" y="0"/>
                  </a:cubicBezTo>
                  <a:close/>
                </a:path>
              </a:pathLst>
            </a:custGeom>
            <a:solidFill>
              <a:srgbClr val="51A681"/>
            </a:solidFill>
          </p:spPr>
          <p:txBody>
            <a:bodyPr/>
            <a:lstStyle/>
            <a:p>
              <a:endParaRPr lang="en-GB"/>
            </a:p>
          </p:txBody>
        </p:sp>
      </p:grpSp>
      <p:grpSp>
        <p:nvGrpSpPr>
          <p:cNvPr id="11" name="Group 11"/>
          <p:cNvGrpSpPr/>
          <p:nvPr/>
        </p:nvGrpSpPr>
        <p:grpSpPr>
          <a:xfrm>
            <a:off x="15443055" y="10028694"/>
            <a:ext cx="169903" cy="169903"/>
            <a:chOff x="0" y="0"/>
            <a:chExt cx="226537" cy="226537"/>
          </a:xfrm>
        </p:grpSpPr>
        <p:sp>
          <p:nvSpPr>
            <p:cNvPr id="12" name="Freeform 12"/>
            <p:cNvSpPr/>
            <p:nvPr/>
          </p:nvSpPr>
          <p:spPr>
            <a:xfrm>
              <a:off x="0" y="0"/>
              <a:ext cx="226568" cy="226568"/>
            </a:xfrm>
            <a:custGeom>
              <a:avLst/>
              <a:gdLst/>
              <a:ahLst/>
              <a:cxnLst/>
              <a:rect l="l" t="t" r="r" b="b"/>
              <a:pathLst>
                <a:path w="226568" h="226568">
                  <a:moveTo>
                    <a:pt x="113284" y="0"/>
                  </a:moveTo>
                  <a:cubicBezTo>
                    <a:pt x="50673" y="0"/>
                    <a:pt x="0" y="50673"/>
                    <a:pt x="0" y="113284"/>
                  </a:cubicBezTo>
                  <a:cubicBezTo>
                    <a:pt x="0" y="175895"/>
                    <a:pt x="50673" y="226568"/>
                    <a:pt x="113284" y="226568"/>
                  </a:cubicBezTo>
                  <a:cubicBezTo>
                    <a:pt x="175895" y="226568"/>
                    <a:pt x="226568" y="175895"/>
                    <a:pt x="226568" y="113284"/>
                  </a:cubicBezTo>
                  <a:cubicBezTo>
                    <a:pt x="226568" y="50673"/>
                    <a:pt x="175768" y="0"/>
                    <a:pt x="113284" y="0"/>
                  </a:cubicBezTo>
                  <a:close/>
                </a:path>
              </a:pathLst>
            </a:custGeom>
            <a:solidFill>
              <a:srgbClr val="F7CD34"/>
            </a:solidFill>
          </p:spPr>
          <p:txBody>
            <a:bodyPr/>
            <a:lstStyle/>
            <a:p>
              <a:endParaRPr lang="en-GB"/>
            </a:p>
          </p:txBody>
        </p:sp>
      </p:grpSp>
      <p:grpSp>
        <p:nvGrpSpPr>
          <p:cNvPr id="13" name="Group 13"/>
          <p:cNvGrpSpPr/>
          <p:nvPr/>
        </p:nvGrpSpPr>
        <p:grpSpPr>
          <a:xfrm>
            <a:off x="170553" y="2419693"/>
            <a:ext cx="169903" cy="169903"/>
            <a:chOff x="0" y="0"/>
            <a:chExt cx="226537" cy="226537"/>
          </a:xfrm>
        </p:grpSpPr>
        <p:sp>
          <p:nvSpPr>
            <p:cNvPr id="14" name="Freeform 14"/>
            <p:cNvSpPr/>
            <p:nvPr/>
          </p:nvSpPr>
          <p:spPr>
            <a:xfrm>
              <a:off x="0" y="0"/>
              <a:ext cx="226568" cy="226568"/>
            </a:xfrm>
            <a:custGeom>
              <a:avLst/>
              <a:gdLst/>
              <a:ahLst/>
              <a:cxnLst/>
              <a:rect l="l" t="t" r="r" b="b"/>
              <a:pathLst>
                <a:path w="226568" h="226568">
                  <a:moveTo>
                    <a:pt x="113284" y="0"/>
                  </a:moveTo>
                  <a:cubicBezTo>
                    <a:pt x="50673" y="0"/>
                    <a:pt x="0" y="50673"/>
                    <a:pt x="0" y="113284"/>
                  </a:cubicBezTo>
                  <a:cubicBezTo>
                    <a:pt x="0" y="175895"/>
                    <a:pt x="50673" y="226568"/>
                    <a:pt x="113284" y="226568"/>
                  </a:cubicBezTo>
                  <a:cubicBezTo>
                    <a:pt x="175895" y="226568"/>
                    <a:pt x="226568" y="175895"/>
                    <a:pt x="226568" y="113284"/>
                  </a:cubicBezTo>
                  <a:cubicBezTo>
                    <a:pt x="226568" y="50673"/>
                    <a:pt x="175768" y="0"/>
                    <a:pt x="113284" y="0"/>
                  </a:cubicBezTo>
                  <a:close/>
                </a:path>
              </a:pathLst>
            </a:custGeom>
            <a:solidFill>
              <a:srgbClr val="51A681"/>
            </a:solidFill>
          </p:spPr>
          <p:txBody>
            <a:bodyPr/>
            <a:lstStyle/>
            <a:p>
              <a:endParaRPr lang="en-GB"/>
            </a:p>
          </p:txBody>
        </p:sp>
      </p:grpSp>
      <p:sp>
        <p:nvSpPr>
          <p:cNvPr id="15" name="TextBox 15"/>
          <p:cNvSpPr txBox="1"/>
          <p:nvPr/>
        </p:nvSpPr>
        <p:spPr>
          <a:xfrm>
            <a:off x="415948" y="2495893"/>
            <a:ext cx="17456104" cy="3785235"/>
          </a:xfrm>
          <a:prstGeom prst="rect">
            <a:avLst/>
          </a:prstGeom>
        </p:spPr>
        <p:txBody>
          <a:bodyPr lIns="0" tIns="0" rIns="0" bIns="0" rtlCol="0" anchor="t">
            <a:spAutoFit/>
          </a:bodyPr>
          <a:lstStyle/>
          <a:p>
            <a:pPr algn="ctr">
              <a:lnSpc>
                <a:spcPts val="5850"/>
              </a:lnSpc>
            </a:pPr>
            <a:r>
              <a:rPr lang="en-US" sz="3900">
                <a:solidFill>
                  <a:srgbClr val="000000"/>
                </a:solidFill>
                <a:latin typeface="DIN Offc 1"/>
                <a:ea typeface="DIN Offc 1"/>
                <a:cs typeface="DIN Offc 1"/>
                <a:sym typeface="DIN Offc 1"/>
              </a:rPr>
              <a:t>The STAR technique will help you to develop answers for applications forms and answering interview questions.  </a:t>
            </a:r>
          </a:p>
          <a:p>
            <a:pPr algn="l">
              <a:lnSpc>
                <a:spcPts val="5850"/>
              </a:lnSpc>
            </a:pPr>
            <a:endParaRPr lang="en-US" sz="3900">
              <a:solidFill>
                <a:srgbClr val="000000"/>
              </a:solidFill>
              <a:latin typeface="DIN Offc 1"/>
              <a:ea typeface="DIN Offc 1"/>
              <a:cs typeface="DIN Offc 1"/>
              <a:sym typeface="DIN Offc 1"/>
            </a:endParaRPr>
          </a:p>
          <a:p>
            <a:pPr algn="ctr">
              <a:lnSpc>
                <a:spcPts val="5850"/>
              </a:lnSpc>
            </a:pPr>
            <a:endParaRPr lang="en-US" sz="3900">
              <a:solidFill>
                <a:srgbClr val="000000"/>
              </a:solidFill>
              <a:latin typeface="DIN Offc 1"/>
              <a:ea typeface="DIN Offc 1"/>
              <a:cs typeface="DIN Offc 1"/>
              <a:sym typeface="DIN Offc 1"/>
            </a:endParaRPr>
          </a:p>
          <a:p>
            <a:pPr algn="ctr">
              <a:lnSpc>
                <a:spcPts val="5850"/>
              </a:lnSpc>
            </a:pPr>
            <a:endParaRPr lang="en-US" sz="3900">
              <a:solidFill>
                <a:srgbClr val="000000"/>
              </a:solidFill>
              <a:latin typeface="DIN Offc 1"/>
              <a:ea typeface="DIN Offc 1"/>
              <a:cs typeface="DIN Offc 1"/>
              <a:sym typeface="DIN Offc 1"/>
            </a:endParaRPr>
          </a:p>
        </p:txBody>
      </p:sp>
      <p:sp>
        <p:nvSpPr>
          <p:cNvPr id="16" name="Freeform 16"/>
          <p:cNvSpPr/>
          <p:nvPr/>
        </p:nvSpPr>
        <p:spPr>
          <a:xfrm>
            <a:off x="425407" y="4995676"/>
            <a:ext cx="4144945" cy="4114800"/>
          </a:xfrm>
          <a:custGeom>
            <a:avLst/>
            <a:gdLst/>
            <a:ahLst/>
            <a:cxnLst/>
            <a:rect l="l" t="t" r="r" b="b"/>
            <a:pathLst>
              <a:path w="4144945" h="4114800">
                <a:moveTo>
                  <a:pt x="0" y="0"/>
                </a:moveTo>
                <a:lnTo>
                  <a:pt x="4144945" y="0"/>
                </a:lnTo>
                <a:lnTo>
                  <a:pt x="414494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t="-19" b="-19"/>
            </a:stretch>
          </a:blipFill>
        </p:spPr>
        <p:txBody>
          <a:bodyPr/>
          <a:lstStyle/>
          <a:p>
            <a:endParaRPr lang="en-GB"/>
          </a:p>
        </p:txBody>
      </p:sp>
      <p:sp>
        <p:nvSpPr>
          <p:cNvPr id="17" name="Freeform 17"/>
          <p:cNvSpPr/>
          <p:nvPr/>
        </p:nvSpPr>
        <p:spPr>
          <a:xfrm>
            <a:off x="13566663" y="4995676"/>
            <a:ext cx="4144945" cy="4114800"/>
          </a:xfrm>
          <a:custGeom>
            <a:avLst/>
            <a:gdLst/>
            <a:ahLst/>
            <a:cxnLst/>
            <a:rect l="l" t="t" r="r" b="b"/>
            <a:pathLst>
              <a:path w="4144945" h="4114800">
                <a:moveTo>
                  <a:pt x="0" y="0"/>
                </a:moveTo>
                <a:lnTo>
                  <a:pt x="4144945" y="0"/>
                </a:lnTo>
                <a:lnTo>
                  <a:pt x="414494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t="-19" b="-19"/>
            </a:stretch>
          </a:blipFill>
        </p:spPr>
        <p:txBody>
          <a:bodyPr/>
          <a:lstStyle/>
          <a:p>
            <a:endParaRPr lang="en-GB"/>
          </a:p>
        </p:txBody>
      </p:sp>
      <p:sp>
        <p:nvSpPr>
          <p:cNvPr id="18" name="TextBox 18"/>
          <p:cNvSpPr txBox="1"/>
          <p:nvPr/>
        </p:nvSpPr>
        <p:spPr>
          <a:xfrm>
            <a:off x="-576392" y="208090"/>
            <a:ext cx="18288000" cy="1800854"/>
          </a:xfrm>
          <a:prstGeom prst="rect">
            <a:avLst/>
          </a:prstGeom>
        </p:spPr>
        <p:txBody>
          <a:bodyPr lIns="0" tIns="0" rIns="0" bIns="0" rtlCol="0" anchor="t">
            <a:spAutoFit/>
          </a:bodyPr>
          <a:lstStyle/>
          <a:p>
            <a:pPr algn="ctr">
              <a:lnSpc>
                <a:spcPts val="6758"/>
              </a:lnSpc>
            </a:pPr>
            <a:r>
              <a:rPr lang="en-US" sz="5198" b="1">
                <a:solidFill>
                  <a:srgbClr val="C3EDFE"/>
                </a:solidFill>
                <a:latin typeface="FH Lecturis Rounded Test Bold"/>
                <a:ea typeface="FH Lecturis Rounded Test Bold"/>
                <a:cs typeface="FH Lecturis Rounded Test Bold"/>
                <a:sym typeface="FH Lecturis Rounded Test Bold"/>
              </a:rPr>
              <a:t>Structuring your examples </a:t>
            </a:r>
          </a:p>
          <a:p>
            <a:pPr algn="ctr">
              <a:lnSpc>
                <a:spcPts val="6758"/>
              </a:lnSpc>
            </a:pPr>
            <a:r>
              <a:rPr lang="en-US" sz="5198" b="1">
                <a:solidFill>
                  <a:srgbClr val="C3EDFE"/>
                </a:solidFill>
                <a:latin typeface="FH Lecturis Rounded Test Bold"/>
                <a:ea typeface="FH Lecturis Rounded Test Bold"/>
                <a:cs typeface="FH Lecturis Rounded Test Bold"/>
                <a:sym typeface="FH Lecturis Rounded Test Bold"/>
              </a:rPr>
              <a:t>using the STAR Technique</a:t>
            </a:r>
          </a:p>
        </p:txBody>
      </p:sp>
      <p:sp>
        <p:nvSpPr>
          <p:cNvPr id="19" name="TextBox 19"/>
          <p:cNvSpPr txBox="1"/>
          <p:nvPr/>
        </p:nvSpPr>
        <p:spPr>
          <a:xfrm>
            <a:off x="510358" y="4700401"/>
            <a:ext cx="16946396" cy="4796765"/>
          </a:xfrm>
          <a:prstGeom prst="rect">
            <a:avLst/>
          </a:prstGeom>
        </p:spPr>
        <p:txBody>
          <a:bodyPr lIns="0" tIns="0" rIns="0" bIns="0" rtlCol="0" anchor="t">
            <a:spAutoFit/>
          </a:bodyPr>
          <a:lstStyle/>
          <a:p>
            <a:pPr algn="ctr">
              <a:lnSpc>
                <a:spcPts val="5398"/>
              </a:lnSpc>
            </a:pPr>
            <a:r>
              <a:rPr lang="en-US" sz="3598">
                <a:solidFill>
                  <a:srgbClr val="FF3131"/>
                </a:solidFill>
                <a:latin typeface="DIN Offc 3"/>
                <a:ea typeface="DIN Offc 3"/>
                <a:cs typeface="DIN Offc 3"/>
                <a:sym typeface="DIN Offc 3"/>
              </a:rPr>
              <a:t>Situation</a:t>
            </a:r>
            <a:r>
              <a:rPr lang="en-US" sz="3598">
                <a:solidFill>
                  <a:srgbClr val="000000"/>
                </a:solidFill>
                <a:latin typeface="DIN Offc 3"/>
                <a:ea typeface="DIN Offc 3"/>
                <a:cs typeface="DIN Offc 3"/>
                <a:sym typeface="DIN Offc 3"/>
              </a:rPr>
              <a:t> - Where were you?​ Context!</a:t>
            </a:r>
          </a:p>
          <a:p>
            <a:pPr algn="ctr">
              <a:lnSpc>
                <a:spcPts val="5398"/>
              </a:lnSpc>
            </a:pPr>
            <a:endParaRPr lang="en-US" sz="3598">
              <a:solidFill>
                <a:srgbClr val="000000"/>
              </a:solidFill>
              <a:latin typeface="DIN Offc 3"/>
              <a:ea typeface="DIN Offc 3"/>
              <a:cs typeface="DIN Offc 3"/>
              <a:sym typeface="DIN Offc 3"/>
            </a:endParaRPr>
          </a:p>
          <a:p>
            <a:pPr algn="ctr">
              <a:lnSpc>
                <a:spcPts val="5398"/>
              </a:lnSpc>
            </a:pPr>
            <a:r>
              <a:rPr lang="en-US" sz="3598">
                <a:solidFill>
                  <a:srgbClr val="FF3131"/>
                </a:solidFill>
                <a:latin typeface="DIN Offc 3"/>
                <a:ea typeface="DIN Offc 3"/>
                <a:cs typeface="DIN Offc 3"/>
                <a:sym typeface="DIN Offc 3"/>
              </a:rPr>
              <a:t>Task</a:t>
            </a:r>
            <a:r>
              <a:rPr lang="en-US" sz="3598">
                <a:solidFill>
                  <a:srgbClr val="000000"/>
                </a:solidFill>
                <a:latin typeface="DIN Offc 3"/>
                <a:ea typeface="DIN Offc 3"/>
                <a:cs typeface="DIN Offc 3"/>
                <a:sym typeface="DIN Offc 3"/>
              </a:rPr>
              <a:t> - What did you have to do?​</a:t>
            </a:r>
          </a:p>
          <a:p>
            <a:pPr algn="ctr">
              <a:lnSpc>
                <a:spcPts val="5398"/>
              </a:lnSpc>
            </a:pPr>
            <a:endParaRPr lang="en-US" sz="3598">
              <a:solidFill>
                <a:srgbClr val="000000"/>
              </a:solidFill>
              <a:latin typeface="DIN Offc 3"/>
              <a:ea typeface="DIN Offc 3"/>
              <a:cs typeface="DIN Offc 3"/>
              <a:sym typeface="DIN Offc 3"/>
            </a:endParaRPr>
          </a:p>
          <a:p>
            <a:pPr algn="ctr">
              <a:lnSpc>
                <a:spcPts val="5398"/>
              </a:lnSpc>
            </a:pPr>
            <a:r>
              <a:rPr lang="en-US" sz="3598">
                <a:solidFill>
                  <a:srgbClr val="FF3131"/>
                </a:solidFill>
                <a:latin typeface="DIN Offc 3"/>
                <a:ea typeface="DIN Offc 3"/>
                <a:cs typeface="DIN Offc 3"/>
                <a:sym typeface="DIN Offc 3"/>
              </a:rPr>
              <a:t>Actions</a:t>
            </a:r>
            <a:r>
              <a:rPr lang="en-US" sz="3598">
                <a:solidFill>
                  <a:srgbClr val="000000"/>
                </a:solidFill>
                <a:latin typeface="DIN Offc 3"/>
                <a:ea typeface="DIN Offc 3"/>
                <a:cs typeface="DIN Offc 3"/>
                <a:sym typeface="DIN Offc 3"/>
              </a:rPr>
              <a:t> - How did you do it?​ Be specific!</a:t>
            </a:r>
          </a:p>
          <a:p>
            <a:pPr algn="ctr">
              <a:lnSpc>
                <a:spcPts val="5398"/>
              </a:lnSpc>
            </a:pPr>
            <a:endParaRPr lang="en-US" sz="3598">
              <a:solidFill>
                <a:srgbClr val="000000"/>
              </a:solidFill>
              <a:latin typeface="DIN Offc 3"/>
              <a:ea typeface="DIN Offc 3"/>
              <a:cs typeface="DIN Offc 3"/>
              <a:sym typeface="DIN Offc 3"/>
            </a:endParaRPr>
          </a:p>
          <a:p>
            <a:pPr algn="ctr">
              <a:lnSpc>
                <a:spcPts val="5398"/>
              </a:lnSpc>
            </a:pPr>
            <a:r>
              <a:rPr lang="en-US" sz="3598">
                <a:solidFill>
                  <a:srgbClr val="FF3131"/>
                </a:solidFill>
                <a:latin typeface="DIN Offc 3"/>
                <a:ea typeface="DIN Offc 3"/>
                <a:cs typeface="DIN Offc 3"/>
                <a:sym typeface="DIN Offc 3"/>
              </a:rPr>
              <a:t>Results</a:t>
            </a:r>
            <a:r>
              <a:rPr lang="en-US" sz="3598">
                <a:solidFill>
                  <a:srgbClr val="000000"/>
                </a:solidFill>
                <a:latin typeface="DIN Offc 3"/>
                <a:ea typeface="DIN Offc 3"/>
                <a:cs typeface="DIN Offc 3"/>
                <a:sym typeface="DIN Offc 3"/>
              </a:rPr>
              <a:t> - What were the results?</a:t>
            </a:r>
          </a:p>
        </p:txBody>
      </p:sp>
      <p:sp>
        <p:nvSpPr>
          <p:cNvPr id="20" name="Freeform 20"/>
          <p:cNvSpPr/>
          <p:nvPr/>
        </p:nvSpPr>
        <p:spPr>
          <a:xfrm>
            <a:off x="14698432" y="178841"/>
            <a:ext cx="3352981" cy="673289"/>
          </a:xfrm>
          <a:custGeom>
            <a:avLst/>
            <a:gdLst/>
            <a:ahLst/>
            <a:cxnLst/>
            <a:rect l="l" t="t" r="r" b="b"/>
            <a:pathLst>
              <a:path w="3352981" h="673289">
                <a:moveTo>
                  <a:pt x="0" y="0"/>
                </a:moveTo>
                <a:lnTo>
                  <a:pt x="3352982" y="0"/>
                </a:lnTo>
                <a:lnTo>
                  <a:pt x="3352982" y="673289"/>
                </a:lnTo>
                <a:lnTo>
                  <a:pt x="0" y="673289"/>
                </a:lnTo>
                <a:lnTo>
                  <a:pt x="0" y="0"/>
                </a:lnTo>
                <a:close/>
              </a:path>
            </a:pathLst>
          </a:custGeom>
          <a:blipFill>
            <a:blip r:embed="rId4"/>
            <a:stretch>
              <a:fillRect/>
            </a:stretch>
          </a:blipFill>
        </p:spPr>
        <p:txBody>
          <a:bodyPr/>
          <a:lstStyle/>
          <a:p>
            <a:endParaRPr lang="en-GB"/>
          </a:p>
        </p:txBody>
      </p:sp>
      <p:grpSp>
        <p:nvGrpSpPr>
          <p:cNvPr id="21" name="Group 21"/>
          <p:cNvGrpSpPr/>
          <p:nvPr/>
        </p:nvGrpSpPr>
        <p:grpSpPr>
          <a:xfrm rot="-5400000">
            <a:off x="0" y="1184717"/>
            <a:ext cx="1028700" cy="1028700"/>
            <a:chOff x="0" y="0"/>
            <a:chExt cx="1371600" cy="1371600"/>
          </a:xfrm>
        </p:grpSpPr>
        <p:grpSp>
          <p:nvGrpSpPr>
            <p:cNvPr id="22" name="Group 22"/>
            <p:cNvGrpSpPr/>
            <p:nvPr/>
          </p:nvGrpSpPr>
          <p:grpSpPr>
            <a:xfrm>
              <a:off x="0" y="685800"/>
              <a:ext cx="685800" cy="685800"/>
              <a:chOff x="0" y="0"/>
              <a:chExt cx="338164" cy="338164"/>
            </a:xfrm>
          </p:grpSpPr>
          <p:sp>
            <p:nvSpPr>
              <p:cNvPr id="23" name="Freeform 23"/>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24" name="TextBox 24"/>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nvGrpSpPr>
            <p:cNvPr id="25" name="Group 25"/>
            <p:cNvGrpSpPr/>
            <p:nvPr/>
          </p:nvGrpSpPr>
          <p:grpSpPr>
            <a:xfrm>
              <a:off x="685800" y="0"/>
              <a:ext cx="685800" cy="685800"/>
              <a:chOff x="0" y="0"/>
              <a:chExt cx="338164" cy="338164"/>
            </a:xfrm>
          </p:grpSpPr>
          <p:sp>
            <p:nvSpPr>
              <p:cNvPr id="26" name="Freeform 26"/>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27" name="TextBox 27"/>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grpSp>
        <p:nvGrpSpPr>
          <p:cNvPr id="28" name="Group 28"/>
          <p:cNvGrpSpPr/>
          <p:nvPr/>
        </p:nvGrpSpPr>
        <p:grpSpPr>
          <a:xfrm rot="-10800000">
            <a:off x="17088915" y="919566"/>
            <a:ext cx="1199085" cy="1199085"/>
            <a:chOff x="0" y="0"/>
            <a:chExt cx="1598780" cy="1598780"/>
          </a:xfrm>
        </p:grpSpPr>
        <p:grpSp>
          <p:nvGrpSpPr>
            <p:cNvPr id="29" name="Group 29"/>
            <p:cNvGrpSpPr/>
            <p:nvPr/>
          </p:nvGrpSpPr>
          <p:grpSpPr>
            <a:xfrm>
              <a:off x="0" y="799390"/>
              <a:ext cx="799390" cy="799390"/>
              <a:chOff x="0" y="0"/>
              <a:chExt cx="338164" cy="338164"/>
            </a:xfrm>
          </p:grpSpPr>
          <p:sp>
            <p:nvSpPr>
              <p:cNvPr id="30" name="Freeform 30"/>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31" name="TextBox 31"/>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nvGrpSpPr>
            <p:cNvPr id="32" name="Group 32"/>
            <p:cNvGrpSpPr/>
            <p:nvPr/>
          </p:nvGrpSpPr>
          <p:grpSpPr>
            <a:xfrm>
              <a:off x="799390" y="0"/>
              <a:ext cx="799390" cy="799390"/>
              <a:chOff x="0" y="0"/>
              <a:chExt cx="338164" cy="338164"/>
            </a:xfrm>
          </p:grpSpPr>
          <p:sp>
            <p:nvSpPr>
              <p:cNvPr id="33" name="Freeform 33"/>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34" name="TextBox 34"/>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2E4E"/>
        </a:solidFill>
        <a:effectLst/>
      </p:bgPr>
    </p:bg>
    <p:spTree>
      <p:nvGrpSpPr>
        <p:cNvPr id="1" name=""/>
        <p:cNvGrpSpPr/>
        <p:nvPr/>
      </p:nvGrpSpPr>
      <p:grpSpPr>
        <a:xfrm>
          <a:off x="0" y="0"/>
          <a:ext cx="0" cy="0"/>
          <a:chOff x="0" y="0"/>
          <a:chExt cx="0" cy="0"/>
        </a:xfrm>
      </p:grpSpPr>
      <p:grpSp>
        <p:nvGrpSpPr>
          <p:cNvPr id="2" name="Group 2"/>
          <p:cNvGrpSpPr/>
          <p:nvPr/>
        </p:nvGrpSpPr>
        <p:grpSpPr>
          <a:xfrm>
            <a:off x="-1" y="2118651"/>
            <a:ext cx="18288001" cy="8326004"/>
            <a:chOff x="0" y="0"/>
            <a:chExt cx="5683590" cy="2192857"/>
          </a:xfrm>
        </p:grpSpPr>
        <p:sp>
          <p:nvSpPr>
            <p:cNvPr id="3" name="Freeform 3"/>
            <p:cNvSpPr/>
            <p:nvPr/>
          </p:nvSpPr>
          <p:spPr>
            <a:xfrm>
              <a:off x="0" y="0"/>
              <a:ext cx="5683590" cy="2192857"/>
            </a:xfrm>
            <a:custGeom>
              <a:avLst/>
              <a:gdLst/>
              <a:ahLst/>
              <a:cxnLst/>
              <a:rect l="l" t="t" r="r" b="b"/>
              <a:pathLst>
                <a:path w="5683590" h="2192857">
                  <a:moveTo>
                    <a:pt x="0" y="0"/>
                  </a:moveTo>
                  <a:lnTo>
                    <a:pt x="5683590" y="0"/>
                  </a:lnTo>
                  <a:lnTo>
                    <a:pt x="5683590" y="2192857"/>
                  </a:lnTo>
                  <a:lnTo>
                    <a:pt x="0" y="2192857"/>
                  </a:lnTo>
                  <a:close/>
                </a:path>
              </a:pathLst>
            </a:custGeom>
            <a:solidFill>
              <a:srgbClr val="FFF3DE"/>
            </a:solidFill>
          </p:spPr>
          <p:txBody>
            <a:bodyPr/>
            <a:lstStyle/>
            <a:p>
              <a:endParaRPr lang="en-GB"/>
            </a:p>
          </p:txBody>
        </p:sp>
        <p:sp>
          <p:nvSpPr>
            <p:cNvPr id="4" name="TextBox 4"/>
            <p:cNvSpPr txBox="1"/>
            <p:nvPr/>
          </p:nvSpPr>
          <p:spPr>
            <a:xfrm>
              <a:off x="0" y="-95250"/>
              <a:ext cx="5683590" cy="2288107"/>
            </a:xfrm>
            <a:prstGeom prst="rect">
              <a:avLst/>
            </a:prstGeom>
          </p:spPr>
          <p:txBody>
            <a:bodyPr lIns="50800" tIns="50800" rIns="50800" bIns="50800" rtlCol="0" anchor="ctr"/>
            <a:lstStyle/>
            <a:p>
              <a:pPr algn="ctr">
                <a:lnSpc>
                  <a:spcPts val="3500"/>
                </a:lnSpc>
              </a:pPr>
              <a:endParaRPr/>
            </a:p>
          </p:txBody>
        </p:sp>
      </p:grpSp>
      <p:sp>
        <p:nvSpPr>
          <p:cNvPr id="5" name="Freeform 5"/>
          <p:cNvSpPr/>
          <p:nvPr/>
        </p:nvSpPr>
        <p:spPr>
          <a:xfrm>
            <a:off x="14698432" y="178841"/>
            <a:ext cx="3352981" cy="673289"/>
          </a:xfrm>
          <a:custGeom>
            <a:avLst/>
            <a:gdLst/>
            <a:ahLst/>
            <a:cxnLst/>
            <a:rect l="l" t="t" r="r" b="b"/>
            <a:pathLst>
              <a:path w="3352981" h="673289">
                <a:moveTo>
                  <a:pt x="0" y="0"/>
                </a:moveTo>
                <a:lnTo>
                  <a:pt x="3352982" y="0"/>
                </a:lnTo>
                <a:lnTo>
                  <a:pt x="3352982" y="673289"/>
                </a:lnTo>
                <a:lnTo>
                  <a:pt x="0" y="673289"/>
                </a:lnTo>
                <a:lnTo>
                  <a:pt x="0" y="0"/>
                </a:lnTo>
                <a:close/>
              </a:path>
            </a:pathLst>
          </a:custGeom>
          <a:blipFill>
            <a:blip r:embed="rId2"/>
            <a:stretch>
              <a:fillRect/>
            </a:stretch>
          </a:blipFill>
        </p:spPr>
        <p:txBody>
          <a:bodyPr/>
          <a:lstStyle/>
          <a:p>
            <a:endParaRPr lang="en-GB"/>
          </a:p>
        </p:txBody>
      </p:sp>
      <p:grpSp>
        <p:nvGrpSpPr>
          <p:cNvPr id="6" name="Group 6"/>
          <p:cNvGrpSpPr/>
          <p:nvPr/>
        </p:nvGrpSpPr>
        <p:grpSpPr>
          <a:xfrm rot="-5400000">
            <a:off x="0" y="1089951"/>
            <a:ext cx="1028700" cy="1028700"/>
            <a:chOff x="0" y="0"/>
            <a:chExt cx="1371600" cy="1371600"/>
          </a:xfrm>
        </p:grpSpPr>
        <p:grpSp>
          <p:nvGrpSpPr>
            <p:cNvPr id="7" name="Group 7"/>
            <p:cNvGrpSpPr/>
            <p:nvPr/>
          </p:nvGrpSpPr>
          <p:grpSpPr>
            <a:xfrm>
              <a:off x="0" y="685800"/>
              <a:ext cx="685800" cy="685800"/>
              <a:chOff x="0" y="0"/>
              <a:chExt cx="338164" cy="338164"/>
            </a:xfrm>
          </p:grpSpPr>
          <p:sp>
            <p:nvSpPr>
              <p:cNvPr id="8" name="Freeform 8"/>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9" name="TextBox 9"/>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nvGrpSpPr>
            <p:cNvPr id="10" name="Group 10"/>
            <p:cNvGrpSpPr/>
            <p:nvPr/>
          </p:nvGrpSpPr>
          <p:grpSpPr>
            <a:xfrm>
              <a:off x="685800" y="0"/>
              <a:ext cx="685800" cy="685800"/>
              <a:chOff x="0" y="0"/>
              <a:chExt cx="338164" cy="338164"/>
            </a:xfrm>
          </p:grpSpPr>
          <p:sp>
            <p:nvSpPr>
              <p:cNvPr id="11" name="Freeform 11"/>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12" name="TextBox 12"/>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grpSp>
        <p:nvGrpSpPr>
          <p:cNvPr id="13" name="Group 13"/>
          <p:cNvGrpSpPr/>
          <p:nvPr/>
        </p:nvGrpSpPr>
        <p:grpSpPr>
          <a:xfrm>
            <a:off x="3594062" y="2112977"/>
            <a:ext cx="11390577" cy="8326004"/>
            <a:chOff x="0" y="0"/>
            <a:chExt cx="13867416" cy="10103891"/>
          </a:xfrm>
        </p:grpSpPr>
        <p:sp>
          <p:nvSpPr>
            <p:cNvPr id="14" name="Freeform 14"/>
            <p:cNvSpPr/>
            <p:nvPr/>
          </p:nvSpPr>
          <p:spPr>
            <a:xfrm>
              <a:off x="0" y="0"/>
              <a:ext cx="13867385" cy="10103866"/>
            </a:xfrm>
            <a:custGeom>
              <a:avLst/>
              <a:gdLst/>
              <a:ahLst/>
              <a:cxnLst/>
              <a:rect l="l" t="t" r="r" b="b"/>
              <a:pathLst>
                <a:path w="13867385" h="10103866">
                  <a:moveTo>
                    <a:pt x="0" y="0"/>
                  </a:moveTo>
                  <a:lnTo>
                    <a:pt x="13867385" y="0"/>
                  </a:lnTo>
                  <a:lnTo>
                    <a:pt x="13867385" y="10103866"/>
                  </a:lnTo>
                  <a:lnTo>
                    <a:pt x="0" y="10103866"/>
                  </a:lnTo>
                  <a:lnTo>
                    <a:pt x="0" y="0"/>
                  </a:lnTo>
                  <a:close/>
                </a:path>
              </a:pathLst>
            </a:custGeom>
            <a:blipFill>
              <a:blip r:embed="rId3"/>
              <a:stretch>
                <a:fillRect t="-1468" b="-1468"/>
              </a:stretch>
            </a:blipFill>
          </p:spPr>
          <p:txBody>
            <a:bodyPr/>
            <a:lstStyle/>
            <a:p>
              <a:endParaRPr lang="en-GB"/>
            </a:p>
          </p:txBody>
        </p:sp>
      </p:grpSp>
      <p:sp>
        <p:nvSpPr>
          <p:cNvPr id="15" name="TextBox 15"/>
          <p:cNvSpPr txBox="1"/>
          <p:nvPr/>
        </p:nvSpPr>
        <p:spPr>
          <a:xfrm>
            <a:off x="4511967" y="494002"/>
            <a:ext cx="9554769" cy="991872"/>
          </a:xfrm>
          <a:prstGeom prst="rect">
            <a:avLst/>
          </a:prstGeom>
        </p:spPr>
        <p:txBody>
          <a:bodyPr lIns="0" tIns="0" rIns="0" bIns="0" rtlCol="0" anchor="t">
            <a:spAutoFit/>
          </a:bodyPr>
          <a:lstStyle/>
          <a:p>
            <a:pPr algn="ctr">
              <a:lnSpc>
                <a:spcPts val="7278"/>
              </a:lnSpc>
            </a:pPr>
            <a:r>
              <a:rPr lang="en-US" sz="5198" b="1">
                <a:solidFill>
                  <a:srgbClr val="C3EDFE"/>
                </a:solidFill>
                <a:latin typeface="FH Lecturis Rounded Test Bold"/>
                <a:ea typeface="FH Lecturis Rounded Test Bold"/>
                <a:cs typeface="FH Lecturis Rounded Test Bold"/>
                <a:sym typeface="FH Lecturis Rounded Test Bold"/>
              </a:rPr>
              <a:t>Using the STAR Technique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F50"/>
        </a:solidFill>
        <a:effectLst/>
      </p:bgPr>
    </p:bg>
    <p:spTree>
      <p:nvGrpSpPr>
        <p:cNvPr id="1" name=""/>
        <p:cNvGrpSpPr/>
        <p:nvPr/>
      </p:nvGrpSpPr>
      <p:grpSpPr>
        <a:xfrm>
          <a:off x="0" y="0"/>
          <a:ext cx="0" cy="0"/>
          <a:chOff x="0" y="0"/>
          <a:chExt cx="0" cy="0"/>
        </a:xfrm>
      </p:grpSpPr>
      <p:sp>
        <p:nvSpPr>
          <p:cNvPr id="2" name="Freeform 2"/>
          <p:cNvSpPr/>
          <p:nvPr/>
        </p:nvSpPr>
        <p:spPr>
          <a:xfrm rot="-240002">
            <a:off x="13808813" y="2357171"/>
            <a:ext cx="1484655" cy="1818620"/>
          </a:xfrm>
          <a:custGeom>
            <a:avLst/>
            <a:gdLst/>
            <a:ahLst/>
            <a:cxnLst/>
            <a:rect l="l" t="t" r="r" b="b"/>
            <a:pathLst>
              <a:path w="1484655" h="1818620">
                <a:moveTo>
                  <a:pt x="0" y="0"/>
                </a:moveTo>
                <a:lnTo>
                  <a:pt x="1484655" y="0"/>
                </a:lnTo>
                <a:lnTo>
                  <a:pt x="1484655" y="1818620"/>
                </a:lnTo>
                <a:lnTo>
                  <a:pt x="0" y="1818620"/>
                </a:lnTo>
                <a:lnTo>
                  <a:pt x="0" y="0"/>
                </a:lnTo>
                <a:close/>
              </a:path>
            </a:pathLst>
          </a:custGeom>
          <a:blipFill>
            <a:blip r:embed="rId3">
              <a:extLst>
                <a:ext uri="{96DAC541-7B7A-43D3-8B79-37D633B846F1}">
                  <asvg:svgBlip xmlns:asvg="http://schemas.microsoft.com/office/drawing/2016/SVG/main" r:embed="rId4"/>
                </a:ext>
              </a:extLst>
            </a:blip>
            <a:stretch>
              <a:fillRect t="-237" b="-237"/>
            </a:stretch>
          </a:blipFill>
        </p:spPr>
        <p:txBody>
          <a:bodyPr/>
          <a:lstStyle/>
          <a:p>
            <a:endParaRPr lang="en-GB"/>
          </a:p>
        </p:txBody>
      </p:sp>
      <p:sp>
        <p:nvSpPr>
          <p:cNvPr id="3" name="Freeform 3"/>
          <p:cNvSpPr/>
          <p:nvPr/>
        </p:nvSpPr>
        <p:spPr>
          <a:xfrm rot="923271">
            <a:off x="16414996" y="8355605"/>
            <a:ext cx="1688607" cy="1955230"/>
          </a:xfrm>
          <a:custGeom>
            <a:avLst/>
            <a:gdLst/>
            <a:ahLst/>
            <a:cxnLst/>
            <a:rect l="l" t="t" r="r" b="b"/>
            <a:pathLst>
              <a:path w="1688607" h="1955230">
                <a:moveTo>
                  <a:pt x="0" y="0"/>
                </a:moveTo>
                <a:lnTo>
                  <a:pt x="1688607" y="0"/>
                </a:lnTo>
                <a:lnTo>
                  <a:pt x="1688607" y="1955230"/>
                </a:lnTo>
                <a:lnTo>
                  <a:pt x="0" y="1955230"/>
                </a:lnTo>
                <a:lnTo>
                  <a:pt x="0" y="0"/>
                </a:lnTo>
                <a:close/>
              </a:path>
            </a:pathLst>
          </a:custGeom>
          <a:blipFill>
            <a:blip r:embed="rId5">
              <a:extLst>
                <a:ext uri="{96DAC541-7B7A-43D3-8B79-37D633B846F1}">
                  <asvg:svgBlip xmlns:asvg="http://schemas.microsoft.com/office/drawing/2016/SVG/main" r:embed="rId6"/>
                </a:ext>
              </a:extLst>
            </a:blip>
            <a:stretch>
              <a:fillRect l="-25" r="-25"/>
            </a:stretch>
          </a:blipFill>
        </p:spPr>
        <p:txBody>
          <a:bodyPr/>
          <a:lstStyle/>
          <a:p>
            <a:endParaRPr lang="en-GB"/>
          </a:p>
        </p:txBody>
      </p:sp>
      <p:sp>
        <p:nvSpPr>
          <p:cNvPr id="4" name="Freeform 4"/>
          <p:cNvSpPr/>
          <p:nvPr/>
        </p:nvSpPr>
        <p:spPr>
          <a:xfrm>
            <a:off x="16089043" y="2621841"/>
            <a:ext cx="1901248" cy="1832327"/>
          </a:xfrm>
          <a:custGeom>
            <a:avLst/>
            <a:gdLst/>
            <a:ahLst/>
            <a:cxnLst/>
            <a:rect l="l" t="t" r="r" b="b"/>
            <a:pathLst>
              <a:path w="1901248" h="1832327">
                <a:moveTo>
                  <a:pt x="0" y="0"/>
                </a:moveTo>
                <a:lnTo>
                  <a:pt x="1901248" y="0"/>
                </a:lnTo>
                <a:lnTo>
                  <a:pt x="1901248" y="1832327"/>
                </a:lnTo>
                <a:lnTo>
                  <a:pt x="0" y="1832327"/>
                </a:lnTo>
                <a:lnTo>
                  <a:pt x="0" y="0"/>
                </a:lnTo>
                <a:close/>
              </a:path>
            </a:pathLst>
          </a:custGeom>
          <a:blipFill>
            <a:blip r:embed="rId7">
              <a:extLst>
                <a:ext uri="{96DAC541-7B7A-43D3-8B79-37D633B846F1}">
                  <asvg:svgBlip xmlns:asvg="http://schemas.microsoft.com/office/drawing/2016/SVG/main" r:embed="rId8"/>
                </a:ext>
              </a:extLst>
            </a:blip>
            <a:stretch>
              <a:fillRect t="-64" b="-64"/>
            </a:stretch>
          </a:blipFill>
        </p:spPr>
        <p:txBody>
          <a:bodyPr/>
          <a:lstStyle/>
          <a:p>
            <a:endParaRPr lang="en-GB"/>
          </a:p>
        </p:txBody>
      </p:sp>
      <p:sp>
        <p:nvSpPr>
          <p:cNvPr id="5" name="TextBox 5"/>
          <p:cNvSpPr txBox="1"/>
          <p:nvPr/>
        </p:nvSpPr>
        <p:spPr>
          <a:xfrm>
            <a:off x="453148" y="2880657"/>
            <a:ext cx="16586519" cy="2552854"/>
          </a:xfrm>
          <a:prstGeom prst="rect">
            <a:avLst/>
          </a:prstGeom>
        </p:spPr>
        <p:txBody>
          <a:bodyPr lIns="0" tIns="0" rIns="0" bIns="0" rtlCol="0" anchor="t">
            <a:spAutoFit/>
          </a:bodyPr>
          <a:lstStyle/>
          <a:p>
            <a:pPr marL="482600" lvl="1" indent="-241300" algn="l">
              <a:lnSpc>
                <a:spcPts val="4800"/>
              </a:lnSpc>
              <a:buFont typeface="Arial"/>
              <a:buChar char="•"/>
            </a:pPr>
            <a:r>
              <a:rPr lang="en-US" sz="4000">
                <a:solidFill>
                  <a:srgbClr val="000000"/>
                </a:solidFill>
                <a:latin typeface="DIN Offc 2"/>
                <a:ea typeface="DIN Offc 2"/>
                <a:cs typeface="DIN Offc 2"/>
                <a:sym typeface="DIN Offc 2"/>
              </a:rPr>
              <a:t>Tell me about a time when …?</a:t>
            </a:r>
          </a:p>
          <a:p>
            <a:pPr marL="482600" lvl="1" indent="-241300" algn="l">
              <a:lnSpc>
                <a:spcPts val="4800"/>
              </a:lnSpc>
              <a:buFont typeface="Arial"/>
              <a:buChar char="•"/>
            </a:pPr>
            <a:r>
              <a:rPr lang="en-US" sz="4000">
                <a:solidFill>
                  <a:srgbClr val="000000"/>
                </a:solidFill>
                <a:latin typeface="DIN Offc 2"/>
                <a:ea typeface="DIN Offc 2"/>
                <a:cs typeface="DIN Offc 2"/>
                <a:sym typeface="DIN Offc 2"/>
              </a:rPr>
              <a:t>When did you last ….?</a:t>
            </a:r>
          </a:p>
          <a:p>
            <a:pPr marL="482600" lvl="1" indent="-241300" algn="l">
              <a:lnSpc>
                <a:spcPts val="4800"/>
              </a:lnSpc>
              <a:buFont typeface="Arial"/>
              <a:buChar char="•"/>
            </a:pPr>
            <a:r>
              <a:rPr lang="en-US" sz="4000">
                <a:solidFill>
                  <a:srgbClr val="000000"/>
                </a:solidFill>
                <a:latin typeface="DIN Offc 2"/>
                <a:ea typeface="DIN Offc 2"/>
                <a:cs typeface="DIN Offc 2"/>
                <a:sym typeface="DIN Offc 2"/>
              </a:rPr>
              <a:t>Give an example of when you demonstrated…?</a:t>
            </a:r>
          </a:p>
          <a:p>
            <a:pPr marL="482600" lvl="1" indent="-241300" algn="l">
              <a:lnSpc>
                <a:spcPts val="5399"/>
              </a:lnSpc>
            </a:pPr>
            <a:endParaRPr lang="en-US" sz="4000">
              <a:solidFill>
                <a:srgbClr val="000000"/>
              </a:solidFill>
              <a:latin typeface="DIN Offc 2"/>
              <a:ea typeface="DIN Offc 2"/>
              <a:cs typeface="DIN Offc 2"/>
              <a:sym typeface="DIN Offc 2"/>
            </a:endParaRPr>
          </a:p>
        </p:txBody>
      </p:sp>
      <p:grpSp>
        <p:nvGrpSpPr>
          <p:cNvPr id="6" name="Group 6"/>
          <p:cNvGrpSpPr/>
          <p:nvPr/>
        </p:nvGrpSpPr>
        <p:grpSpPr>
          <a:xfrm>
            <a:off x="0" y="2022549"/>
            <a:ext cx="18288000" cy="8301138"/>
            <a:chOff x="0" y="0"/>
            <a:chExt cx="4816593" cy="2186308"/>
          </a:xfrm>
        </p:grpSpPr>
        <p:sp>
          <p:nvSpPr>
            <p:cNvPr id="7" name="Freeform 7"/>
            <p:cNvSpPr/>
            <p:nvPr/>
          </p:nvSpPr>
          <p:spPr>
            <a:xfrm>
              <a:off x="0" y="0"/>
              <a:ext cx="4816592" cy="2186308"/>
            </a:xfrm>
            <a:custGeom>
              <a:avLst/>
              <a:gdLst/>
              <a:ahLst/>
              <a:cxnLst/>
              <a:rect l="l" t="t" r="r" b="b"/>
              <a:pathLst>
                <a:path w="4816592" h="2186308">
                  <a:moveTo>
                    <a:pt x="0" y="0"/>
                  </a:moveTo>
                  <a:lnTo>
                    <a:pt x="4816592" y="0"/>
                  </a:lnTo>
                  <a:lnTo>
                    <a:pt x="4816592" y="2186308"/>
                  </a:lnTo>
                  <a:lnTo>
                    <a:pt x="0" y="2186308"/>
                  </a:lnTo>
                  <a:close/>
                </a:path>
              </a:pathLst>
            </a:custGeom>
            <a:solidFill>
              <a:srgbClr val="FFF3DE"/>
            </a:solidFill>
          </p:spPr>
          <p:txBody>
            <a:bodyPr/>
            <a:lstStyle/>
            <a:p>
              <a:endParaRPr lang="en-GB"/>
            </a:p>
          </p:txBody>
        </p:sp>
        <p:sp>
          <p:nvSpPr>
            <p:cNvPr id="8" name="TextBox 8"/>
            <p:cNvSpPr txBox="1"/>
            <p:nvPr/>
          </p:nvSpPr>
          <p:spPr>
            <a:xfrm>
              <a:off x="0" y="-95250"/>
              <a:ext cx="4816593" cy="2281558"/>
            </a:xfrm>
            <a:prstGeom prst="rect">
              <a:avLst/>
            </a:prstGeom>
          </p:spPr>
          <p:txBody>
            <a:bodyPr lIns="50800" tIns="50800" rIns="50800" bIns="50800" rtlCol="0" anchor="ctr"/>
            <a:lstStyle/>
            <a:p>
              <a:pPr algn="ctr">
                <a:lnSpc>
                  <a:spcPts val="3500"/>
                </a:lnSpc>
              </a:pPr>
              <a:endParaRPr/>
            </a:p>
          </p:txBody>
        </p:sp>
      </p:grpSp>
      <p:sp>
        <p:nvSpPr>
          <p:cNvPr id="9" name="TextBox 9"/>
          <p:cNvSpPr txBox="1"/>
          <p:nvPr/>
        </p:nvSpPr>
        <p:spPr>
          <a:xfrm>
            <a:off x="-2523397" y="80605"/>
            <a:ext cx="18295559" cy="1369615"/>
          </a:xfrm>
          <a:prstGeom prst="rect">
            <a:avLst/>
          </a:prstGeom>
        </p:spPr>
        <p:txBody>
          <a:bodyPr lIns="0" tIns="0" rIns="0" bIns="0" rtlCol="0" anchor="t">
            <a:spAutoFit/>
          </a:bodyPr>
          <a:lstStyle/>
          <a:p>
            <a:pPr algn="ctr">
              <a:lnSpc>
                <a:spcPts val="10079"/>
              </a:lnSpc>
            </a:pPr>
            <a:r>
              <a:rPr lang="en-US" sz="7198" b="1">
                <a:solidFill>
                  <a:srgbClr val="C3EDFE"/>
                </a:solidFill>
                <a:latin typeface="FH Lecturis Rounded Test Bold"/>
                <a:ea typeface="FH Lecturis Rounded Test Bold"/>
                <a:cs typeface="FH Lecturis Rounded Test Bold"/>
                <a:sym typeface="FH Lecturis Rounded Test Bold"/>
              </a:rPr>
              <a:t>Competency Questions</a:t>
            </a:r>
          </a:p>
        </p:txBody>
      </p:sp>
      <p:sp>
        <p:nvSpPr>
          <p:cNvPr id="10" name="TextBox 10"/>
          <p:cNvSpPr txBox="1"/>
          <p:nvPr/>
        </p:nvSpPr>
        <p:spPr>
          <a:xfrm>
            <a:off x="1490514" y="2260440"/>
            <a:ext cx="16830143" cy="6879766"/>
          </a:xfrm>
          <a:prstGeom prst="rect">
            <a:avLst/>
          </a:prstGeom>
        </p:spPr>
        <p:txBody>
          <a:bodyPr lIns="0" tIns="0" rIns="0" bIns="0" rtlCol="0" anchor="t">
            <a:spAutoFit/>
          </a:bodyPr>
          <a:lstStyle/>
          <a:p>
            <a:pPr algn="l">
              <a:lnSpc>
                <a:spcPts val="5436"/>
              </a:lnSpc>
            </a:pPr>
            <a:r>
              <a:rPr lang="en-US" sz="4352" dirty="0">
                <a:solidFill>
                  <a:srgbClr val="000000"/>
                </a:solidFill>
                <a:latin typeface="DIN Offc 2"/>
                <a:ea typeface="DIN Offc 2"/>
                <a:cs typeface="DIN Offc 2"/>
                <a:sym typeface="DIN Offc 2"/>
              </a:rPr>
              <a:t>​What skills/competencies do employers recruit for?</a:t>
            </a:r>
          </a:p>
          <a:p>
            <a:pPr algn="l">
              <a:lnSpc>
                <a:spcPts val="5436"/>
              </a:lnSpc>
            </a:pPr>
            <a:endParaRPr lang="en-US" sz="4352" dirty="0">
              <a:solidFill>
                <a:srgbClr val="000000"/>
              </a:solidFill>
              <a:latin typeface="DIN Offc 2"/>
              <a:ea typeface="DIN Offc 2"/>
              <a:cs typeface="DIN Offc 2"/>
              <a:sym typeface="DIN Offc 2"/>
            </a:endParaRPr>
          </a:p>
          <a:p>
            <a:pPr marL="835332" lvl="1" indent="-417666" algn="l">
              <a:lnSpc>
                <a:spcPts val="4642"/>
              </a:lnSpc>
              <a:buFont typeface="Arial"/>
              <a:buChar char="•"/>
            </a:pPr>
            <a:r>
              <a:rPr lang="en-US" sz="3869" dirty="0">
                <a:solidFill>
                  <a:srgbClr val="000000"/>
                </a:solidFill>
                <a:latin typeface="DIN Offc 2"/>
                <a:ea typeface="DIN Offc 2"/>
                <a:cs typeface="DIN Offc 2"/>
                <a:sym typeface="DIN Offc 2"/>
              </a:rPr>
              <a:t>Problem solving</a:t>
            </a:r>
          </a:p>
          <a:p>
            <a:pPr marL="835332" lvl="1" indent="-417666" algn="l">
              <a:lnSpc>
                <a:spcPts val="4642"/>
              </a:lnSpc>
              <a:buFont typeface="Arial"/>
              <a:buChar char="•"/>
            </a:pPr>
            <a:r>
              <a:rPr lang="en-US" sz="3869" dirty="0">
                <a:solidFill>
                  <a:srgbClr val="000000"/>
                </a:solidFill>
                <a:latin typeface="DIN Offc 2"/>
                <a:ea typeface="DIN Offc 2"/>
                <a:cs typeface="DIN Offc 2"/>
                <a:sym typeface="DIN Offc 2"/>
              </a:rPr>
              <a:t>Planning and </a:t>
            </a:r>
            <a:r>
              <a:rPr lang="en-US" sz="3869" dirty="0" err="1">
                <a:solidFill>
                  <a:srgbClr val="000000"/>
                </a:solidFill>
                <a:latin typeface="DIN Offc 2"/>
                <a:ea typeface="DIN Offc 2"/>
                <a:cs typeface="DIN Offc 2"/>
                <a:sym typeface="DIN Offc 2"/>
              </a:rPr>
              <a:t>organisation</a:t>
            </a:r>
            <a:endParaRPr lang="en-US" sz="3869" dirty="0">
              <a:solidFill>
                <a:srgbClr val="000000"/>
              </a:solidFill>
              <a:latin typeface="DIN Offc 2"/>
              <a:ea typeface="DIN Offc 2"/>
              <a:cs typeface="DIN Offc 2"/>
              <a:sym typeface="DIN Offc 2"/>
            </a:endParaRPr>
          </a:p>
          <a:p>
            <a:pPr marL="835332" lvl="1" indent="-417666" algn="l">
              <a:lnSpc>
                <a:spcPts val="4642"/>
              </a:lnSpc>
              <a:buFont typeface="Arial"/>
              <a:buChar char="•"/>
            </a:pPr>
            <a:r>
              <a:rPr lang="en-US" sz="3869" dirty="0">
                <a:solidFill>
                  <a:srgbClr val="000000"/>
                </a:solidFill>
                <a:latin typeface="DIN Offc 2"/>
                <a:ea typeface="DIN Offc 2"/>
                <a:cs typeface="DIN Offc 2"/>
                <a:sym typeface="DIN Offc 2"/>
              </a:rPr>
              <a:t>Teamwork</a:t>
            </a:r>
          </a:p>
          <a:p>
            <a:pPr marL="835332" lvl="1" indent="-417666" algn="l">
              <a:lnSpc>
                <a:spcPts val="4642"/>
              </a:lnSpc>
              <a:buFont typeface="Arial"/>
              <a:buChar char="•"/>
            </a:pPr>
            <a:r>
              <a:rPr lang="en-US" sz="3869" dirty="0">
                <a:solidFill>
                  <a:srgbClr val="000000"/>
                </a:solidFill>
                <a:latin typeface="DIN Offc 2"/>
                <a:ea typeface="DIN Offc 2"/>
                <a:cs typeface="DIN Offc 2"/>
                <a:sym typeface="DIN Offc 2"/>
              </a:rPr>
              <a:t>Written communication</a:t>
            </a:r>
          </a:p>
          <a:p>
            <a:pPr marL="835332" lvl="1" indent="-417666" algn="l">
              <a:lnSpc>
                <a:spcPts val="4642"/>
              </a:lnSpc>
              <a:buFont typeface="Arial"/>
              <a:buChar char="•"/>
            </a:pPr>
            <a:r>
              <a:rPr lang="en-US" sz="3869" dirty="0">
                <a:solidFill>
                  <a:srgbClr val="000000"/>
                </a:solidFill>
                <a:latin typeface="DIN Offc 2"/>
                <a:ea typeface="DIN Offc 2"/>
                <a:cs typeface="DIN Offc 2"/>
                <a:sym typeface="DIN Offc 2"/>
              </a:rPr>
              <a:t>Communication/presentation skills</a:t>
            </a:r>
          </a:p>
          <a:p>
            <a:pPr marL="835332" lvl="1" indent="-417666" algn="l">
              <a:lnSpc>
                <a:spcPts val="4642"/>
              </a:lnSpc>
              <a:buFont typeface="Arial"/>
              <a:buChar char="•"/>
            </a:pPr>
            <a:r>
              <a:rPr lang="en-US" sz="3869" dirty="0">
                <a:solidFill>
                  <a:srgbClr val="000000"/>
                </a:solidFill>
                <a:latin typeface="DIN Offc 2"/>
                <a:ea typeface="DIN Offc 2"/>
                <a:cs typeface="DIN Offc 2"/>
                <a:sym typeface="DIN Offc 2"/>
              </a:rPr>
              <a:t>Digital literacy</a:t>
            </a:r>
          </a:p>
          <a:p>
            <a:pPr marL="835332" lvl="1" indent="-417666" algn="l">
              <a:lnSpc>
                <a:spcPts val="4642"/>
              </a:lnSpc>
              <a:buFont typeface="Arial"/>
              <a:buChar char="•"/>
            </a:pPr>
            <a:r>
              <a:rPr lang="en-US" sz="3869" dirty="0">
                <a:solidFill>
                  <a:srgbClr val="000000"/>
                </a:solidFill>
                <a:latin typeface="DIN Offc 2"/>
                <a:ea typeface="DIN Offc 2"/>
                <a:cs typeface="DIN Offc 2"/>
                <a:sym typeface="DIN Offc 2"/>
              </a:rPr>
              <a:t>Creativity/initiative</a:t>
            </a:r>
          </a:p>
          <a:p>
            <a:pPr marL="466803" lvl="1" indent="-233402" algn="ctr">
              <a:lnSpc>
                <a:spcPts val="5439"/>
              </a:lnSpc>
            </a:pPr>
            <a:endParaRPr lang="en-US" sz="3869" dirty="0">
              <a:solidFill>
                <a:srgbClr val="000000"/>
              </a:solidFill>
              <a:latin typeface="DIN Offc 2"/>
              <a:ea typeface="DIN Offc 2"/>
              <a:cs typeface="DIN Offc 2"/>
              <a:sym typeface="DIN Offc 2"/>
            </a:endParaRPr>
          </a:p>
          <a:p>
            <a:pPr marL="466803" lvl="1" indent="-233402" algn="ctr">
              <a:lnSpc>
                <a:spcPts val="5439"/>
              </a:lnSpc>
            </a:pPr>
            <a:endParaRPr lang="en-US" sz="3869" dirty="0">
              <a:solidFill>
                <a:srgbClr val="000000"/>
              </a:solidFill>
              <a:latin typeface="DIN Offc 2"/>
              <a:ea typeface="DIN Offc 2"/>
              <a:cs typeface="DIN Offc 2"/>
              <a:sym typeface="DIN Offc 2"/>
            </a:endParaRPr>
          </a:p>
        </p:txBody>
      </p:sp>
      <p:grpSp>
        <p:nvGrpSpPr>
          <p:cNvPr id="11" name="Group 11"/>
          <p:cNvGrpSpPr/>
          <p:nvPr/>
        </p:nvGrpSpPr>
        <p:grpSpPr>
          <a:xfrm rot="-5400000">
            <a:off x="17088915" y="0"/>
            <a:ext cx="1199085" cy="1199085"/>
            <a:chOff x="0" y="0"/>
            <a:chExt cx="1598780" cy="1598780"/>
          </a:xfrm>
        </p:grpSpPr>
        <p:grpSp>
          <p:nvGrpSpPr>
            <p:cNvPr id="12" name="Group 12"/>
            <p:cNvGrpSpPr/>
            <p:nvPr/>
          </p:nvGrpSpPr>
          <p:grpSpPr>
            <a:xfrm>
              <a:off x="0" y="799390"/>
              <a:ext cx="799390" cy="799390"/>
              <a:chOff x="0" y="0"/>
              <a:chExt cx="338164" cy="338164"/>
            </a:xfrm>
          </p:grpSpPr>
          <p:sp>
            <p:nvSpPr>
              <p:cNvPr id="13" name="Freeform 13"/>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14" name="TextBox 14"/>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nvGrpSpPr>
            <p:cNvPr id="15" name="Group 15"/>
            <p:cNvGrpSpPr/>
            <p:nvPr/>
          </p:nvGrpSpPr>
          <p:grpSpPr>
            <a:xfrm>
              <a:off x="799390" y="0"/>
              <a:ext cx="799390" cy="799390"/>
              <a:chOff x="0" y="0"/>
              <a:chExt cx="338164" cy="338164"/>
            </a:xfrm>
          </p:grpSpPr>
          <p:sp>
            <p:nvSpPr>
              <p:cNvPr id="16" name="Freeform 16"/>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17" name="TextBox 17"/>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grpSp>
        <p:nvGrpSpPr>
          <p:cNvPr id="18" name="Group 18"/>
          <p:cNvGrpSpPr/>
          <p:nvPr/>
        </p:nvGrpSpPr>
        <p:grpSpPr>
          <a:xfrm>
            <a:off x="0" y="1386319"/>
            <a:ext cx="611404" cy="599543"/>
            <a:chOff x="0" y="0"/>
            <a:chExt cx="370105" cy="362925"/>
          </a:xfrm>
        </p:grpSpPr>
        <p:sp>
          <p:nvSpPr>
            <p:cNvPr id="19" name="Freeform 19"/>
            <p:cNvSpPr/>
            <p:nvPr/>
          </p:nvSpPr>
          <p:spPr>
            <a:xfrm>
              <a:off x="0" y="0"/>
              <a:ext cx="370105" cy="362925"/>
            </a:xfrm>
            <a:custGeom>
              <a:avLst/>
              <a:gdLst/>
              <a:ahLst/>
              <a:cxnLst/>
              <a:rect l="l" t="t" r="r" b="b"/>
              <a:pathLst>
                <a:path w="370105" h="362925">
                  <a:moveTo>
                    <a:pt x="0" y="0"/>
                  </a:moveTo>
                  <a:lnTo>
                    <a:pt x="370105" y="0"/>
                  </a:lnTo>
                  <a:lnTo>
                    <a:pt x="370105" y="362925"/>
                  </a:lnTo>
                  <a:lnTo>
                    <a:pt x="0" y="362925"/>
                  </a:lnTo>
                  <a:close/>
                </a:path>
              </a:pathLst>
            </a:custGeom>
            <a:solidFill>
              <a:srgbClr val="C3EDFE"/>
            </a:solidFill>
          </p:spPr>
          <p:txBody>
            <a:bodyPr/>
            <a:lstStyle/>
            <a:p>
              <a:endParaRPr lang="en-GB"/>
            </a:p>
          </p:txBody>
        </p:sp>
        <p:sp>
          <p:nvSpPr>
            <p:cNvPr id="20" name="TextBox 20"/>
            <p:cNvSpPr txBox="1"/>
            <p:nvPr/>
          </p:nvSpPr>
          <p:spPr>
            <a:xfrm>
              <a:off x="0" y="-95250"/>
              <a:ext cx="370105" cy="458175"/>
            </a:xfrm>
            <a:prstGeom prst="rect">
              <a:avLst/>
            </a:prstGeom>
          </p:spPr>
          <p:txBody>
            <a:bodyPr lIns="33503" tIns="33503" rIns="33503" bIns="33503" rtlCol="0" anchor="ctr"/>
            <a:lstStyle/>
            <a:p>
              <a:pPr algn="ctr">
                <a:lnSpc>
                  <a:spcPts val="3500"/>
                </a:lnSpc>
              </a:pPr>
              <a:endParaRPr/>
            </a:p>
          </p:txBody>
        </p:sp>
      </p:grpSp>
      <p:grpSp>
        <p:nvGrpSpPr>
          <p:cNvPr id="21" name="Group 21"/>
          <p:cNvGrpSpPr/>
          <p:nvPr/>
        </p:nvGrpSpPr>
        <p:grpSpPr>
          <a:xfrm>
            <a:off x="0" y="0"/>
            <a:ext cx="730490" cy="713661"/>
            <a:chOff x="0" y="0"/>
            <a:chExt cx="442192" cy="432005"/>
          </a:xfrm>
        </p:grpSpPr>
        <p:sp>
          <p:nvSpPr>
            <p:cNvPr id="22" name="Freeform 22"/>
            <p:cNvSpPr/>
            <p:nvPr/>
          </p:nvSpPr>
          <p:spPr>
            <a:xfrm>
              <a:off x="0" y="0"/>
              <a:ext cx="442192" cy="432005"/>
            </a:xfrm>
            <a:custGeom>
              <a:avLst/>
              <a:gdLst/>
              <a:ahLst/>
              <a:cxnLst/>
              <a:rect l="l" t="t" r="r" b="b"/>
              <a:pathLst>
                <a:path w="442192" h="432005">
                  <a:moveTo>
                    <a:pt x="0" y="0"/>
                  </a:moveTo>
                  <a:lnTo>
                    <a:pt x="442192" y="0"/>
                  </a:lnTo>
                  <a:lnTo>
                    <a:pt x="442192" y="432005"/>
                  </a:lnTo>
                  <a:lnTo>
                    <a:pt x="0" y="432005"/>
                  </a:lnTo>
                  <a:close/>
                </a:path>
              </a:pathLst>
            </a:custGeom>
            <a:solidFill>
              <a:srgbClr val="C3EDFE"/>
            </a:solidFill>
          </p:spPr>
          <p:txBody>
            <a:bodyPr/>
            <a:lstStyle/>
            <a:p>
              <a:endParaRPr lang="en-GB"/>
            </a:p>
          </p:txBody>
        </p:sp>
        <p:sp>
          <p:nvSpPr>
            <p:cNvPr id="23" name="TextBox 23"/>
            <p:cNvSpPr txBox="1"/>
            <p:nvPr/>
          </p:nvSpPr>
          <p:spPr>
            <a:xfrm>
              <a:off x="0" y="-95250"/>
              <a:ext cx="442192" cy="527255"/>
            </a:xfrm>
            <a:prstGeom prst="rect">
              <a:avLst/>
            </a:prstGeom>
          </p:spPr>
          <p:txBody>
            <a:bodyPr lIns="33503" tIns="33503" rIns="33503" bIns="33503" rtlCol="0" anchor="ctr"/>
            <a:lstStyle/>
            <a:p>
              <a:pPr algn="ctr">
                <a:lnSpc>
                  <a:spcPts val="3500"/>
                </a:lnSpc>
              </a:pPr>
              <a:endParaRPr/>
            </a:p>
          </p:txBody>
        </p:sp>
      </p:grpSp>
      <p:sp>
        <p:nvSpPr>
          <p:cNvPr id="24" name="Freeform 24"/>
          <p:cNvSpPr/>
          <p:nvPr/>
        </p:nvSpPr>
        <p:spPr>
          <a:xfrm>
            <a:off x="7752638" y="3754388"/>
            <a:ext cx="7122807" cy="5493465"/>
          </a:xfrm>
          <a:custGeom>
            <a:avLst/>
            <a:gdLst/>
            <a:ahLst/>
            <a:cxnLst/>
            <a:rect l="l" t="t" r="r" b="b"/>
            <a:pathLst>
              <a:path w="7122807" h="5493465">
                <a:moveTo>
                  <a:pt x="0" y="0"/>
                </a:moveTo>
                <a:lnTo>
                  <a:pt x="7122807" y="0"/>
                </a:lnTo>
                <a:lnTo>
                  <a:pt x="7122807" y="5493465"/>
                </a:lnTo>
                <a:lnTo>
                  <a:pt x="0" y="5493465"/>
                </a:lnTo>
                <a:lnTo>
                  <a:pt x="0" y="0"/>
                </a:lnTo>
                <a:close/>
              </a:path>
            </a:pathLst>
          </a:custGeom>
          <a:blipFill>
            <a:blip r:embed="rId9"/>
            <a:stretch>
              <a:fillRect/>
            </a:stretch>
          </a:blipFill>
        </p:spPr>
        <p:txBody>
          <a:bodyPr/>
          <a:lstStyle/>
          <a:p>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F50"/>
        </a:solidFill>
        <a:effectLst/>
      </p:bgPr>
    </p:bg>
    <p:spTree>
      <p:nvGrpSpPr>
        <p:cNvPr id="1" name=""/>
        <p:cNvGrpSpPr/>
        <p:nvPr/>
      </p:nvGrpSpPr>
      <p:grpSpPr>
        <a:xfrm>
          <a:off x="0" y="0"/>
          <a:ext cx="0" cy="0"/>
          <a:chOff x="0" y="0"/>
          <a:chExt cx="0" cy="0"/>
        </a:xfrm>
      </p:grpSpPr>
      <p:grpSp>
        <p:nvGrpSpPr>
          <p:cNvPr id="2" name="Group 2"/>
          <p:cNvGrpSpPr/>
          <p:nvPr/>
        </p:nvGrpSpPr>
        <p:grpSpPr>
          <a:xfrm>
            <a:off x="0" y="1960996"/>
            <a:ext cx="18288000" cy="8326004"/>
            <a:chOff x="0" y="0"/>
            <a:chExt cx="5683590" cy="2192857"/>
          </a:xfrm>
        </p:grpSpPr>
        <p:sp>
          <p:nvSpPr>
            <p:cNvPr id="3" name="Freeform 3"/>
            <p:cNvSpPr/>
            <p:nvPr/>
          </p:nvSpPr>
          <p:spPr>
            <a:xfrm>
              <a:off x="0" y="0"/>
              <a:ext cx="5683590" cy="2192857"/>
            </a:xfrm>
            <a:custGeom>
              <a:avLst/>
              <a:gdLst/>
              <a:ahLst/>
              <a:cxnLst/>
              <a:rect l="l" t="t" r="r" b="b"/>
              <a:pathLst>
                <a:path w="5683590" h="2192857">
                  <a:moveTo>
                    <a:pt x="0" y="0"/>
                  </a:moveTo>
                  <a:lnTo>
                    <a:pt x="5683590" y="0"/>
                  </a:lnTo>
                  <a:lnTo>
                    <a:pt x="5683590" y="2192857"/>
                  </a:lnTo>
                  <a:lnTo>
                    <a:pt x="0" y="2192857"/>
                  </a:lnTo>
                  <a:close/>
                </a:path>
              </a:pathLst>
            </a:custGeom>
            <a:solidFill>
              <a:srgbClr val="FFF3DE"/>
            </a:solidFill>
          </p:spPr>
          <p:txBody>
            <a:bodyPr/>
            <a:lstStyle/>
            <a:p>
              <a:endParaRPr lang="en-GB"/>
            </a:p>
          </p:txBody>
        </p:sp>
        <p:sp>
          <p:nvSpPr>
            <p:cNvPr id="4" name="TextBox 4"/>
            <p:cNvSpPr txBox="1"/>
            <p:nvPr/>
          </p:nvSpPr>
          <p:spPr>
            <a:xfrm>
              <a:off x="0" y="-95250"/>
              <a:ext cx="5683590" cy="2288107"/>
            </a:xfrm>
            <a:prstGeom prst="rect">
              <a:avLst/>
            </a:prstGeom>
          </p:spPr>
          <p:txBody>
            <a:bodyPr lIns="50800" tIns="50800" rIns="50800" bIns="50800" rtlCol="0" anchor="ctr"/>
            <a:lstStyle/>
            <a:p>
              <a:pPr algn="ctr">
                <a:lnSpc>
                  <a:spcPts val="3500"/>
                </a:lnSpc>
              </a:pPr>
              <a:endParaRPr/>
            </a:p>
          </p:txBody>
        </p:sp>
      </p:grpSp>
      <p:sp>
        <p:nvSpPr>
          <p:cNvPr id="5" name="Freeform 5"/>
          <p:cNvSpPr/>
          <p:nvPr/>
        </p:nvSpPr>
        <p:spPr>
          <a:xfrm>
            <a:off x="14698432" y="178841"/>
            <a:ext cx="3352981" cy="673289"/>
          </a:xfrm>
          <a:custGeom>
            <a:avLst/>
            <a:gdLst/>
            <a:ahLst/>
            <a:cxnLst/>
            <a:rect l="l" t="t" r="r" b="b"/>
            <a:pathLst>
              <a:path w="3352981" h="673289">
                <a:moveTo>
                  <a:pt x="0" y="0"/>
                </a:moveTo>
                <a:lnTo>
                  <a:pt x="3352982" y="0"/>
                </a:lnTo>
                <a:lnTo>
                  <a:pt x="3352982" y="673289"/>
                </a:lnTo>
                <a:lnTo>
                  <a:pt x="0" y="673289"/>
                </a:lnTo>
                <a:lnTo>
                  <a:pt x="0" y="0"/>
                </a:lnTo>
                <a:close/>
              </a:path>
            </a:pathLst>
          </a:custGeom>
          <a:blipFill>
            <a:blip r:embed="rId3"/>
            <a:stretch>
              <a:fillRect/>
            </a:stretch>
          </a:blipFill>
        </p:spPr>
        <p:txBody>
          <a:bodyPr/>
          <a:lstStyle/>
          <a:p>
            <a:endParaRPr lang="en-GB"/>
          </a:p>
        </p:txBody>
      </p:sp>
      <p:grpSp>
        <p:nvGrpSpPr>
          <p:cNvPr id="6" name="Group 6"/>
          <p:cNvGrpSpPr/>
          <p:nvPr/>
        </p:nvGrpSpPr>
        <p:grpSpPr>
          <a:xfrm rot="-5400000">
            <a:off x="0" y="932296"/>
            <a:ext cx="1028700" cy="1028700"/>
            <a:chOff x="0" y="0"/>
            <a:chExt cx="1371600" cy="1371600"/>
          </a:xfrm>
        </p:grpSpPr>
        <p:grpSp>
          <p:nvGrpSpPr>
            <p:cNvPr id="7" name="Group 7"/>
            <p:cNvGrpSpPr/>
            <p:nvPr/>
          </p:nvGrpSpPr>
          <p:grpSpPr>
            <a:xfrm>
              <a:off x="0" y="685800"/>
              <a:ext cx="685800" cy="685800"/>
              <a:chOff x="0" y="0"/>
              <a:chExt cx="338164" cy="338164"/>
            </a:xfrm>
          </p:grpSpPr>
          <p:sp>
            <p:nvSpPr>
              <p:cNvPr id="8" name="Freeform 8"/>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9" name="TextBox 9"/>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nvGrpSpPr>
            <p:cNvPr id="10" name="Group 10"/>
            <p:cNvGrpSpPr/>
            <p:nvPr/>
          </p:nvGrpSpPr>
          <p:grpSpPr>
            <a:xfrm>
              <a:off x="685800" y="0"/>
              <a:ext cx="685800" cy="685800"/>
              <a:chOff x="0" y="0"/>
              <a:chExt cx="338164" cy="338164"/>
            </a:xfrm>
          </p:grpSpPr>
          <p:sp>
            <p:nvSpPr>
              <p:cNvPr id="11" name="Freeform 11"/>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12" name="TextBox 12"/>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sp>
        <p:nvSpPr>
          <p:cNvPr id="13" name="Freeform 13"/>
          <p:cNvSpPr/>
          <p:nvPr/>
        </p:nvSpPr>
        <p:spPr>
          <a:xfrm>
            <a:off x="6787045" y="1960996"/>
            <a:ext cx="11125659" cy="8622386"/>
          </a:xfrm>
          <a:custGeom>
            <a:avLst/>
            <a:gdLst/>
            <a:ahLst/>
            <a:cxnLst/>
            <a:rect l="l" t="t" r="r" b="b"/>
            <a:pathLst>
              <a:path w="11125659" h="8622386">
                <a:moveTo>
                  <a:pt x="0" y="0"/>
                </a:moveTo>
                <a:lnTo>
                  <a:pt x="11125659" y="0"/>
                </a:lnTo>
                <a:lnTo>
                  <a:pt x="11125659" y="8622385"/>
                </a:lnTo>
                <a:lnTo>
                  <a:pt x="0" y="8622385"/>
                </a:lnTo>
                <a:lnTo>
                  <a:pt x="0" y="0"/>
                </a:lnTo>
                <a:close/>
              </a:path>
            </a:pathLst>
          </a:custGeom>
          <a:blipFill>
            <a:blip r:embed="rId4"/>
            <a:stretch>
              <a:fillRect/>
            </a:stretch>
          </a:blipFill>
        </p:spPr>
        <p:txBody>
          <a:bodyPr/>
          <a:lstStyle/>
          <a:p>
            <a:endParaRPr lang="en-GB"/>
          </a:p>
        </p:txBody>
      </p:sp>
      <p:sp>
        <p:nvSpPr>
          <p:cNvPr id="14" name="Freeform 14"/>
          <p:cNvSpPr/>
          <p:nvPr/>
        </p:nvSpPr>
        <p:spPr>
          <a:xfrm>
            <a:off x="514350" y="3793068"/>
            <a:ext cx="7350512" cy="5301557"/>
          </a:xfrm>
          <a:custGeom>
            <a:avLst/>
            <a:gdLst/>
            <a:ahLst/>
            <a:cxnLst/>
            <a:rect l="l" t="t" r="r" b="b"/>
            <a:pathLst>
              <a:path w="7350512" h="5301557">
                <a:moveTo>
                  <a:pt x="0" y="0"/>
                </a:moveTo>
                <a:lnTo>
                  <a:pt x="7350512" y="0"/>
                </a:lnTo>
                <a:lnTo>
                  <a:pt x="7350512" y="5301557"/>
                </a:lnTo>
                <a:lnTo>
                  <a:pt x="0" y="530155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grpSp>
        <p:nvGrpSpPr>
          <p:cNvPr id="15" name="Group 15"/>
          <p:cNvGrpSpPr>
            <a:grpSpLocks noChangeAspect="1"/>
          </p:cNvGrpSpPr>
          <p:nvPr/>
        </p:nvGrpSpPr>
        <p:grpSpPr>
          <a:xfrm>
            <a:off x="9550796" y="2708032"/>
            <a:ext cx="6824127" cy="6831933"/>
            <a:chOff x="0" y="0"/>
            <a:chExt cx="10435149" cy="10447085"/>
          </a:xfrm>
        </p:grpSpPr>
        <p:sp>
          <p:nvSpPr>
            <p:cNvPr id="16" name="Freeform 16"/>
            <p:cNvSpPr/>
            <p:nvPr/>
          </p:nvSpPr>
          <p:spPr>
            <a:xfrm>
              <a:off x="0" y="0"/>
              <a:ext cx="10435209" cy="10447147"/>
            </a:xfrm>
            <a:custGeom>
              <a:avLst/>
              <a:gdLst/>
              <a:ahLst/>
              <a:cxnLst/>
              <a:rect l="l" t="t" r="r" b="b"/>
              <a:pathLst>
                <a:path w="10435209" h="10447147">
                  <a:moveTo>
                    <a:pt x="0" y="0"/>
                  </a:moveTo>
                  <a:lnTo>
                    <a:pt x="10435209" y="0"/>
                  </a:lnTo>
                  <a:lnTo>
                    <a:pt x="10435209" y="10447147"/>
                  </a:lnTo>
                  <a:lnTo>
                    <a:pt x="0" y="10447147"/>
                  </a:lnTo>
                  <a:lnTo>
                    <a:pt x="0" y="0"/>
                  </a:lnTo>
                  <a:close/>
                </a:path>
              </a:pathLst>
            </a:custGeom>
            <a:blipFill>
              <a:blip r:embed="rId7"/>
              <a:stretch>
                <a:fillRect l="-11013" t="-12320" r="-12774" b="-11326"/>
              </a:stretch>
            </a:blipFill>
          </p:spPr>
          <p:txBody>
            <a:bodyPr/>
            <a:lstStyle/>
            <a:p>
              <a:endParaRPr lang="en-GB"/>
            </a:p>
          </p:txBody>
        </p:sp>
      </p:grpSp>
      <p:sp>
        <p:nvSpPr>
          <p:cNvPr id="17" name="TextBox 17"/>
          <p:cNvSpPr txBox="1"/>
          <p:nvPr/>
        </p:nvSpPr>
        <p:spPr>
          <a:xfrm>
            <a:off x="-218682" y="528651"/>
            <a:ext cx="15885166" cy="895323"/>
          </a:xfrm>
          <a:prstGeom prst="rect">
            <a:avLst/>
          </a:prstGeom>
        </p:spPr>
        <p:txBody>
          <a:bodyPr lIns="0" tIns="0" rIns="0" bIns="0" rtlCol="0" anchor="t">
            <a:spAutoFit/>
          </a:bodyPr>
          <a:lstStyle/>
          <a:p>
            <a:pPr algn="ctr">
              <a:lnSpc>
                <a:spcPts val="6240"/>
              </a:lnSpc>
            </a:pPr>
            <a:r>
              <a:rPr lang="en-US" sz="5200" b="1">
                <a:solidFill>
                  <a:srgbClr val="C3EDFE"/>
                </a:solidFill>
                <a:latin typeface="FH Lecturis Rounded Test Bold"/>
                <a:ea typeface="FH Lecturis Rounded Test Bold"/>
                <a:cs typeface="FH Lecturis Rounded Test Bold"/>
                <a:sym typeface="FH Lecturis Rounded Test Bold"/>
              </a:rPr>
              <a:t>Review the development of your skills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bg>
      <p:bgPr>
        <a:solidFill>
          <a:srgbClr val="002F50"/>
        </a:solidFill>
        <a:effectLst/>
      </p:bgPr>
    </p:bg>
    <p:spTree>
      <p:nvGrpSpPr>
        <p:cNvPr id="1" name=""/>
        <p:cNvGrpSpPr/>
        <p:nvPr/>
      </p:nvGrpSpPr>
      <p:grpSpPr>
        <a:xfrm>
          <a:off x="0" y="0"/>
          <a:ext cx="0" cy="0"/>
          <a:chOff x="0" y="0"/>
          <a:chExt cx="0" cy="0"/>
        </a:xfrm>
      </p:grpSpPr>
      <p:grpSp>
        <p:nvGrpSpPr>
          <p:cNvPr id="2" name="Group 2"/>
          <p:cNvGrpSpPr/>
          <p:nvPr/>
        </p:nvGrpSpPr>
        <p:grpSpPr>
          <a:xfrm>
            <a:off x="-702791" y="2037196"/>
            <a:ext cx="21579880" cy="8326004"/>
            <a:chOff x="0" y="0"/>
            <a:chExt cx="5683590" cy="2192857"/>
          </a:xfrm>
        </p:grpSpPr>
        <p:sp>
          <p:nvSpPr>
            <p:cNvPr id="3" name="Freeform 3"/>
            <p:cNvSpPr/>
            <p:nvPr/>
          </p:nvSpPr>
          <p:spPr>
            <a:xfrm>
              <a:off x="0" y="0"/>
              <a:ext cx="5683590" cy="2192857"/>
            </a:xfrm>
            <a:custGeom>
              <a:avLst/>
              <a:gdLst/>
              <a:ahLst/>
              <a:cxnLst/>
              <a:rect l="l" t="t" r="r" b="b"/>
              <a:pathLst>
                <a:path w="5683590" h="2192857">
                  <a:moveTo>
                    <a:pt x="0" y="0"/>
                  </a:moveTo>
                  <a:lnTo>
                    <a:pt x="5683590" y="0"/>
                  </a:lnTo>
                  <a:lnTo>
                    <a:pt x="5683590" y="2192857"/>
                  </a:lnTo>
                  <a:lnTo>
                    <a:pt x="0" y="2192857"/>
                  </a:lnTo>
                  <a:close/>
                </a:path>
              </a:pathLst>
            </a:custGeom>
            <a:solidFill>
              <a:srgbClr val="FFF3D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p:cNvSpPr txBox="1"/>
            <p:nvPr/>
          </p:nvSpPr>
          <p:spPr>
            <a:xfrm>
              <a:off x="0" y="-95250"/>
              <a:ext cx="5683590" cy="2288107"/>
            </a:xfrm>
            <a:prstGeom prst="rect">
              <a:avLst/>
            </a:prstGeom>
          </p:spPr>
          <p:txBody>
            <a:bodyPr lIns="50800" tIns="50800" rIns="50800" bIns="50800" rtlCol="0" anchor="ctr"/>
            <a:lstStyle/>
            <a:p>
              <a:pPr marL="0" marR="0" lvl="0" indent="0" algn="ctr" defTabSz="914400" rtl="0" eaLnBrk="1" fontAlgn="auto" latinLnBrk="0" hangingPunct="1">
                <a:lnSpc>
                  <a:spcPts val="35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p:cNvSpPr txBox="1"/>
          <p:nvPr/>
        </p:nvSpPr>
        <p:spPr>
          <a:xfrm>
            <a:off x="0" y="269568"/>
            <a:ext cx="16162684" cy="1261090"/>
          </a:xfrm>
          <a:prstGeom prst="rect">
            <a:avLst/>
          </a:prstGeom>
        </p:spPr>
        <p:txBody>
          <a:bodyPr lIns="0" tIns="0" rIns="0" bIns="0" rtlCol="0" anchor="t">
            <a:spAutoFit/>
          </a:bodyPr>
          <a:lstStyle/>
          <a:p>
            <a:pPr marL="0" marR="0" lvl="0" indent="0" algn="ctr" defTabSz="914400" rtl="0" eaLnBrk="1" fontAlgn="auto" latinLnBrk="0" hangingPunct="1">
              <a:lnSpc>
                <a:spcPts val="9239"/>
              </a:lnSpc>
              <a:spcBef>
                <a:spcPts val="0"/>
              </a:spcBef>
              <a:spcAft>
                <a:spcPts val="0"/>
              </a:spcAft>
              <a:buClrTx/>
              <a:buSzTx/>
              <a:buFontTx/>
              <a:buNone/>
              <a:tabLst/>
              <a:defRPr/>
            </a:pPr>
            <a:r>
              <a:rPr kumimoji="0" lang="en-US" sz="6598" b="1" i="0" u="none" strike="noStrike" kern="1200" cap="none" spc="0" normalizeH="0" baseline="0" noProof="0">
                <a:ln>
                  <a:noFill/>
                </a:ln>
                <a:solidFill>
                  <a:srgbClr val="C3EDFE"/>
                </a:solidFill>
                <a:effectLst/>
                <a:uLnTx/>
                <a:uFillTx/>
                <a:latin typeface="FH Lecturis Rounded Test Bold"/>
                <a:ea typeface="FH Lecturis Rounded Test Bold"/>
                <a:cs typeface="FH Lecturis Rounded Test Bold"/>
                <a:sym typeface="FH Lecturis Rounded Test Bold"/>
              </a:rPr>
              <a:t>The Benefits of Work Experience</a:t>
            </a:r>
          </a:p>
        </p:txBody>
      </p:sp>
      <p:sp>
        <p:nvSpPr>
          <p:cNvPr id="6" name="Freeform 6"/>
          <p:cNvSpPr/>
          <p:nvPr/>
        </p:nvSpPr>
        <p:spPr>
          <a:xfrm>
            <a:off x="14698432" y="178841"/>
            <a:ext cx="3352981" cy="673289"/>
          </a:xfrm>
          <a:custGeom>
            <a:avLst/>
            <a:gdLst/>
            <a:ahLst/>
            <a:cxnLst/>
            <a:rect l="l" t="t" r="r" b="b"/>
            <a:pathLst>
              <a:path w="3352981" h="673289">
                <a:moveTo>
                  <a:pt x="0" y="0"/>
                </a:moveTo>
                <a:lnTo>
                  <a:pt x="3352982" y="0"/>
                </a:lnTo>
                <a:lnTo>
                  <a:pt x="3352982" y="673289"/>
                </a:lnTo>
                <a:lnTo>
                  <a:pt x="0" y="673289"/>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7" name="Group 7"/>
          <p:cNvGrpSpPr/>
          <p:nvPr/>
        </p:nvGrpSpPr>
        <p:grpSpPr>
          <a:xfrm rot="-5400000">
            <a:off x="0" y="932296"/>
            <a:ext cx="1028700" cy="1028700"/>
            <a:chOff x="0" y="0"/>
            <a:chExt cx="1371600" cy="1371600"/>
          </a:xfrm>
        </p:grpSpPr>
        <p:grpSp>
          <p:nvGrpSpPr>
            <p:cNvPr id="8" name="Group 8"/>
            <p:cNvGrpSpPr/>
            <p:nvPr/>
          </p:nvGrpSpPr>
          <p:grpSpPr>
            <a:xfrm>
              <a:off x="0" y="685800"/>
              <a:ext cx="685800" cy="685800"/>
              <a:chOff x="0" y="0"/>
              <a:chExt cx="338164" cy="338164"/>
            </a:xfrm>
          </p:grpSpPr>
          <p:sp>
            <p:nvSpPr>
              <p:cNvPr id="9" name="Freeform 9"/>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p:cNvSpPr txBox="1"/>
              <p:nvPr/>
            </p:nvSpPr>
            <p:spPr>
              <a:xfrm>
                <a:off x="0" y="-95250"/>
                <a:ext cx="338164" cy="433414"/>
              </a:xfrm>
              <a:prstGeom prst="rect">
                <a:avLst/>
              </a:prstGeom>
            </p:spPr>
            <p:txBody>
              <a:bodyPr lIns="50800" tIns="50800" rIns="50800" bIns="50800" rtlCol="0" anchor="ctr"/>
              <a:lstStyle/>
              <a:p>
                <a:pPr marL="0" marR="0" lvl="0" indent="0" algn="ctr" defTabSz="914400" rtl="0" eaLnBrk="1" fontAlgn="auto" latinLnBrk="0" hangingPunct="1">
                  <a:lnSpc>
                    <a:spcPts val="35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p:cNvGrpSpPr/>
            <p:nvPr/>
          </p:nvGrpSpPr>
          <p:grpSpPr>
            <a:xfrm>
              <a:off x="685800" y="0"/>
              <a:ext cx="685800" cy="685800"/>
              <a:chOff x="0" y="0"/>
              <a:chExt cx="338164" cy="338164"/>
            </a:xfrm>
          </p:grpSpPr>
          <p:sp>
            <p:nvSpPr>
              <p:cNvPr id="12" name="Freeform 12"/>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p:cNvSpPr txBox="1"/>
              <p:nvPr/>
            </p:nvSpPr>
            <p:spPr>
              <a:xfrm>
                <a:off x="0" y="-95250"/>
                <a:ext cx="338164" cy="433414"/>
              </a:xfrm>
              <a:prstGeom prst="rect">
                <a:avLst/>
              </a:prstGeom>
            </p:spPr>
            <p:txBody>
              <a:bodyPr lIns="50800" tIns="50800" rIns="50800" bIns="50800" rtlCol="0" anchor="ctr"/>
              <a:lstStyle/>
              <a:p>
                <a:pPr marL="0" marR="0" lvl="0" indent="0" algn="ctr" defTabSz="914400" rtl="0" eaLnBrk="1" fontAlgn="auto" latinLnBrk="0" hangingPunct="1">
                  <a:lnSpc>
                    <a:spcPts val="35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14" name="TextBox 14"/>
          <p:cNvSpPr txBox="1"/>
          <p:nvPr/>
        </p:nvSpPr>
        <p:spPr>
          <a:xfrm>
            <a:off x="0" y="2355680"/>
            <a:ext cx="10087149" cy="7517586"/>
          </a:xfrm>
          <a:prstGeom prst="rect">
            <a:avLst/>
          </a:prstGeom>
        </p:spPr>
        <p:txBody>
          <a:bodyPr lIns="0" tIns="0" rIns="0" bIns="0" rtlCol="0" anchor="t">
            <a:spAutoFit/>
          </a:bodyPr>
          <a:lstStyle/>
          <a:p>
            <a:pPr marL="755735" marR="0" lvl="1" indent="-377867" algn="l" defTabSz="914400" rtl="0" eaLnBrk="1" fontAlgn="auto" latinLnBrk="0" hangingPunct="1">
              <a:lnSpc>
                <a:spcPts val="4900"/>
              </a:lnSpc>
              <a:spcBef>
                <a:spcPts val="0"/>
              </a:spcBef>
              <a:spcAft>
                <a:spcPts val="0"/>
              </a:spcAft>
              <a:buClrTx/>
              <a:buSzTx/>
              <a:buFont typeface="Arial"/>
              <a:buChar char="•"/>
              <a:tabLst/>
              <a:defRPr/>
            </a:pPr>
            <a:r>
              <a:rPr kumimoji="0" lang="en-US" sz="3500" b="0" i="0" u="none" strike="noStrike" kern="1200" cap="none" spc="0" normalizeH="0" baseline="0" noProof="0">
                <a:ln>
                  <a:noFill/>
                </a:ln>
                <a:solidFill>
                  <a:srgbClr val="000000"/>
                </a:solidFill>
                <a:effectLst/>
                <a:uLnTx/>
                <a:uFillTx/>
                <a:latin typeface="DIN Offc 1"/>
                <a:ea typeface="DIN Offc 1"/>
                <a:cs typeface="DIN Offc 1"/>
                <a:sym typeface="DIN Offc 1"/>
              </a:rPr>
              <a:t>Developing skills (and STAR examples)</a:t>
            </a:r>
          </a:p>
          <a:p>
            <a:pPr marL="755735" marR="0" lvl="1" indent="-377867" algn="l" defTabSz="914400" rtl="0" eaLnBrk="1" fontAlgn="auto" latinLnBrk="0" hangingPunct="1">
              <a:lnSpc>
                <a:spcPts val="4900"/>
              </a:lnSpc>
              <a:spcBef>
                <a:spcPts val="0"/>
              </a:spcBef>
              <a:spcAft>
                <a:spcPts val="0"/>
              </a:spcAft>
              <a:buClrTx/>
              <a:buSzTx/>
              <a:buFont typeface="Arial"/>
              <a:buChar char="•"/>
              <a:tabLst/>
              <a:defRPr/>
            </a:pPr>
            <a:r>
              <a:rPr kumimoji="0" lang="en-US" sz="3500" b="0" i="0" u="none" strike="noStrike" kern="1200" cap="none" spc="0" normalizeH="0" baseline="0" noProof="0">
                <a:ln>
                  <a:noFill/>
                </a:ln>
                <a:solidFill>
                  <a:srgbClr val="000000"/>
                </a:solidFill>
                <a:effectLst/>
                <a:uLnTx/>
                <a:uFillTx/>
                <a:latin typeface="DIN Offc 1"/>
                <a:ea typeface="DIN Offc 1"/>
                <a:cs typeface="DIN Offc 1"/>
                <a:sym typeface="DIN Offc 1"/>
              </a:rPr>
              <a:t>Exploring options</a:t>
            </a:r>
          </a:p>
          <a:p>
            <a:pPr marL="755735" marR="0" lvl="1" indent="-377867" algn="l" defTabSz="914400" rtl="0" eaLnBrk="1" fontAlgn="auto" latinLnBrk="0" hangingPunct="1">
              <a:lnSpc>
                <a:spcPts val="4900"/>
              </a:lnSpc>
              <a:spcBef>
                <a:spcPts val="0"/>
              </a:spcBef>
              <a:spcAft>
                <a:spcPts val="0"/>
              </a:spcAft>
              <a:buClrTx/>
              <a:buSzTx/>
              <a:buFont typeface="Arial"/>
              <a:buChar char="•"/>
              <a:tabLst/>
              <a:defRPr/>
            </a:pPr>
            <a:r>
              <a:rPr kumimoji="0" lang="en-US" sz="3500" b="0" i="0" u="none" strike="noStrike" kern="1200" cap="none" spc="0" normalizeH="0" baseline="0" noProof="0">
                <a:ln>
                  <a:noFill/>
                </a:ln>
                <a:solidFill>
                  <a:srgbClr val="000000"/>
                </a:solidFill>
                <a:effectLst/>
                <a:uLnTx/>
                <a:uFillTx/>
                <a:latin typeface="DIN Offc 1"/>
                <a:ea typeface="DIN Offc 1"/>
                <a:cs typeface="DIN Offc 1"/>
                <a:sym typeface="DIN Offc 1"/>
              </a:rPr>
              <a:t>Building contacts and networks (also in the toolkit)</a:t>
            </a:r>
          </a:p>
          <a:p>
            <a:pPr marL="755735" marR="0" lvl="1" indent="-377867" algn="l" defTabSz="914400" rtl="0" eaLnBrk="1" fontAlgn="auto" latinLnBrk="0" hangingPunct="1">
              <a:lnSpc>
                <a:spcPts val="4900"/>
              </a:lnSpc>
              <a:spcBef>
                <a:spcPts val="0"/>
              </a:spcBef>
              <a:spcAft>
                <a:spcPts val="0"/>
              </a:spcAft>
              <a:buClrTx/>
              <a:buSzTx/>
              <a:buFont typeface="Arial"/>
              <a:buChar char="•"/>
              <a:tabLst/>
              <a:defRPr/>
            </a:pPr>
            <a:r>
              <a:rPr kumimoji="0" lang="en-US" sz="3500" b="0" i="0" u="none" strike="noStrike" kern="1200" cap="none" spc="0" normalizeH="0" baseline="0" noProof="0">
                <a:ln>
                  <a:noFill/>
                </a:ln>
                <a:solidFill>
                  <a:srgbClr val="000000"/>
                </a:solidFill>
                <a:effectLst/>
                <a:uLnTx/>
                <a:uFillTx/>
                <a:latin typeface="DIN Offc 1"/>
                <a:ea typeface="DIN Offc 1"/>
                <a:cs typeface="DIN Offc 1"/>
                <a:sym typeface="DIN Offc 1"/>
              </a:rPr>
              <a:t>Sampling jobs</a:t>
            </a:r>
          </a:p>
          <a:p>
            <a:pPr marL="755735" marR="0" lvl="1" indent="-377867" algn="l" defTabSz="914400" rtl="0" eaLnBrk="1" fontAlgn="auto" latinLnBrk="0" hangingPunct="1">
              <a:lnSpc>
                <a:spcPts val="4900"/>
              </a:lnSpc>
              <a:spcBef>
                <a:spcPts val="0"/>
              </a:spcBef>
              <a:spcAft>
                <a:spcPts val="0"/>
              </a:spcAft>
              <a:buClrTx/>
              <a:buSzTx/>
              <a:buFont typeface="Arial"/>
              <a:buChar char="•"/>
              <a:tabLst/>
              <a:defRPr/>
            </a:pPr>
            <a:r>
              <a:rPr kumimoji="0" lang="en-US" sz="3500" b="0" i="0" u="none" strike="noStrike" kern="1200" cap="none" spc="0" normalizeH="0" baseline="0" noProof="0">
                <a:ln>
                  <a:noFill/>
                </a:ln>
                <a:solidFill>
                  <a:srgbClr val="000000"/>
                </a:solidFill>
                <a:effectLst/>
                <a:uLnTx/>
                <a:uFillTx/>
                <a:latin typeface="DIN Offc 1"/>
                <a:ea typeface="DIN Offc 1"/>
                <a:cs typeface="DIN Offc 1"/>
                <a:sym typeface="DIN Offc 1"/>
              </a:rPr>
              <a:t>‘Foot in the door’ to further opportunities</a:t>
            </a:r>
          </a:p>
          <a:p>
            <a:pPr marL="755735" marR="0" lvl="1" indent="-377867" algn="l" defTabSz="914400" rtl="0" eaLnBrk="1" fontAlgn="auto" latinLnBrk="0" hangingPunct="1">
              <a:lnSpc>
                <a:spcPts val="4900"/>
              </a:lnSpc>
              <a:spcBef>
                <a:spcPts val="0"/>
              </a:spcBef>
              <a:spcAft>
                <a:spcPts val="0"/>
              </a:spcAft>
              <a:buClrTx/>
              <a:buSzTx/>
              <a:buFont typeface="Arial"/>
              <a:buChar char="•"/>
              <a:tabLst/>
              <a:defRPr/>
            </a:pPr>
            <a:r>
              <a:rPr kumimoji="0" lang="en-US" sz="3500" b="0" i="0" u="none" strike="noStrike" kern="1200" cap="none" spc="0" normalizeH="0" baseline="0" noProof="0">
                <a:ln>
                  <a:noFill/>
                </a:ln>
                <a:solidFill>
                  <a:srgbClr val="000000"/>
                </a:solidFill>
                <a:effectLst/>
                <a:uLnTx/>
                <a:uFillTx/>
                <a:latin typeface="DIN Offc 1"/>
                <a:ea typeface="DIN Offc 1"/>
                <a:cs typeface="DIN Offc 1"/>
                <a:sym typeface="DIN Offc 1"/>
              </a:rPr>
              <a:t>Developing commercial awareness/sector knowledge</a:t>
            </a:r>
          </a:p>
          <a:p>
            <a:pPr marL="755735" marR="0" lvl="1" indent="-377867" algn="l" defTabSz="914400" rtl="0" eaLnBrk="1" fontAlgn="auto" latinLnBrk="0" hangingPunct="1">
              <a:lnSpc>
                <a:spcPts val="4900"/>
              </a:lnSpc>
              <a:spcBef>
                <a:spcPts val="0"/>
              </a:spcBef>
              <a:spcAft>
                <a:spcPts val="0"/>
              </a:spcAft>
              <a:buClrTx/>
              <a:buSzTx/>
              <a:buFont typeface="Arial"/>
              <a:buChar char="•"/>
              <a:tabLst/>
              <a:defRPr/>
            </a:pPr>
            <a:r>
              <a:rPr kumimoji="0" lang="en-US" sz="3500" b="0" i="0" u="none" strike="noStrike" kern="1200" cap="none" spc="0" normalizeH="0" baseline="0" noProof="0">
                <a:ln>
                  <a:noFill/>
                </a:ln>
                <a:solidFill>
                  <a:srgbClr val="000000"/>
                </a:solidFill>
                <a:effectLst/>
                <a:uLnTx/>
                <a:uFillTx/>
                <a:latin typeface="DIN Offc 1"/>
                <a:ea typeface="DIN Offc 1"/>
                <a:cs typeface="DIN Offc 1"/>
                <a:sym typeface="DIN Offc 1"/>
              </a:rPr>
              <a:t>Building confidence</a:t>
            </a:r>
          </a:p>
          <a:p>
            <a:pPr marL="755735" marR="0" lvl="1" indent="-377867" algn="l" defTabSz="914400" rtl="0" eaLnBrk="1" fontAlgn="auto" latinLnBrk="0" hangingPunct="1">
              <a:lnSpc>
                <a:spcPts val="4900"/>
              </a:lnSpc>
              <a:spcBef>
                <a:spcPts val="0"/>
              </a:spcBef>
              <a:spcAft>
                <a:spcPts val="0"/>
              </a:spcAft>
              <a:buClrTx/>
              <a:buSzTx/>
              <a:buFont typeface="Arial"/>
              <a:buChar char="•"/>
              <a:tabLst/>
              <a:defRPr/>
            </a:pPr>
            <a:r>
              <a:rPr kumimoji="0" lang="en-US" sz="3500" b="0" i="0" u="none" strike="noStrike" kern="1200" cap="none" spc="0" normalizeH="0" baseline="0" noProof="0">
                <a:ln>
                  <a:noFill/>
                </a:ln>
                <a:solidFill>
                  <a:srgbClr val="000000"/>
                </a:solidFill>
                <a:effectLst/>
                <a:uLnTx/>
                <a:uFillTx/>
                <a:latin typeface="DIN Offc 1"/>
                <a:ea typeface="DIN Offc 1"/>
                <a:cs typeface="DIN Offc 1"/>
                <a:sym typeface="DIN Offc 1"/>
              </a:rPr>
              <a:t>Finding out about potential future graduate job opportunities</a:t>
            </a:r>
          </a:p>
          <a:p>
            <a:pPr marL="755735" marR="0" lvl="1" indent="-377867" algn="l" defTabSz="914400" rtl="0" eaLnBrk="1" fontAlgn="auto" latinLnBrk="0" hangingPunct="1">
              <a:lnSpc>
                <a:spcPts val="4900"/>
              </a:lnSpc>
              <a:spcBef>
                <a:spcPts val="0"/>
              </a:spcBef>
              <a:spcAft>
                <a:spcPts val="0"/>
              </a:spcAft>
              <a:buClrTx/>
              <a:buSzTx/>
              <a:buFont typeface="Arial"/>
              <a:buChar char="•"/>
              <a:tabLst/>
              <a:defRPr/>
            </a:pPr>
            <a:r>
              <a:rPr kumimoji="0" lang="en-US" sz="3500" b="0" i="0" u="none" strike="noStrike" kern="1200" cap="none" spc="0" normalizeH="0" baseline="0" noProof="0">
                <a:ln>
                  <a:noFill/>
                </a:ln>
                <a:solidFill>
                  <a:srgbClr val="000000"/>
                </a:solidFill>
                <a:effectLst/>
                <a:uLnTx/>
                <a:uFillTx/>
                <a:latin typeface="DIN Offc 1"/>
                <a:ea typeface="DIN Offc 1"/>
                <a:cs typeface="DIN Offc 1"/>
                <a:sym typeface="DIN Offc 1"/>
              </a:rPr>
              <a:t>Strengthening your CV/future job applications</a:t>
            </a:r>
          </a:p>
        </p:txBody>
      </p:sp>
      <p:sp>
        <p:nvSpPr>
          <p:cNvPr id="15" name="Freeform 15"/>
          <p:cNvSpPr/>
          <p:nvPr/>
        </p:nvSpPr>
        <p:spPr>
          <a:xfrm>
            <a:off x="10582695" y="3248729"/>
            <a:ext cx="7468718" cy="5902939"/>
          </a:xfrm>
          <a:custGeom>
            <a:avLst/>
            <a:gdLst/>
            <a:ahLst/>
            <a:cxnLst/>
            <a:rect l="l" t="t" r="r" b="b"/>
            <a:pathLst>
              <a:path w="7468718" h="5902939">
                <a:moveTo>
                  <a:pt x="0" y="0"/>
                </a:moveTo>
                <a:lnTo>
                  <a:pt x="7468719" y="0"/>
                </a:lnTo>
                <a:lnTo>
                  <a:pt x="7468719" y="5902938"/>
                </a:lnTo>
                <a:lnTo>
                  <a:pt x="0" y="59029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2791" y="2037196"/>
            <a:ext cx="19485698" cy="8326004"/>
            <a:chOff x="0" y="0"/>
            <a:chExt cx="5683590" cy="2192857"/>
          </a:xfrm>
        </p:grpSpPr>
        <p:sp>
          <p:nvSpPr>
            <p:cNvPr id="3" name="Freeform 3">
              <a:hlinkClick r:id="rId2" tooltip="https://www.google.com/url?sa=i&amp;url=https%3A%2F%2Fen.wikipedia.org%2Fwiki%2FGoogle_logo&amp;psig=AOvVaw3V9TcXF0utq9SAyuBXskXl&amp;ust=1761208848822000&amp;source=images&amp;cd=vfe&amp;opi=89978449&amp;ved=0CBYQjRxqFwoTCNDMm720t5ADFQAAAAAdAAAAABAE"/>
            </p:cNvPr>
            <p:cNvSpPr/>
            <p:nvPr/>
          </p:nvSpPr>
          <p:spPr>
            <a:xfrm>
              <a:off x="0" y="0"/>
              <a:ext cx="5683590" cy="2192857"/>
            </a:xfrm>
            <a:custGeom>
              <a:avLst/>
              <a:gdLst/>
              <a:ahLst/>
              <a:cxnLst/>
              <a:rect l="l" t="t" r="r" b="b"/>
              <a:pathLst>
                <a:path w="5683590" h="2192857">
                  <a:moveTo>
                    <a:pt x="0" y="0"/>
                  </a:moveTo>
                  <a:lnTo>
                    <a:pt x="5683590" y="0"/>
                  </a:lnTo>
                  <a:lnTo>
                    <a:pt x="5683590" y="2192857"/>
                  </a:lnTo>
                  <a:lnTo>
                    <a:pt x="0" y="2192857"/>
                  </a:lnTo>
                  <a:close/>
                </a:path>
              </a:pathLst>
            </a:custGeom>
            <a:solidFill>
              <a:srgbClr val="FFF3DE"/>
            </a:solidFill>
          </p:spPr>
          <p:txBody>
            <a:bodyPr/>
            <a:lstStyle/>
            <a:p>
              <a:endParaRPr lang="en-GB"/>
            </a:p>
          </p:txBody>
        </p:sp>
        <p:sp>
          <p:nvSpPr>
            <p:cNvPr id="4" name="TextBox 4"/>
            <p:cNvSpPr txBox="1"/>
            <p:nvPr/>
          </p:nvSpPr>
          <p:spPr>
            <a:xfrm>
              <a:off x="0" y="-95250"/>
              <a:ext cx="5683590" cy="2288107"/>
            </a:xfrm>
            <a:prstGeom prst="rect">
              <a:avLst/>
            </a:prstGeom>
          </p:spPr>
          <p:txBody>
            <a:bodyPr lIns="50800" tIns="50800" rIns="50800" bIns="50800" rtlCol="0" anchor="ctr"/>
            <a:lstStyle/>
            <a:p>
              <a:pPr algn="ctr">
                <a:lnSpc>
                  <a:spcPts val="3500"/>
                </a:lnSpc>
              </a:pPr>
              <a:endParaRPr/>
            </a:p>
          </p:txBody>
        </p:sp>
      </p:grpSp>
      <p:sp>
        <p:nvSpPr>
          <p:cNvPr id="5" name="Freeform 5"/>
          <p:cNvSpPr/>
          <p:nvPr/>
        </p:nvSpPr>
        <p:spPr>
          <a:xfrm>
            <a:off x="1365833" y="2870874"/>
            <a:ext cx="6775198" cy="2037297"/>
          </a:xfrm>
          <a:custGeom>
            <a:avLst/>
            <a:gdLst/>
            <a:ahLst/>
            <a:cxnLst/>
            <a:rect l="l" t="t" r="r" b="b"/>
            <a:pathLst>
              <a:path w="6775198" h="2037297">
                <a:moveTo>
                  <a:pt x="0" y="0"/>
                </a:moveTo>
                <a:lnTo>
                  <a:pt x="6775198" y="0"/>
                </a:lnTo>
                <a:lnTo>
                  <a:pt x="6775198" y="2037298"/>
                </a:lnTo>
                <a:lnTo>
                  <a:pt x="0" y="2037298"/>
                </a:lnTo>
                <a:lnTo>
                  <a:pt x="0" y="0"/>
                </a:lnTo>
                <a:close/>
              </a:path>
            </a:pathLst>
          </a:custGeom>
          <a:blipFill>
            <a:blip r:embed="rId3"/>
            <a:stretch>
              <a:fillRect l="-9092" t="-54046" r="-8960" b="-52583"/>
            </a:stretch>
          </a:blipFill>
        </p:spPr>
        <p:txBody>
          <a:bodyPr/>
          <a:lstStyle/>
          <a:p>
            <a:endParaRPr lang="en-GB"/>
          </a:p>
        </p:txBody>
      </p:sp>
      <p:grpSp>
        <p:nvGrpSpPr>
          <p:cNvPr id="6" name="Group 6"/>
          <p:cNvGrpSpPr/>
          <p:nvPr/>
        </p:nvGrpSpPr>
        <p:grpSpPr>
          <a:xfrm>
            <a:off x="-707010" y="-388856"/>
            <a:ext cx="19489917" cy="2838646"/>
            <a:chOff x="0" y="0"/>
            <a:chExt cx="5133147" cy="747627"/>
          </a:xfrm>
        </p:grpSpPr>
        <p:sp>
          <p:nvSpPr>
            <p:cNvPr id="7" name="Freeform 7"/>
            <p:cNvSpPr/>
            <p:nvPr/>
          </p:nvSpPr>
          <p:spPr>
            <a:xfrm>
              <a:off x="0" y="0"/>
              <a:ext cx="5133147" cy="747627"/>
            </a:xfrm>
            <a:custGeom>
              <a:avLst/>
              <a:gdLst/>
              <a:ahLst/>
              <a:cxnLst/>
              <a:rect l="l" t="t" r="r" b="b"/>
              <a:pathLst>
                <a:path w="5133147" h="747627">
                  <a:moveTo>
                    <a:pt x="0" y="0"/>
                  </a:moveTo>
                  <a:lnTo>
                    <a:pt x="5133147" y="0"/>
                  </a:lnTo>
                  <a:lnTo>
                    <a:pt x="5133147" y="747627"/>
                  </a:lnTo>
                  <a:lnTo>
                    <a:pt x="0" y="747627"/>
                  </a:lnTo>
                  <a:close/>
                </a:path>
              </a:pathLst>
            </a:custGeom>
            <a:solidFill>
              <a:srgbClr val="002F50"/>
            </a:solidFill>
          </p:spPr>
          <p:txBody>
            <a:bodyPr/>
            <a:lstStyle/>
            <a:p>
              <a:endParaRPr lang="en-GB"/>
            </a:p>
          </p:txBody>
        </p:sp>
        <p:sp>
          <p:nvSpPr>
            <p:cNvPr id="8" name="TextBox 8"/>
            <p:cNvSpPr txBox="1"/>
            <p:nvPr/>
          </p:nvSpPr>
          <p:spPr>
            <a:xfrm>
              <a:off x="0" y="-95250"/>
              <a:ext cx="5133147" cy="842877"/>
            </a:xfrm>
            <a:prstGeom prst="rect">
              <a:avLst/>
            </a:prstGeom>
          </p:spPr>
          <p:txBody>
            <a:bodyPr lIns="50800" tIns="50800" rIns="50800" bIns="50800" rtlCol="0" anchor="ctr"/>
            <a:lstStyle/>
            <a:p>
              <a:pPr algn="ctr">
                <a:lnSpc>
                  <a:spcPts val="3500"/>
                </a:lnSpc>
              </a:pPr>
              <a:endParaRPr/>
            </a:p>
          </p:txBody>
        </p:sp>
      </p:grpSp>
      <p:sp>
        <p:nvSpPr>
          <p:cNvPr id="9" name="Freeform 9"/>
          <p:cNvSpPr/>
          <p:nvPr/>
        </p:nvSpPr>
        <p:spPr>
          <a:xfrm>
            <a:off x="10087149" y="2870874"/>
            <a:ext cx="5517734" cy="1788025"/>
          </a:xfrm>
          <a:custGeom>
            <a:avLst/>
            <a:gdLst/>
            <a:ahLst/>
            <a:cxnLst/>
            <a:rect l="l" t="t" r="r" b="b"/>
            <a:pathLst>
              <a:path w="5517734" h="1788025">
                <a:moveTo>
                  <a:pt x="0" y="0"/>
                </a:moveTo>
                <a:lnTo>
                  <a:pt x="5517734" y="0"/>
                </a:lnTo>
                <a:lnTo>
                  <a:pt x="5517734" y="1788026"/>
                </a:lnTo>
                <a:lnTo>
                  <a:pt x="0" y="1788026"/>
                </a:lnTo>
                <a:lnTo>
                  <a:pt x="0" y="0"/>
                </a:lnTo>
                <a:close/>
              </a:path>
            </a:pathLst>
          </a:custGeom>
          <a:blipFill>
            <a:blip r:embed="rId4"/>
            <a:stretch>
              <a:fillRect/>
            </a:stretch>
          </a:blipFill>
        </p:spPr>
        <p:txBody>
          <a:bodyPr/>
          <a:lstStyle/>
          <a:p>
            <a:endParaRPr lang="en-GB"/>
          </a:p>
        </p:txBody>
      </p:sp>
      <p:sp>
        <p:nvSpPr>
          <p:cNvPr id="10" name="Freeform 10"/>
          <p:cNvSpPr/>
          <p:nvPr/>
        </p:nvSpPr>
        <p:spPr>
          <a:xfrm>
            <a:off x="6300437" y="4894512"/>
            <a:ext cx="5817109" cy="3053982"/>
          </a:xfrm>
          <a:custGeom>
            <a:avLst/>
            <a:gdLst/>
            <a:ahLst/>
            <a:cxnLst/>
            <a:rect l="l" t="t" r="r" b="b"/>
            <a:pathLst>
              <a:path w="5817109" h="3053982">
                <a:moveTo>
                  <a:pt x="0" y="0"/>
                </a:moveTo>
                <a:lnTo>
                  <a:pt x="5817110" y="0"/>
                </a:lnTo>
                <a:lnTo>
                  <a:pt x="5817110" y="3053982"/>
                </a:lnTo>
                <a:lnTo>
                  <a:pt x="0" y="3053982"/>
                </a:lnTo>
                <a:lnTo>
                  <a:pt x="0" y="0"/>
                </a:lnTo>
                <a:close/>
              </a:path>
            </a:pathLst>
          </a:custGeom>
          <a:blipFill>
            <a:blip r:embed="rId5"/>
            <a:stretch>
              <a:fillRect/>
            </a:stretch>
          </a:blipFill>
        </p:spPr>
        <p:txBody>
          <a:bodyPr/>
          <a:lstStyle/>
          <a:p>
            <a:endParaRPr lang="en-GB"/>
          </a:p>
        </p:txBody>
      </p:sp>
      <p:sp>
        <p:nvSpPr>
          <p:cNvPr id="11" name="Freeform 11"/>
          <p:cNvSpPr/>
          <p:nvPr/>
        </p:nvSpPr>
        <p:spPr>
          <a:xfrm>
            <a:off x="13593989" y="5430577"/>
            <a:ext cx="4929710" cy="1821167"/>
          </a:xfrm>
          <a:custGeom>
            <a:avLst/>
            <a:gdLst/>
            <a:ahLst/>
            <a:cxnLst/>
            <a:rect l="l" t="t" r="r" b="b"/>
            <a:pathLst>
              <a:path w="4929710" h="1821167">
                <a:moveTo>
                  <a:pt x="0" y="0"/>
                </a:moveTo>
                <a:lnTo>
                  <a:pt x="4929711" y="0"/>
                </a:lnTo>
                <a:lnTo>
                  <a:pt x="4929711" y="1821166"/>
                </a:lnTo>
                <a:lnTo>
                  <a:pt x="0" y="1821166"/>
                </a:lnTo>
                <a:lnTo>
                  <a:pt x="0" y="0"/>
                </a:lnTo>
                <a:close/>
              </a:path>
            </a:pathLst>
          </a:custGeom>
          <a:blipFill>
            <a:blip r:embed="rId6"/>
            <a:stretch>
              <a:fillRect/>
            </a:stretch>
          </a:blipFill>
        </p:spPr>
        <p:txBody>
          <a:bodyPr/>
          <a:lstStyle/>
          <a:p>
            <a:endParaRPr lang="en-GB"/>
          </a:p>
        </p:txBody>
      </p:sp>
      <p:sp>
        <p:nvSpPr>
          <p:cNvPr id="12" name="Freeform 12"/>
          <p:cNvSpPr/>
          <p:nvPr/>
        </p:nvSpPr>
        <p:spPr>
          <a:xfrm>
            <a:off x="12329590" y="8218637"/>
            <a:ext cx="5506257" cy="1534001"/>
          </a:xfrm>
          <a:custGeom>
            <a:avLst/>
            <a:gdLst/>
            <a:ahLst/>
            <a:cxnLst/>
            <a:rect l="l" t="t" r="r" b="b"/>
            <a:pathLst>
              <a:path w="5506257" h="1534001">
                <a:moveTo>
                  <a:pt x="0" y="0"/>
                </a:moveTo>
                <a:lnTo>
                  <a:pt x="5506257" y="0"/>
                </a:lnTo>
                <a:lnTo>
                  <a:pt x="5506257" y="1534002"/>
                </a:lnTo>
                <a:lnTo>
                  <a:pt x="0" y="1534002"/>
                </a:lnTo>
                <a:lnTo>
                  <a:pt x="0" y="0"/>
                </a:lnTo>
                <a:close/>
              </a:path>
            </a:pathLst>
          </a:custGeom>
          <a:blipFill>
            <a:blip r:embed="rId7"/>
            <a:stretch>
              <a:fillRect/>
            </a:stretch>
          </a:blipFill>
        </p:spPr>
        <p:txBody>
          <a:bodyPr/>
          <a:lstStyle/>
          <a:p>
            <a:endParaRPr lang="en-GB"/>
          </a:p>
        </p:txBody>
      </p:sp>
      <p:sp>
        <p:nvSpPr>
          <p:cNvPr id="13" name="Freeform 13"/>
          <p:cNvSpPr/>
          <p:nvPr/>
        </p:nvSpPr>
        <p:spPr>
          <a:xfrm>
            <a:off x="404697" y="7948494"/>
            <a:ext cx="5830749" cy="1309806"/>
          </a:xfrm>
          <a:custGeom>
            <a:avLst/>
            <a:gdLst/>
            <a:ahLst/>
            <a:cxnLst/>
            <a:rect l="l" t="t" r="r" b="b"/>
            <a:pathLst>
              <a:path w="5830749" h="1309806">
                <a:moveTo>
                  <a:pt x="0" y="0"/>
                </a:moveTo>
                <a:lnTo>
                  <a:pt x="5830748" y="0"/>
                </a:lnTo>
                <a:lnTo>
                  <a:pt x="5830748" y="1309806"/>
                </a:lnTo>
                <a:lnTo>
                  <a:pt x="0" y="1309806"/>
                </a:lnTo>
                <a:lnTo>
                  <a:pt x="0" y="0"/>
                </a:lnTo>
                <a:close/>
              </a:path>
            </a:pathLst>
          </a:custGeom>
          <a:blipFill>
            <a:blip r:embed="rId8"/>
            <a:stretch>
              <a:fillRect/>
            </a:stretch>
          </a:blipFill>
        </p:spPr>
        <p:txBody>
          <a:bodyPr/>
          <a:lstStyle/>
          <a:p>
            <a:endParaRPr lang="en-GB"/>
          </a:p>
        </p:txBody>
      </p:sp>
      <p:sp>
        <p:nvSpPr>
          <p:cNvPr id="14" name="TextBox 14"/>
          <p:cNvSpPr txBox="1"/>
          <p:nvPr/>
        </p:nvSpPr>
        <p:spPr>
          <a:xfrm>
            <a:off x="1028700" y="407183"/>
            <a:ext cx="16230600" cy="1571821"/>
          </a:xfrm>
          <a:prstGeom prst="rect">
            <a:avLst/>
          </a:prstGeom>
        </p:spPr>
        <p:txBody>
          <a:bodyPr lIns="0" tIns="0" rIns="0" bIns="0" rtlCol="0" anchor="t">
            <a:spAutoFit/>
          </a:bodyPr>
          <a:lstStyle/>
          <a:p>
            <a:pPr algn="ctr">
              <a:lnSpc>
                <a:spcPts val="11539"/>
              </a:lnSpc>
              <a:spcBef>
                <a:spcPct val="0"/>
              </a:spcBef>
            </a:pPr>
            <a:r>
              <a:rPr lang="en-US" sz="8242" b="1">
                <a:solidFill>
                  <a:srgbClr val="C3EDFE"/>
                </a:solidFill>
                <a:latin typeface="FH Lecturis Rounded Test Bold"/>
                <a:ea typeface="FH Lecturis Rounded Test Bold"/>
                <a:cs typeface="FH Lecturis Rounded Test Bold"/>
                <a:sym typeface="FH Lecturis Rounded Test Bold"/>
              </a:rPr>
              <a:t>Preparing to apply</a:t>
            </a:r>
          </a:p>
        </p:txBody>
      </p:sp>
      <p:sp>
        <p:nvSpPr>
          <p:cNvPr id="15" name="Freeform 15"/>
          <p:cNvSpPr/>
          <p:nvPr/>
        </p:nvSpPr>
        <p:spPr>
          <a:xfrm>
            <a:off x="0" y="0"/>
            <a:ext cx="2731666" cy="2572733"/>
          </a:xfrm>
          <a:custGeom>
            <a:avLst/>
            <a:gdLst/>
            <a:ahLst/>
            <a:cxnLst/>
            <a:rect l="l" t="t" r="r" b="b"/>
            <a:pathLst>
              <a:path w="2731666" h="2572733">
                <a:moveTo>
                  <a:pt x="0" y="0"/>
                </a:moveTo>
                <a:lnTo>
                  <a:pt x="2731666" y="0"/>
                </a:lnTo>
                <a:lnTo>
                  <a:pt x="2731666" y="2572733"/>
                </a:lnTo>
                <a:lnTo>
                  <a:pt x="0" y="257273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16" name="Freeform 16"/>
          <p:cNvSpPr/>
          <p:nvPr/>
        </p:nvSpPr>
        <p:spPr>
          <a:xfrm>
            <a:off x="14427962" y="0"/>
            <a:ext cx="3860038" cy="2571750"/>
          </a:xfrm>
          <a:custGeom>
            <a:avLst/>
            <a:gdLst/>
            <a:ahLst/>
            <a:cxnLst/>
            <a:rect l="l" t="t" r="r" b="b"/>
            <a:pathLst>
              <a:path w="3860038" h="2571750">
                <a:moveTo>
                  <a:pt x="0" y="0"/>
                </a:moveTo>
                <a:lnTo>
                  <a:pt x="3860038" y="0"/>
                </a:lnTo>
                <a:lnTo>
                  <a:pt x="3860038" y="2571750"/>
                </a:lnTo>
                <a:lnTo>
                  <a:pt x="0" y="25717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GB"/>
          </a:p>
        </p:txBody>
      </p:sp>
      <p:sp>
        <p:nvSpPr>
          <p:cNvPr id="17" name="Freeform 17"/>
          <p:cNvSpPr/>
          <p:nvPr/>
        </p:nvSpPr>
        <p:spPr>
          <a:xfrm>
            <a:off x="598745" y="5762889"/>
            <a:ext cx="5201376" cy="1425562"/>
          </a:xfrm>
          <a:custGeom>
            <a:avLst/>
            <a:gdLst/>
            <a:ahLst/>
            <a:cxnLst/>
            <a:rect l="l" t="t" r="r" b="b"/>
            <a:pathLst>
              <a:path w="5201376" h="1425562">
                <a:moveTo>
                  <a:pt x="0" y="0"/>
                </a:moveTo>
                <a:lnTo>
                  <a:pt x="5201375" y="0"/>
                </a:lnTo>
                <a:lnTo>
                  <a:pt x="5201375" y="1425562"/>
                </a:lnTo>
                <a:lnTo>
                  <a:pt x="0" y="1425562"/>
                </a:lnTo>
                <a:lnTo>
                  <a:pt x="0" y="0"/>
                </a:lnTo>
                <a:close/>
              </a:path>
            </a:pathLst>
          </a:custGeom>
          <a:blipFill>
            <a:blip r:embed="rId13"/>
            <a:stretch>
              <a:fillRect l="-3182" t="-15350" r="-3473" b="-15613"/>
            </a:stretch>
          </a:blipFill>
        </p:spPr>
        <p:txBody>
          <a:bodyPr/>
          <a:lstStyle/>
          <a:p>
            <a:endParaRPr lang="en-GB"/>
          </a:p>
        </p:txBody>
      </p:sp>
      <p:sp>
        <p:nvSpPr>
          <p:cNvPr id="18" name="Freeform 18"/>
          <p:cNvSpPr/>
          <p:nvPr/>
        </p:nvSpPr>
        <p:spPr>
          <a:xfrm>
            <a:off x="7068533" y="7948494"/>
            <a:ext cx="5261057" cy="1782183"/>
          </a:xfrm>
          <a:custGeom>
            <a:avLst/>
            <a:gdLst/>
            <a:ahLst/>
            <a:cxnLst/>
            <a:rect l="l" t="t" r="r" b="b"/>
            <a:pathLst>
              <a:path w="5261057" h="1782183">
                <a:moveTo>
                  <a:pt x="0" y="0"/>
                </a:moveTo>
                <a:lnTo>
                  <a:pt x="5261057" y="0"/>
                </a:lnTo>
                <a:lnTo>
                  <a:pt x="5261057" y="1782183"/>
                </a:lnTo>
                <a:lnTo>
                  <a:pt x="0" y="1782183"/>
                </a:lnTo>
                <a:lnTo>
                  <a:pt x="0" y="0"/>
                </a:lnTo>
                <a:close/>
              </a:path>
            </a:pathLst>
          </a:custGeom>
          <a:blipFill>
            <a:blip r:embed="rId14"/>
            <a:stretch>
              <a:fillRect/>
            </a:stretch>
          </a:blipFill>
        </p:spPr>
        <p:txBody>
          <a:bodyPr/>
          <a:lstStyle/>
          <a:p>
            <a:endParaRPr lang="en-GB"/>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3E0"/>
        </a:solidFill>
        <a:effectLst/>
      </p:bgPr>
    </p:bg>
    <p:spTree>
      <p:nvGrpSpPr>
        <p:cNvPr id="1" name=""/>
        <p:cNvGrpSpPr/>
        <p:nvPr/>
      </p:nvGrpSpPr>
      <p:grpSpPr>
        <a:xfrm>
          <a:off x="0" y="0"/>
          <a:ext cx="0" cy="0"/>
          <a:chOff x="0" y="0"/>
          <a:chExt cx="0" cy="0"/>
        </a:xfrm>
      </p:grpSpPr>
      <p:pic>
        <p:nvPicPr>
          <p:cNvPr id="5" name="Picture 4" descr="A close-up of a document&#10;&#10;AI-generated content may be incorrect.">
            <a:extLst>
              <a:ext uri="{FF2B5EF4-FFF2-40B4-BE49-F238E27FC236}">
                <a16:creationId xmlns:a16="http://schemas.microsoft.com/office/drawing/2014/main" id="{742CBCFD-B33C-28BB-619C-B0B091A091DC}"/>
              </a:ext>
            </a:extLst>
          </p:cNvPr>
          <p:cNvPicPr>
            <a:picLocks noChangeAspect="1"/>
          </p:cNvPicPr>
          <p:nvPr/>
        </p:nvPicPr>
        <p:blipFill>
          <a:blip r:embed="rId2"/>
          <a:srcRect t="4084"/>
          <a:stretch>
            <a:fillRect/>
          </a:stretch>
        </p:blipFill>
        <p:spPr>
          <a:xfrm>
            <a:off x="1059641" y="-16329"/>
            <a:ext cx="16168718" cy="10287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2F50"/>
        </a:solidFill>
        <a:effectLst/>
      </p:bgPr>
    </p:bg>
    <p:spTree>
      <p:nvGrpSpPr>
        <p:cNvPr id="1" name=""/>
        <p:cNvGrpSpPr/>
        <p:nvPr/>
      </p:nvGrpSpPr>
      <p:grpSpPr>
        <a:xfrm>
          <a:off x="0" y="0"/>
          <a:ext cx="0" cy="0"/>
          <a:chOff x="0" y="0"/>
          <a:chExt cx="0" cy="0"/>
        </a:xfrm>
      </p:grpSpPr>
      <p:grpSp>
        <p:nvGrpSpPr>
          <p:cNvPr id="2" name="Group 2"/>
          <p:cNvGrpSpPr/>
          <p:nvPr/>
        </p:nvGrpSpPr>
        <p:grpSpPr>
          <a:xfrm>
            <a:off x="0" y="1983169"/>
            <a:ext cx="18288000" cy="8556252"/>
            <a:chOff x="0" y="0"/>
            <a:chExt cx="5683590" cy="2253498"/>
          </a:xfrm>
        </p:grpSpPr>
        <p:sp>
          <p:nvSpPr>
            <p:cNvPr id="3" name="Freeform 3"/>
            <p:cNvSpPr/>
            <p:nvPr/>
          </p:nvSpPr>
          <p:spPr>
            <a:xfrm>
              <a:off x="0" y="0"/>
              <a:ext cx="5683590" cy="2253498"/>
            </a:xfrm>
            <a:custGeom>
              <a:avLst/>
              <a:gdLst/>
              <a:ahLst/>
              <a:cxnLst/>
              <a:rect l="l" t="t" r="r" b="b"/>
              <a:pathLst>
                <a:path w="5683590" h="2253498">
                  <a:moveTo>
                    <a:pt x="0" y="0"/>
                  </a:moveTo>
                  <a:lnTo>
                    <a:pt x="5683590" y="0"/>
                  </a:lnTo>
                  <a:lnTo>
                    <a:pt x="5683590" y="2253498"/>
                  </a:lnTo>
                  <a:lnTo>
                    <a:pt x="0" y="2253498"/>
                  </a:lnTo>
                  <a:close/>
                </a:path>
              </a:pathLst>
            </a:custGeom>
            <a:solidFill>
              <a:srgbClr val="FFF3DE"/>
            </a:solidFill>
          </p:spPr>
          <p:txBody>
            <a:bodyPr/>
            <a:lstStyle/>
            <a:p>
              <a:endParaRPr lang="en-GB"/>
            </a:p>
          </p:txBody>
        </p:sp>
        <p:sp>
          <p:nvSpPr>
            <p:cNvPr id="4" name="TextBox 4"/>
            <p:cNvSpPr txBox="1"/>
            <p:nvPr/>
          </p:nvSpPr>
          <p:spPr>
            <a:xfrm>
              <a:off x="0" y="-95250"/>
              <a:ext cx="5683590" cy="2348748"/>
            </a:xfrm>
            <a:prstGeom prst="rect">
              <a:avLst/>
            </a:prstGeom>
          </p:spPr>
          <p:txBody>
            <a:bodyPr lIns="50800" tIns="50800" rIns="50800" bIns="50800" rtlCol="0" anchor="ctr"/>
            <a:lstStyle/>
            <a:p>
              <a:pPr algn="ctr">
                <a:lnSpc>
                  <a:spcPts val="3500"/>
                </a:lnSpc>
              </a:pPr>
              <a:endParaRPr/>
            </a:p>
          </p:txBody>
        </p:sp>
      </p:grpSp>
      <p:sp>
        <p:nvSpPr>
          <p:cNvPr id="5" name="Freeform 5"/>
          <p:cNvSpPr/>
          <p:nvPr/>
        </p:nvSpPr>
        <p:spPr>
          <a:xfrm>
            <a:off x="3568026" y="3991734"/>
            <a:ext cx="1526466" cy="468223"/>
          </a:xfrm>
          <a:custGeom>
            <a:avLst/>
            <a:gdLst/>
            <a:ahLst/>
            <a:cxnLst/>
            <a:rect l="l" t="t" r="r" b="b"/>
            <a:pathLst>
              <a:path w="1526466" h="468223">
                <a:moveTo>
                  <a:pt x="0" y="0"/>
                </a:moveTo>
                <a:lnTo>
                  <a:pt x="1526466" y="0"/>
                </a:lnTo>
                <a:lnTo>
                  <a:pt x="1526466" y="468223"/>
                </a:lnTo>
                <a:lnTo>
                  <a:pt x="0" y="468223"/>
                </a:lnTo>
                <a:lnTo>
                  <a:pt x="0" y="0"/>
                </a:lnTo>
                <a:close/>
              </a:path>
            </a:pathLst>
          </a:custGeom>
          <a:blipFill>
            <a:blip r:embed="rId3">
              <a:extLst>
                <a:ext uri="{96DAC541-7B7A-43D3-8B79-37D633B846F1}">
                  <asvg:svgBlip xmlns:asvg="http://schemas.microsoft.com/office/drawing/2016/SVG/main" r:embed="rId4"/>
                </a:ext>
              </a:extLst>
            </a:blip>
            <a:stretch>
              <a:fillRect t="-310" b="-310"/>
            </a:stretch>
          </a:blipFill>
        </p:spPr>
        <p:txBody>
          <a:bodyPr/>
          <a:lstStyle/>
          <a:p>
            <a:endParaRPr lang="en-GB"/>
          </a:p>
        </p:txBody>
      </p:sp>
      <p:sp>
        <p:nvSpPr>
          <p:cNvPr id="6" name="Freeform 6"/>
          <p:cNvSpPr/>
          <p:nvPr/>
        </p:nvSpPr>
        <p:spPr>
          <a:xfrm>
            <a:off x="3662929" y="7472159"/>
            <a:ext cx="1526466" cy="468223"/>
          </a:xfrm>
          <a:custGeom>
            <a:avLst/>
            <a:gdLst/>
            <a:ahLst/>
            <a:cxnLst/>
            <a:rect l="l" t="t" r="r" b="b"/>
            <a:pathLst>
              <a:path w="1526466" h="468223">
                <a:moveTo>
                  <a:pt x="0" y="0"/>
                </a:moveTo>
                <a:lnTo>
                  <a:pt x="1526466" y="0"/>
                </a:lnTo>
                <a:lnTo>
                  <a:pt x="1526466" y="468223"/>
                </a:lnTo>
                <a:lnTo>
                  <a:pt x="0" y="468223"/>
                </a:lnTo>
                <a:lnTo>
                  <a:pt x="0" y="0"/>
                </a:lnTo>
                <a:close/>
              </a:path>
            </a:pathLst>
          </a:custGeom>
          <a:blipFill>
            <a:blip r:embed="rId3">
              <a:extLst>
                <a:ext uri="{96DAC541-7B7A-43D3-8B79-37D633B846F1}">
                  <asvg:svgBlip xmlns:asvg="http://schemas.microsoft.com/office/drawing/2016/SVG/main" r:embed="rId4"/>
                </a:ext>
              </a:extLst>
            </a:blip>
            <a:stretch>
              <a:fillRect t="-310" b="-310"/>
            </a:stretch>
          </a:blipFill>
        </p:spPr>
        <p:txBody>
          <a:bodyPr/>
          <a:lstStyle/>
          <a:p>
            <a:endParaRPr lang="en-GB"/>
          </a:p>
        </p:txBody>
      </p:sp>
      <p:sp>
        <p:nvSpPr>
          <p:cNvPr id="7" name="Freeform 7"/>
          <p:cNvSpPr/>
          <p:nvPr/>
        </p:nvSpPr>
        <p:spPr>
          <a:xfrm>
            <a:off x="5227842" y="2788929"/>
            <a:ext cx="11301259" cy="2754682"/>
          </a:xfrm>
          <a:custGeom>
            <a:avLst/>
            <a:gdLst/>
            <a:ahLst/>
            <a:cxnLst/>
            <a:rect l="l" t="t" r="r" b="b"/>
            <a:pathLst>
              <a:path w="11301259" h="2754682">
                <a:moveTo>
                  <a:pt x="0" y="0"/>
                </a:moveTo>
                <a:lnTo>
                  <a:pt x="11301259" y="0"/>
                </a:lnTo>
                <a:lnTo>
                  <a:pt x="11301259" y="2754681"/>
                </a:lnTo>
                <a:lnTo>
                  <a:pt x="0" y="2754681"/>
                </a:lnTo>
                <a:lnTo>
                  <a:pt x="0" y="0"/>
                </a:lnTo>
                <a:close/>
              </a:path>
            </a:pathLst>
          </a:custGeom>
          <a:blipFill>
            <a:blip r:embed="rId5"/>
            <a:stretch>
              <a:fillRect/>
            </a:stretch>
          </a:blipFill>
        </p:spPr>
        <p:txBody>
          <a:bodyPr/>
          <a:lstStyle/>
          <a:p>
            <a:endParaRPr lang="en-GB"/>
          </a:p>
        </p:txBody>
      </p:sp>
      <p:sp>
        <p:nvSpPr>
          <p:cNvPr id="8" name="Freeform 8"/>
          <p:cNvSpPr/>
          <p:nvPr/>
        </p:nvSpPr>
        <p:spPr>
          <a:xfrm>
            <a:off x="5189395" y="6602126"/>
            <a:ext cx="11301259" cy="2302632"/>
          </a:xfrm>
          <a:custGeom>
            <a:avLst/>
            <a:gdLst/>
            <a:ahLst/>
            <a:cxnLst/>
            <a:rect l="l" t="t" r="r" b="b"/>
            <a:pathLst>
              <a:path w="11301259" h="2302632">
                <a:moveTo>
                  <a:pt x="0" y="0"/>
                </a:moveTo>
                <a:lnTo>
                  <a:pt x="11301259" y="0"/>
                </a:lnTo>
                <a:lnTo>
                  <a:pt x="11301259" y="2302632"/>
                </a:lnTo>
                <a:lnTo>
                  <a:pt x="0" y="2302632"/>
                </a:lnTo>
                <a:lnTo>
                  <a:pt x="0" y="0"/>
                </a:lnTo>
                <a:close/>
              </a:path>
            </a:pathLst>
          </a:custGeom>
          <a:blipFill>
            <a:blip r:embed="rId6"/>
            <a:stretch>
              <a:fillRect/>
            </a:stretch>
          </a:blipFill>
        </p:spPr>
        <p:txBody>
          <a:bodyPr/>
          <a:lstStyle/>
          <a:p>
            <a:endParaRPr lang="en-GB"/>
          </a:p>
        </p:txBody>
      </p:sp>
      <p:sp>
        <p:nvSpPr>
          <p:cNvPr id="9" name="TextBox 9"/>
          <p:cNvSpPr txBox="1"/>
          <p:nvPr/>
        </p:nvSpPr>
        <p:spPr>
          <a:xfrm>
            <a:off x="409795" y="26917"/>
            <a:ext cx="17468410" cy="1759264"/>
          </a:xfrm>
          <a:prstGeom prst="rect">
            <a:avLst/>
          </a:prstGeom>
        </p:spPr>
        <p:txBody>
          <a:bodyPr lIns="0" tIns="0" rIns="0" bIns="0" rtlCol="0" anchor="t">
            <a:spAutoFit/>
          </a:bodyPr>
          <a:lstStyle/>
          <a:p>
            <a:pPr algn="ctr">
              <a:lnSpc>
                <a:spcPts val="7138"/>
              </a:lnSpc>
            </a:pPr>
            <a:r>
              <a:rPr lang="en-US" sz="4800" b="1" dirty="0">
                <a:solidFill>
                  <a:srgbClr val="C3EDFE"/>
                </a:solidFill>
                <a:latin typeface="FH Lecturis Rounded Test Bold"/>
                <a:ea typeface="FH Lecturis Rounded Test Bold"/>
                <a:cs typeface="FH Lecturis Rounded Test Bold"/>
                <a:sym typeface="FH Lecturis Rounded Test Bold"/>
              </a:rPr>
              <a:t>Which is the better Profile section</a:t>
            </a:r>
            <a:r>
              <a:rPr lang="en-US" sz="4800" b="1" dirty="0">
                <a:solidFill>
                  <a:srgbClr val="C3EDFE"/>
                </a:solidFill>
                <a:latin typeface="Abadi" panose="020B0604020104020204" pitchFamily="34" charset="0"/>
                <a:ea typeface="FH Lecturis Rounded Test Bold"/>
                <a:cs typeface="FH Lecturis Rounded Test Bold"/>
                <a:sym typeface="FH Lecturis Rounded Test Bold"/>
              </a:rPr>
              <a:t>?</a:t>
            </a:r>
            <a:r>
              <a:rPr lang="en-US" sz="4800" b="1" dirty="0">
                <a:solidFill>
                  <a:srgbClr val="C3EDFE"/>
                </a:solidFill>
                <a:latin typeface="Footlight MT Light" panose="0204060206030A020304" pitchFamily="18" charset="0"/>
                <a:ea typeface="FH Lecturis Rounded Test Bold"/>
                <a:cs typeface="FH Lecturis Rounded Test Bold"/>
                <a:sym typeface="FH Lecturis Rounded Test Bold"/>
              </a:rPr>
              <a:t> </a:t>
            </a:r>
          </a:p>
          <a:p>
            <a:pPr algn="ctr">
              <a:lnSpc>
                <a:spcPts val="7138"/>
              </a:lnSpc>
            </a:pPr>
            <a:r>
              <a:rPr lang="en-US" sz="4800" b="1" dirty="0">
                <a:solidFill>
                  <a:srgbClr val="C3EDFE"/>
                </a:solidFill>
                <a:latin typeface="FH Lecturis Rounded Test Bold"/>
                <a:ea typeface="FH Lecturis Rounded Test Bold"/>
                <a:cs typeface="FH Lecturis Rounded Test Bold"/>
                <a:sym typeface="FH Lecturis Rounded Test Bold"/>
              </a:rPr>
              <a:t>Why is it better</a:t>
            </a:r>
            <a:r>
              <a:rPr lang="en-US" sz="4800" b="1" dirty="0">
                <a:solidFill>
                  <a:srgbClr val="C3EDFE"/>
                </a:solidFill>
                <a:latin typeface="Abadi" panose="020F0502020204030204" pitchFamily="34" charset="0"/>
                <a:ea typeface="FH Lecturis Rounded Test Bold"/>
                <a:cs typeface="FH Lecturis Rounded Test Bold"/>
                <a:sym typeface="FH Lecturis Rounded Test Bold"/>
              </a:rPr>
              <a:t>?</a:t>
            </a:r>
          </a:p>
        </p:txBody>
      </p:sp>
      <p:sp>
        <p:nvSpPr>
          <p:cNvPr id="10" name="TextBox 10"/>
          <p:cNvSpPr txBox="1"/>
          <p:nvPr/>
        </p:nvSpPr>
        <p:spPr>
          <a:xfrm>
            <a:off x="1394528" y="3815432"/>
            <a:ext cx="2038648" cy="644525"/>
          </a:xfrm>
          <a:prstGeom prst="rect">
            <a:avLst/>
          </a:prstGeom>
        </p:spPr>
        <p:txBody>
          <a:bodyPr lIns="0" tIns="0" rIns="0" bIns="0" rtlCol="0" anchor="t">
            <a:spAutoFit/>
          </a:bodyPr>
          <a:lstStyle/>
          <a:p>
            <a:pPr algn="ctr">
              <a:lnSpc>
                <a:spcPts val="4898"/>
              </a:lnSpc>
            </a:pPr>
            <a:r>
              <a:rPr lang="en-US" sz="3499">
                <a:solidFill>
                  <a:srgbClr val="000000"/>
                </a:solidFill>
                <a:latin typeface="Tahoma"/>
                <a:ea typeface="Tahoma"/>
                <a:cs typeface="Tahoma"/>
                <a:sym typeface="Tahoma"/>
              </a:rPr>
              <a:t>Example 1</a:t>
            </a:r>
          </a:p>
        </p:txBody>
      </p:sp>
      <p:sp>
        <p:nvSpPr>
          <p:cNvPr id="11" name="TextBox 11"/>
          <p:cNvSpPr txBox="1"/>
          <p:nvPr/>
        </p:nvSpPr>
        <p:spPr>
          <a:xfrm>
            <a:off x="1394528" y="7295857"/>
            <a:ext cx="2038648" cy="644525"/>
          </a:xfrm>
          <a:prstGeom prst="rect">
            <a:avLst/>
          </a:prstGeom>
        </p:spPr>
        <p:txBody>
          <a:bodyPr lIns="0" tIns="0" rIns="0" bIns="0" rtlCol="0" anchor="t">
            <a:spAutoFit/>
          </a:bodyPr>
          <a:lstStyle/>
          <a:p>
            <a:pPr algn="ctr">
              <a:lnSpc>
                <a:spcPts val="4898"/>
              </a:lnSpc>
            </a:pPr>
            <a:r>
              <a:rPr lang="en-US" sz="3499">
                <a:solidFill>
                  <a:srgbClr val="000000"/>
                </a:solidFill>
                <a:latin typeface="Tahoma"/>
                <a:ea typeface="Tahoma"/>
                <a:cs typeface="Tahoma"/>
                <a:sym typeface="Tahoma"/>
              </a:rPr>
              <a:t>Example 2</a:t>
            </a:r>
          </a:p>
        </p:txBody>
      </p:sp>
      <p:grpSp>
        <p:nvGrpSpPr>
          <p:cNvPr id="12" name="Group 12"/>
          <p:cNvGrpSpPr/>
          <p:nvPr/>
        </p:nvGrpSpPr>
        <p:grpSpPr>
          <a:xfrm rot="-5400000">
            <a:off x="0" y="784084"/>
            <a:ext cx="1199085" cy="1199085"/>
            <a:chOff x="0" y="0"/>
            <a:chExt cx="1598780" cy="1598780"/>
          </a:xfrm>
        </p:grpSpPr>
        <p:grpSp>
          <p:nvGrpSpPr>
            <p:cNvPr id="13" name="Group 13"/>
            <p:cNvGrpSpPr/>
            <p:nvPr/>
          </p:nvGrpSpPr>
          <p:grpSpPr>
            <a:xfrm>
              <a:off x="0" y="799390"/>
              <a:ext cx="799390" cy="799390"/>
              <a:chOff x="0" y="0"/>
              <a:chExt cx="338164" cy="338164"/>
            </a:xfrm>
          </p:grpSpPr>
          <p:sp>
            <p:nvSpPr>
              <p:cNvPr id="14" name="Freeform 14"/>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15" name="TextBox 15"/>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nvGrpSpPr>
            <p:cNvPr id="16" name="Group 16"/>
            <p:cNvGrpSpPr/>
            <p:nvPr/>
          </p:nvGrpSpPr>
          <p:grpSpPr>
            <a:xfrm>
              <a:off x="799390" y="0"/>
              <a:ext cx="799390" cy="799390"/>
              <a:chOff x="0" y="0"/>
              <a:chExt cx="338164" cy="338164"/>
            </a:xfrm>
          </p:grpSpPr>
          <p:sp>
            <p:nvSpPr>
              <p:cNvPr id="17" name="Freeform 17"/>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18" name="TextBox 18"/>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sp>
        <p:nvSpPr>
          <p:cNvPr id="19" name="Freeform 19"/>
          <p:cNvSpPr/>
          <p:nvPr/>
        </p:nvSpPr>
        <p:spPr>
          <a:xfrm>
            <a:off x="14795959" y="110794"/>
            <a:ext cx="3352981" cy="673289"/>
          </a:xfrm>
          <a:custGeom>
            <a:avLst/>
            <a:gdLst/>
            <a:ahLst/>
            <a:cxnLst/>
            <a:rect l="l" t="t" r="r" b="b"/>
            <a:pathLst>
              <a:path w="3352981" h="673289">
                <a:moveTo>
                  <a:pt x="0" y="0"/>
                </a:moveTo>
                <a:lnTo>
                  <a:pt x="3352981" y="0"/>
                </a:lnTo>
                <a:lnTo>
                  <a:pt x="3352981" y="673290"/>
                </a:lnTo>
                <a:lnTo>
                  <a:pt x="0" y="673290"/>
                </a:lnTo>
                <a:lnTo>
                  <a:pt x="0" y="0"/>
                </a:lnTo>
                <a:close/>
              </a:path>
            </a:pathLst>
          </a:custGeom>
          <a:blipFill>
            <a:blip r:embed="rId7"/>
            <a:stretch>
              <a:fillRect/>
            </a:stretch>
          </a:blipFill>
        </p:spPr>
        <p:txBody>
          <a:bodyPr/>
          <a:lstStyle/>
          <a:p>
            <a:endParaRPr lang="en-GB"/>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2F50"/>
        </a:solidFill>
        <a:effectLst/>
      </p:bgPr>
    </p:bg>
    <p:spTree>
      <p:nvGrpSpPr>
        <p:cNvPr id="1" name=""/>
        <p:cNvGrpSpPr/>
        <p:nvPr/>
      </p:nvGrpSpPr>
      <p:grpSpPr>
        <a:xfrm>
          <a:off x="0" y="0"/>
          <a:ext cx="0" cy="0"/>
          <a:chOff x="0" y="0"/>
          <a:chExt cx="0" cy="0"/>
        </a:xfrm>
      </p:grpSpPr>
      <p:grpSp>
        <p:nvGrpSpPr>
          <p:cNvPr id="2" name="Group 2"/>
          <p:cNvGrpSpPr/>
          <p:nvPr/>
        </p:nvGrpSpPr>
        <p:grpSpPr>
          <a:xfrm>
            <a:off x="0" y="1983169"/>
            <a:ext cx="18288000" cy="8556252"/>
            <a:chOff x="0" y="0"/>
            <a:chExt cx="5683590" cy="2253498"/>
          </a:xfrm>
        </p:grpSpPr>
        <p:sp>
          <p:nvSpPr>
            <p:cNvPr id="3" name="Freeform 3"/>
            <p:cNvSpPr/>
            <p:nvPr/>
          </p:nvSpPr>
          <p:spPr>
            <a:xfrm>
              <a:off x="0" y="0"/>
              <a:ext cx="5683590" cy="2253498"/>
            </a:xfrm>
            <a:custGeom>
              <a:avLst/>
              <a:gdLst/>
              <a:ahLst/>
              <a:cxnLst/>
              <a:rect l="l" t="t" r="r" b="b"/>
              <a:pathLst>
                <a:path w="5683590" h="2253498">
                  <a:moveTo>
                    <a:pt x="0" y="0"/>
                  </a:moveTo>
                  <a:lnTo>
                    <a:pt x="5683590" y="0"/>
                  </a:lnTo>
                  <a:lnTo>
                    <a:pt x="5683590" y="2253498"/>
                  </a:lnTo>
                  <a:lnTo>
                    <a:pt x="0" y="2253498"/>
                  </a:lnTo>
                  <a:close/>
                </a:path>
              </a:pathLst>
            </a:custGeom>
            <a:solidFill>
              <a:srgbClr val="FFF3DE"/>
            </a:solidFill>
          </p:spPr>
          <p:txBody>
            <a:bodyPr/>
            <a:lstStyle/>
            <a:p>
              <a:endParaRPr lang="en-GB"/>
            </a:p>
          </p:txBody>
        </p:sp>
        <p:sp>
          <p:nvSpPr>
            <p:cNvPr id="4" name="TextBox 4"/>
            <p:cNvSpPr txBox="1"/>
            <p:nvPr/>
          </p:nvSpPr>
          <p:spPr>
            <a:xfrm>
              <a:off x="0" y="-95250"/>
              <a:ext cx="5683590" cy="2348748"/>
            </a:xfrm>
            <a:prstGeom prst="rect">
              <a:avLst/>
            </a:prstGeom>
          </p:spPr>
          <p:txBody>
            <a:bodyPr lIns="50800" tIns="50800" rIns="50800" bIns="50800" rtlCol="0" anchor="ctr"/>
            <a:lstStyle/>
            <a:p>
              <a:pPr algn="ctr">
                <a:lnSpc>
                  <a:spcPts val="3500"/>
                </a:lnSpc>
              </a:pPr>
              <a:endParaRPr/>
            </a:p>
          </p:txBody>
        </p:sp>
      </p:grpSp>
      <p:sp>
        <p:nvSpPr>
          <p:cNvPr id="5" name="TextBox 5"/>
          <p:cNvSpPr txBox="1"/>
          <p:nvPr/>
        </p:nvSpPr>
        <p:spPr>
          <a:xfrm>
            <a:off x="-1417066" y="464193"/>
            <a:ext cx="18288000" cy="795089"/>
          </a:xfrm>
          <a:prstGeom prst="rect">
            <a:avLst/>
          </a:prstGeom>
        </p:spPr>
        <p:txBody>
          <a:bodyPr lIns="0" tIns="0" rIns="0" bIns="0" rtlCol="0" anchor="t">
            <a:spAutoFit/>
          </a:bodyPr>
          <a:lstStyle/>
          <a:p>
            <a:pPr algn="ctr">
              <a:lnSpc>
                <a:spcPts val="6158"/>
              </a:lnSpc>
            </a:pPr>
            <a:r>
              <a:rPr lang="en-US" sz="6000" b="1" dirty="0">
                <a:solidFill>
                  <a:srgbClr val="C3EDFE"/>
                </a:solidFill>
                <a:latin typeface="FH Lecturis Rounded Test Bold"/>
                <a:ea typeface="FH Lecturis Rounded Test Bold"/>
                <a:cs typeface="FH Lecturis Rounded Test Bold"/>
                <a:sym typeface="FH Lecturis Rounded Test Bold"/>
              </a:rPr>
              <a:t>What makes a good education section</a:t>
            </a:r>
            <a:r>
              <a:rPr lang="en-US" sz="6000" b="1" dirty="0">
                <a:solidFill>
                  <a:srgbClr val="C3EDFE"/>
                </a:solidFill>
                <a:latin typeface="Abadi" panose="020B0604020104020204" pitchFamily="34" charset="0"/>
                <a:ea typeface="FH Lecturis Rounded Test Bold"/>
                <a:cs typeface="FH Lecturis Rounded Test Bold"/>
                <a:sym typeface="FH Lecturis Rounded Test Bold"/>
              </a:rPr>
              <a:t>?</a:t>
            </a:r>
          </a:p>
        </p:txBody>
      </p:sp>
      <p:grpSp>
        <p:nvGrpSpPr>
          <p:cNvPr id="12" name="Group 12"/>
          <p:cNvGrpSpPr/>
          <p:nvPr/>
        </p:nvGrpSpPr>
        <p:grpSpPr>
          <a:xfrm rot="-5400000">
            <a:off x="-54644" y="1242724"/>
            <a:ext cx="795089" cy="685800"/>
            <a:chOff x="0" y="0"/>
            <a:chExt cx="1598780" cy="1598780"/>
          </a:xfrm>
        </p:grpSpPr>
        <p:grpSp>
          <p:nvGrpSpPr>
            <p:cNvPr id="13" name="Group 13"/>
            <p:cNvGrpSpPr/>
            <p:nvPr/>
          </p:nvGrpSpPr>
          <p:grpSpPr>
            <a:xfrm>
              <a:off x="0" y="799390"/>
              <a:ext cx="799390" cy="799390"/>
              <a:chOff x="0" y="0"/>
              <a:chExt cx="338164" cy="338164"/>
            </a:xfrm>
          </p:grpSpPr>
          <p:sp>
            <p:nvSpPr>
              <p:cNvPr id="14" name="Freeform 14"/>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15" name="TextBox 15"/>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nvGrpSpPr>
            <p:cNvPr id="16" name="Group 16"/>
            <p:cNvGrpSpPr/>
            <p:nvPr/>
          </p:nvGrpSpPr>
          <p:grpSpPr>
            <a:xfrm>
              <a:off x="799390" y="0"/>
              <a:ext cx="799390" cy="799390"/>
              <a:chOff x="0" y="0"/>
              <a:chExt cx="338164" cy="338164"/>
            </a:xfrm>
          </p:grpSpPr>
          <p:sp>
            <p:nvSpPr>
              <p:cNvPr id="17" name="Freeform 17"/>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18" name="TextBox 18"/>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sp>
        <p:nvSpPr>
          <p:cNvPr id="19" name="Freeform 19"/>
          <p:cNvSpPr/>
          <p:nvPr/>
        </p:nvSpPr>
        <p:spPr>
          <a:xfrm>
            <a:off x="14795959" y="110794"/>
            <a:ext cx="3352981" cy="673289"/>
          </a:xfrm>
          <a:custGeom>
            <a:avLst/>
            <a:gdLst/>
            <a:ahLst/>
            <a:cxnLst/>
            <a:rect l="l" t="t" r="r" b="b"/>
            <a:pathLst>
              <a:path w="3352981" h="673289">
                <a:moveTo>
                  <a:pt x="0" y="0"/>
                </a:moveTo>
                <a:lnTo>
                  <a:pt x="3352981" y="0"/>
                </a:lnTo>
                <a:lnTo>
                  <a:pt x="3352981" y="673290"/>
                </a:lnTo>
                <a:lnTo>
                  <a:pt x="0" y="673290"/>
                </a:lnTo>
                <a:lnTo>
                  <a:pt x="0" y="0"/>
                </a:lnTo>
                <a:close/>
              </a:path>
            </a:pathLst>
          </a:custGeom>
          <a:blipFill>
            <a:blip r:embed="rId2"/>
            <a:stretch>
              <a:fillRect/>
            </a:stretch>
          </a:blipFill>
        </p:spPr>
        <p:txBody>
          <a:bodyPr/>
          <a:lstStyle/>
          <a:p>
            <a:endParaRPr lang="en-GB"/>
          </a:p>
        </p:txBody>
      </p:sp>
      <p:pic>
        <p:nvPicPr>
          <p:cNvPr id="21" name="Picture 20" descr="A screenshot of a computer program&#10;&#10;AI-generated content may be incorrect.">
            <a:extLst>
              <a:ext uri="{FF2B5EF4-FFF2-40B4-BE49-F238E27FC236}">
                <a16:creationId xmlns:a16="http://schemas.microsoft.com/office/drawing/2014/main" id="{2C3270F9-34CE-9809-12B8-CE26DC80D842}"/>
              </a:ext>
            </a:extLst>
          </p:cNvPr>
          <p:cNvPicPr>
            <a:picLocks noChangeAspect="1"/>
          </p:cNvPicPr>
          <p:nvPr/>
        </p:nvPicPr>
        <p:blipFill>
          <a:blip r:embed="rId3"/>
          <a:stretch>
            <a:fillRect/>
          </a:stretch>
        </p:blipFill>
        <p:spPr>
          <a:xfrm>
            <a:off x="1114164" y="2476500"/>
            <a:ext cx="15776225" cy="65532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2F50"/>
        </a:solidFill>
        <a:effectLst/>
      </p:bgPr>
    </p:bg>
    <p:spTree>
      <p:nvGrpSpPr>
        <p:cNvPr id="1" name="">
          <a:extLst>
            <a:ext uri="{FF2B5EF4-FFF2-40B4-BE49-F238E27FC236}">
              <a16:creationId xmlns:a16="http://schemas.microsoft.com/office/drawing/2014/main" id="{C8C73435-D954-C2C9-FD35-D661F40E6CE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CEC4432-DB42-E29B-6775-0795D394EB21}"/>
              </a:ext>
            </a:extLst>
          </p:cNvPr>
          <p:cNvGrpSpPr/>
          <p:nvPr/>
        </p:nvGrpSpPr>
        <p:grpSpPr>
          <a:xfrm>
            <a:off x="0" y="1983169"/>
            <a:ext cx="18288000" cy="8556252"/>
            <a:chOff x="0" y="0"/>
            <a:chExt cx="5683590" cy="2253498"/>
          </a:xfrm>
        </p:grpSpPr>
        <p:sp>
          <p:nvSpPr>
            <p:cNvPr id="3" name="Freeform 3">
              <a:extLst>
                <a:ext uri="{FF2B5EF4-FFF2-40B4-BE49-F238E27FC236}">
                  <a16:creationId xmlns:a16="http://schemas.microsoft.com/office/drawing/2014/main" id="{AA6CC521-9756-5F13-F7C4-62C5C891BB39}"/>
                </a:ext>
              </a:extLst>
            </p:cNvPr>
            <p:cNvSpPr/>
            <p:nvPr/>
          </p:nvSpPr>
          <p:spPr>
            <a:xfrm>
              <a:off x="0" y="0"/>
              <a:ext cx="5683590" cy="2253498"/>
            </a:xfrm>
            <a:custGeom>
              <a:avLst/>
              <a:gdLst/>
              <a:ahLst/>
              <a:cxnLst/>
              <a:rect l="l" t="t" r="r" b="b"/>
              <a:pathLst>
                <a:path w="5683590" h="2253498">
                  <a:moveTo>
                    <a:pt x="0" y="0"/>
                  </a:moveTo>
                  <a:lnTo>
                    <a:pt x="5683590" y="0"/>
                  </a:lnTo>
                  <a:lnTo>
                    <a:pt x="5683590" y="2253498"/>
                  </a:lnTo>
                  <a:lnTo>
                    <a:pt x="0" y="2253498"/>
                  </a:lnTo>
                  <a:close/>
                </a:path>
              </a:pathLst>
            </a:custGeom>
            <a:solidFill>
              <a:srgbClr val="FFF3DE"/>
            </a:solidFill>
          </p:spPr>
          <p:txBody>
            <a:bodyPr/>
            <a:lstStyle/>
            <a:p>
              <a:endParaRPr lang="en-GB"/>
            </a:p>
          </p:txBody>
        </p:sp>
        <p:sp>
          <p:nvSpPr>
            <p:cNvPr id="4" name="TextBox 4">
              <a:extLst>
                <a:ext uri="{FF2B5EF4-FFF2-40B4-BE49-F238E27FC236}">
                  <a16:creationId xmlns:a16="http://schemas.microsoft.com/office/drawing/2014/main" id="{5DD2128C-593B-7C92-29B6-053A0B13110F}"/>
                </a:ext>
              </a:extLst>
            </p:cNvPr>
            <p:cNvSpPr txBox="1"/>
            <p:nvPr/>
          </p:nvSpPr>
          <p:spPr>
            <a:xfrm>
              <a:off x="0" y="-95250"/>
              <a:ext cx="5683590" cy="2348748"/>
            </a:xfrm>
            <a:prstGeom prst="rect">
              <a:avLst/>
            </a:prstGeom>
          </p:spPr>
          <p:txBody>
            <a:bodyPr lIns="50800" tIns="50800" rIns="50800" bIns="50800" rtlCol="0" anchor="ctr"/>
            <a:lstStyle/>
            <a:p>
              <a:pPr algn="ctr">
                <a:lnSpc>
                  <a:spcPts val="3500"/>
                </a:lnSpc>
              </a:pPr>
              <a:endParaRPr/>
            </a:p>
          </p:txBody>
        </p:sp>
      </p:grpSp>
      <p:sp>
        <p:nvSpPr>
          <p:cNvPr id="5" name="TextBox 5">
            <a:extLst>
              <a:ext uri="{FF2B5EF4-FFF2-40B4-BE49-F238E27FC236}">
                <a16:creationId xmlns:a16="http://schemas.microsoft.com/office/drawing/2014/main" id="{AD58529E-C2A2-C060-B9B1-53AA9CA902F9}"/>
              </a:ext>
            </a:extLst>
          </p:cNvPr>
          <p:cNvSpPr txBox="1"/>
          <p:nvPr/>
        </p:nvSpPr>
        <p:spPr>
          <a:xfrm>
            <a:off x="-1417066" y="464193"/>
            <a:ext cx="18288000" cy="795089"/>
          </a:xfrm>
          <a:prstGeom prst="rect">
            <a:avLst/>
          </a:prstGeom>
        </p:spPr>
        <p:txBody>
          <a:bodyPr lIns="0" tIns="0" rIns="0" bIns="0" rtlCol="0" anchor="t">
            <a:spAutoFit/>
          </a:bodyPr>
          <a:lstStyle/>
          <a:p>
            <a:pPr algn="ctr">
              <a:lnSpc>
                <a:spcPts val="6158"/>
              </a:lnSpc>
            </a:pPr>
            <a:r>
              <a:rPr lang="en-US" sz="6000" b="1" dirty="0">
                <a:solidFill>
                  <a:srgbClr val="C3EDFE"/>
                </a:solidFill>
                <a:latin typeface="FH Lecturis Rounded Test Bold"/>
                <a:ea typeface="FH Lecturis Rounded Test Bold"/>
                <a:cs typeface="FH Lecturis Rounded Test Bold"/>
                <a:sym typeface="FH Lecturis Rounded Test Bold"/>
              </a:rPr>
              <a:t>What makes a good project section</a:t>
            </a:r>
            <a:r>
              <a:rPr lang="en-US" sz="6000" b="1" dirty="0">
                <a:solidFill>
                  <a:srgbClr val="C3EDFE"/>
                </a:solidFill>
                <a:latin typeface="Abadi" panose="020B0604020104020204" pitchFamily="34" charset="0"/>
                <a:ea typeface="FH Lecturis Rounded Test Bold"/>
                <a:cs typeface="FH Lecturis Rounded Test Bold"/>
                <a:sym typeface="FH Lecturis Rounded Test Bold"/>
              </a:rPr>
              <a:t>?</a:t>
            </a:r>
          </a:p>
        </p:txBody>
      </p:sp>
      <p:grpSp>
        <p:nvGrpSpPr>
          <p:cNvPr id="12" name="Group 12">
            <a:extLst>
              <a:ext uri="{FF2B5EF4-FFF2-40B4-BE49-F238E27FC236}">
                <a16:creationId xmlns:a16="http://schemas.microsoft.com/office/drawing/2014/main" id="{7B6BD954-89C6-6DE6-5A4D-351C7D3B5FE7}"/>
              </a:ext>
            </a:extLst>
          </p:cNvPr>
          <p:cNvGrpSpPr/>
          <p:nvPr/>
        </p:nvGrpSpPr>
        <p:grpSpPr>
          <a:xfrm rot="-5400000">
            <a:off x="-54644" y="1242724"/>
            <a:ext cx="795089" cy="685800"/>
            <a:chOff x="0" y="0"/>
            <a:chExt cx="1598780" cy="1598780"/>
          </a:xfrm>
        </p:grpSpPr>
        <p:grpSp>
          <p:nvGrpSpPr>
            <p:cNvPr id="13" name="Group 13">
              <a:extLst>
                <a:ext uri="{FF2B5EF4-FFF2-40B4-BE49-F238E27FC236}">
                  <a16:creationId xmlns:a16="http://schemas.microsoft.com/office/drawing/2014/main" id="{3D0CAF6C-810E-16CA-68BF-A48442274A94}"/>
                </a:ext>
              </a:extLst>
            </p:cNvPr>
            <p:cNvGrpSpPr/>
            <p:nvPr/>
          </p:nvGrpSpPr>
          <p:grpSpPr>
            <a:xfrm>
              <a:off x="0" y="799390"/>
              <a:ext cx="799390" cy="799390"/>
              <a:chOff x="0" y="0"/>
              <a:chExt cx="338164" cy="338164"/>
            </a:xfrm>
          </p:grpSpPr>
          <p:sp>
            <p:nvSpPr>
              <p:cNvPr id="14" name="Freeform 14">
                <a:extLst>
                  <a:ext uri="{FF2B5EF4-FFF2-40B4-BE49-F238E27FC236}">
                    <a16:creationId xmlns:a16="http://schemas.microsoft.com/office/drawing/2014/main" id="{C208D511-D206-0C36-703E-E37B434BD22B}"/>
                  </a:ext>
                </a:extLst>
              </p:cNvPr>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15" name="TextBox 15">
                <a:extLst>
                  <a:ext uri="{FF2B5EF4-FFF2-40B4-BE49-F238E27FC236}">
                    <a16:creationId xmlns:a16="http://schemas.microsoft.com/office/drawing/2014/main" id="{C02A6546-6A72-B063-9BE2-8E7B05931BF3}"/>
                  </a:ext>
                </a:extLst>
              </p:cNvPr>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nvGrpSpPr>
            <p:cNvPr id="16" name="Group 16">
              <a:extLst>
                <a:ext uri="{FF2B5EF4-FFF2-40B4-BE49-F238E27FC236}">
                  <a16:creationId xmlns:a16="http://schemas.microsoft.com/office/drawing/2014/main" id="{6087F455-ACAF-F46C-1DD1-AD12E65D817F}"/>
                </a:ext>
              </a:extLst>
            </p:cNvPr>
            <p:cNvGrpSpPr/>
            <p:nvPr/>
          </p:nvGrpSpPr>
          <p:grpSpPr>
            <a:xfrm>
              <a:off x="799390" y="0"/>
              <a:ext cx="799390" cy="799390"/>
              <a:chOff x="0" y="0"/>
              <a:chExt cx="338164" cy="338164"/>
            </a:xfrm>
          </p:grpSpPr>
          <p:sp>
            <p:nvSpPr>
              <p:cNvPr id="17" name="Freeform 17">
                <a:extLst>
                  <a:ext uri="{FF2B5EF4-FFF2-40B4-BE49-F238E27FC236}">
                    <a16:creationId xmlns:a16="http://schemas.microsoft.com/office/drawing/2014/main" id="{5B0CBA42-A8B1-DF90-425C-6085F7B63158}"/>
                  </a:ext>
                </a:extLst>
              </p:cNvPr>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18" name="TextBox 18">
                <a:extLst>
                  <a:ext uri="{FF2B5EF4-FFF2-40B4-BE49-F238E27FC236}">
                    <a16:creationId xmlns:a16="http://schemas.microsoft.com/office/drawing/2014/main" id="{84EE109C-125E-01C2-048E-74AC3033B870}"/>
                  </a:ext>
                </a:extLst>
              </p:cNvPr>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sp>
        <p:nvSpPr>
          <p:cNvPr id="19" name="Freeform 19">
            <a:extLst>
              <a:ext uri="{FF2B5EF4-FFF2-40B4-BE49-F238E27FC236}">
                <a16:creationId xmlns:a16="http://schemas.microsoft.com/office/drawing/2014/main" id="{9616B795-D69C-D69B-7AB8-6C0FE8644868}"/>
              </a:ext>
            </a:extLst>
          </p:cNvPr>
          <p:cNvSpPr/>
          <p:nvPr/>
        </p:nvSpPr>
        <p:spPr>
          <a:xfrm>
            <a:off x="14795959" y="110794"/>
            <a:ext cx="3352981" cy="673289"/>
          </a:xfrm>
          <a:custGeom>
            <a:avLst/>
            <a:gdLst/>
            <a:ahLst/>
            <a:cxnLst/>
            <a:rect l="l" t="t" r="r" b="b"/>
            <a:pathLst>
              <a:path w="3352981" h="673289">
                <a:moveTo>
                  <a:pt x="0" y="0"/>
                </a:moveTo>
                <a:lnTo>
                  <a:pt x="3352981" y="0"/>
                </a:lnTo>
                <a:lnTo>
                  <a:pt x="3352981" y="673290"/>
                </a:lnTo>
                <a:lnTo>
                  <a:pt x="0" y="673290"/>
                </a:lnTo>
                <a:lnTo>
                  <a:pt x="0" y="0"/>
                </a:lnTo>
                <a:close/>
              </a:path>
            </a:pathLst>
          </a:custGeom>
          <a:blipFill>
            <a:blip r:embed="rId2"/>
            <a:stretch>
              <a:fillRect/>
            </a:stretch>
          </a:blipFill>
        </p:spPr>
        <p:txBody>
          <a:bodyPr/>
          <a:lstStyle/>
          <a:p>
            <a:endParaRPr lang="en-GB"/>
          </a:p>
        </p:txBody>
      </p:sp>
      <p:pic>
        <p:nvPicPr>
          <p:cNvPr id="7" name="Picture 6" descr="A screenshot of a computer&#10;&#10;AI-generated content may be incorrect.">
            <a:extLst>
              <a:ext uri="{FF2B5EF4-FFF2-40B4-BE49-F238E27FC236}">
                <a16:creationId xmlns:a16="http://schemas.microsoft.com/office/drawing/2014/main" id="{0B183549-60C6-2018-161F-41B786BA90A4}"/>
              </a:ext>
            </a:extLst>
          </p:cNvPr>
          <p:cNvPicPr>
            <a:picLocks noChangeAspect="1"/>
          </p:cNvPicPr>
          <p:nvPr/>
        </p:nvPicPr>
        <p:blipFill>
          <a:blip r:embed="rId3"/>
          <a:stretch>
            <a:fillRect/>
          </a:stretch>
        </p:blipFill>
        <p:spPr>
          <a:xfrm>
            <a:off x="685801" y="3467100"/>
            <a:ext cx="17193062" cy="4836731"/>
          </a:xfrm>
          <a:prstGeom prst="rect">
            <a:avLst/>
          </a:prstGeom>
        </p:spPr>
      </p:pic>
    </p:spTree>
    <p:extLst>
      <p:ext uri="{BB962C8B-B14F-4D97-AF65-F5344CB8AC3E}">
        <p14:creationId xmlns:p14="http://schemas.microsoft.com/office/powerpoint/2010/main" val="31596567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2F50"/>
        </a:solidFill>
        <a:effectLst/>
      </p:bgPr>
    </p:bg>
    <p:spTree>
      <p:nvGrpSpPr>
        <p:cNvPr id="1" name=""/>
        <p:cNvGrpSpPr/>
        <p:nvPr/>
      </p:nvGrpSpPr>
      <p:grpSpPr>
        <a:xfrm>
          <a:off x="0" y="0"/>
          <a:ext cx="0" cy="0"/>
          <a:chOff x="0" y="0"/>
          <a:chExt cx="0" cy="0"/>
        </a:xfrm>
      </p:grpSpPr>
      <p:grpSp>
        <p:nvGrpSpPr>
          <p:cNvPr id="2" name="Group 2"/>
          <p:cNvGrpSpPr/>
          <p:nvPr/>
        </p:nvGrpSpPr>
        <p:grpSpPr>
          <a:xfrm>
            <a:off x="0" y="1983169"/>
            <a:ext cx="18288000" cy="8556252"/>
            <a:chOff x="0" y="0"/>
            <a:chExt cx="5683590" cy="2253498"/>
          </a:xfrm>
        </p:grpSpPr>
        <p:sp>
          <p:nvSpPr>
            <p:cNvPr id="3" name="Freeform 3"/>
            <p:cNvSpPr/>
            <p:nvPr/>
          </p:nvSpPr>
          <p:spPr>
            <a:xfrm>
              <a:off x="0" y="0"/>
              <a:ext cx="5683590" cy="2253498"/>
            </a:xfrm>
            <a:custGeom>
              <a:avLst/>
              <a:gdLst/>
              <a:ahLst/>
              <a:cxnLst/>
              <a:rect l="l" t="t" r="r" b="b"/>
              <a:pathLst>
                <a:path w="5683590" h="2253498">
                  <a:moveTo>
                    <a:pt x="0" y="0"/>
                  </a:moveTo>
                  <a:lnTo>
                    <a:pt x="5683590" y="0"/>
                  </a:lnTo>
                  <a:lnTo>
                    <a:pt x="5683590" y="2253498"/>
                  </a:lnTo>
                  <a:lnTo>
                    <a:pt x="0" y="2253498"/>
                  </a:lnTo>
                  <a:close/>
                </a:path>
              </a:pathLst>
            </a:custGeom>
            <a:solidFill>
              <a:srgbClr val="FFF3DE"/>
            </a:solidFill>
          </p:spPr>
          <p:txBody>
            <a:bodyPr/>
            <a:lstStyle/>
            <a:p>
              <a:endParaRPr lang="en-GB"/>
            </a:p>
          </p:txBody>
        </p:sp>
        <p:sp>
          <p:nvSpPr>
            <p:cNvPr id="4" name="TextBox 4"/>
            <p:cNvSpPr txBox="1"/>
            <p:nvPr/>
          </p:nvSpPr>
          <p:spPr>
            <a:xfrm>
              <a:off x="0" y="-95250"/>
              <a:ext cx="5683590" cy="2348748"/>
            </a:xfrm>
            <a:prstGeom prst="rect">
              <a:avLst/>
            </a:prstGeom>
          </p:spPr>
          <p:txBody>
            <a:bodyPr lIns="50800" tIns="50800" rIns="50800" bIns="50800" rtlCol="0" anchor="ctr"/>
            <a:lstStyle/>
            <a:p>
              <a:pPr algn="ctr">
                <a:lnSpc>
                  <a:spcPts val="3500"/>
                </a:lnSpc>
              </a:pPr>
              <a:endParaRPr/>
            </a:p>
          </p:txBody>
        </p:sp>
      </p:grpSp>
      <p:sp>
        <p:nvSpPr>
          <p:cNvPr id="5" name="TextBox 5"/>
          <p:cNvSpPr txBox="1"/>
          <p:nvPr/>
        </p:nvSpPr>
        <p:spPr>
          <a:xfrm>
            <a:off x="1562421" y="2308690"/>
            <a:ext cx="16586519" cy="5469594"/>
          </a:xfrm>
          <a:prstGeom prst="rect">
            <a:avLst/>
          </a:prstGeom>
        </p:spPr>
        <p:txBody>
          <a:bodyPr lIns="0" tIns="0" rIns="0" bIns="0" rtlCol="0" anchor="t">
            <a:spAutoFit/>
          </a:bodyPr>
          <a:lstStyle/>
          <a:p>
            <a:pPr algn="l">
              <a:lnSpc>
                <a:spcPts val="5398"/>
              </a:lnSpc>
            </a:pPr>
            <a:r>
              <a:rPr lang="en-US" sz="3550">
                <a:solidFill>
                  <a:srgbClr val="000000"/>
                </a:solidFill>
                <a:latin typeface="DIN Offc 1"/>
                <a:ea typeface="DIN Offc 1"/>
                <a:cs typeface="DIN Offc 1"/>
                <a:sym typeface="DIN Offc 1"/>
              </a:rPr>
              <a:t>Psychometric tests are structured methods used by employers to assess a candidate’s suitability for a job (placements, internships, etc.)</a:t>
            </a:r>
          </a:p>
          <a:p>
            <a:pPr algn="l">
              <a:lnSpc>
                <a:spcPts val="5398"/>
              </a:lnSpc>
            </a:pPr>
            <a:endParaRPr lang="en-US" sz="3550">
              <a:solidFill>
                <a:srgbClr val="000000"/>
              </a:solidFill>
              <a:latin typeface="DIN Offc 1"/>
              <a:ea typeface="DIN Offc 1"/>
              <a:cs typeface="DIN Offc 1"/>
              <a:sym typeface="DIN Offc 1"/>
            </a:endParaRPr>
          </a:p>
          <a:p>
            <a:pPr marL="822839" lvl="2" indent="-274280" algn="l">
              <a:lnSpc>
                <a:spcPts val="5398"/>
              </a:lnSpc>
              <a:buFont typeface="Arial"/>
              <a:buChar char="⚬"/>
            </a:pPr>
            <a:r>
              <a:rPr lang="en-US" sz="3598">
                <a:solidFill>
                  <a:srgbClr val="000000"/>
                </a:solidFill>
                <a:latin typeface="DIN Offc 1"/>
                <a:ea typeface="DIN Offc 1"/>
                <a:cs typeface="DIN Offc 1"/>
                <a:sym typeface="DIN Offc 1"/>
              </a:rPr>
              <a:t> Recruiters should identify tests which are appropriate to the job role​</a:t>
            </a:r>
          </a:p>
          <a:p>
            <a:pPr marL="822839" lvl="2" indent="-274280" algn="l">
              <a:lnSpc>
                <a:spcPts val="5398"/>
              </a:lnSpc>
              <a:buFont typeface="Arial"/>
              <a:buChar char="⚬"/>
            </a:pPr>
            <a:r>
              <a:rPr lang="en-US" sz="3598">
                <a:solidFill>
                  <a:srgbClr val="000000"/>
                </a:solidFill>
                <a:latin typeface="DIN Offc 1"/>
                <a:ea typeface="DIN Offc 1"/>
                <a:cs typeface="DIN Offc 1"/>
                <a:sym typeface="DIN Offc 1"/>
              </a:rPr>
              <a:t> Timed or untimed​</a:t>
            </a:r>
          </a:p>
          <a:p>
            <a:pPr marL="822839" lvl="2" indent="-274280" algn="l">
              <a:lnSpc>
                <a:spcPts val="5398"/>
              </a:lnSpc>
              <a:buFont typeface="Arial"/>
              <a:buChar char="⚬"/>
            </a:pPr>
            <a:r>
              <a:rPr lang="en-US" sz="3598">
                <a:solidFill>
                  <a:srgbClr val="000000"/>
                </a:solidFill>
                <a:latin typeface="DIN Offc 1"/>
                <a:ea typeface="DIN Offc 1"/>
                <a:cs typeface="DIN Offc 1"/>
                <a:sym typeface="DIN Offc 1"/>
              </a:rPr>
              <a:t> Format can be ‘right or wrong’ or subjective answers which are matched against an ideal candidate profile</a:t>
            </a:r>
          </a:p>
          <a:p>
            <a:pPr marL="822839" lvl="2" indent="-274280" algn="l">
              <a:lnSpc>
                <a:spcPts val="5398"/>
              </a:lnSpc>
            </a:pPr>
            <a:endParaRPr lang="en-US" sz="3598">
              <a:solidFill>
                <a:srgbClr val="000000"/>
              </a:solidFill>
              <a:latin typeface="DIN Offc 1"/>
              <a:ea typeface="DIN Offc 1"/>
              <a:cs typeface="DIN Offc 1"/>
              <a:sym typeface="DIN Offc 1"/>
            </a:endParaRPr>
          </a:p>
        </p:txBody>
      </p:sp>
      <p:sp>
        <p:nvSpPr>
          <p:cNvPr id="6" name="Freeform 6"/>
          <p:cNvSpPr/>
          <p:nvPr/>
        </p:nvSpPr>
        <p:spPr>
          <a:xfrm>
            <a:off x="4012815" y="7283846"/>
            <a:ext cx="10254812" cy="2733453"/>
          </a:xfrm>
          <a:custGeom>
            <a:avLst/>
            <a:gdLst/>
            <a:ahLst/>
            <a:cxnLst/>
            <a:rect l="l" t="t" r="r" b="b"/>
            <a:pathLst>
              <a:path w="10254812" h="2733453">
                <a:moveTo>
                  <a:pt x="0" y="0"/>
                </a:moveTo>
                <a:lnTo>
                  <a:pt x="10254811" y="0"/>
                </a:lnTo>
                <a:lnTo>
                  <a:pt x="10254811" y="2733453"/>
                </a:lnTo>
                <a:lnTo>
                  <a:pt x="0" y="27334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7" name="TextBox 7"/>
          <p:cNvSpPr txBox="1"/>
          <p:nvPr/>
        </p:nvSpPr>
        <p:spPr>
          <a:xfrm>
            <a:off x="-2133600" y="564092"/>
            <a:ext cx="18295559" cy="936154"/>
          </a:xfrm>
          <a:prstGeom prst="rect">
            <a:avLst/>
          </a:prstGeom>
        </p:spPr>
        <p:txBody>
          <a:bodyPr lIns="0" tIns="0" rIns="0" bIns="0" rtlCol="0" anchor="t">
            <a:spAutoFit/>
          </a:bodyPr>
          <a:lstStyle/>
          <a:p>
            <a:pPr algn="ctr">
              <a:lnSpc>
                <a:spcPts val="7278"/>
              </a:lnSpc>
            </a:pPr>
            <a:r>
              <a:rPr lang="en-US" sz="6600" b="1" dirty="0">
                <a:solidFill>
                  <a:srgbClr val="C3EDFE"/>
                </a:solidFill>
                <a:latin typeface="FH Lecturis Rounded Test Bold"/>
                <a:ea typeface="FH Lecturis Rounded Test Bold"/>
                <a:cs typeface="FH Lecturis Rounded Test Bold"/>
                <a:sym typeface="FH Lecturis Rounded Test Bold"/>
              </a:rPr>
              <a:t>What are psychometric tests</a:t>
            </a:r>
            <a:r>
              <a:rPr lang="en-US" sz="6600" b="1" dirty="0">
                <a:solidFill>
                  <a:srgbClr val="C3EDFE"/>
                </a:solidFill>
                <a:latin typeface="Abadi" panose="020B0604020104020204" pitchFamily="34" charset="0"/>
                <a:ea typeface="FH Lecturis Rounded Test Bold"/>
                <a:cs typeface="FH Lecturis Rounded Test Bold"/>
                <a:sym typeface="FH Lecturis Rounded Test Bold"/>
              </a:rPr>
              <a:t>?</a:t>
            </a:r>
          </a:p>
        </p:txBody>
      </p:sp>
      <p:sp>
        <p:nvSpPr>
          <p:cNvPr id="8" name="TextBox 8"/>
          <p:cNvSpPr txBox="1"/>
          <p:nvPr/>
        </p:nvSpPr>
        <p:spPr>
          <a:xfrm>
            <a:off x="4419004" y="7692560"/>
            <a:ext cx="9480962" cy="3343033"/>
          </a:xfrm>
          <a:prstGeom prst="rect">
            <a:avLst/>
          </a:prstGeom>
        </p:spPr>
        <p:txBody>
          <a:bodyPr lIns="0" tIns="0" rIns="0" bIns="0" rtlCol="0" anchor="t">
            <a:spAutoFit/>
          </a:bodyPr>
          <a:lstStyle/>
          <a:p>
            <a:pPr algn="ctr">
              <a:lnSpc>
                <a:spcPts val="4498"/>
              </a:lnSpc>
            </a:pPr>
            <a:r>
              <a:rPr lang="en-US" sz="2999" b="1">
                <a:solidFill>
                  <a:srgbClr val="000000"/>
                </a:solidFill>
                <a:latin typeface="Tahoma Bold"/>
                <a:ea typeface="Tahoma Bold"/>
                <a:cs typeface="Tahoma Bold"/>
                <a:sym typeface="Tahoma Bold"/>
              </a:rPr>
              <a:t>Types of tests that you might encounter: ​</a:t>
            </a:r>
          </a:p>
          <a:p>
            <a:pPr algn="ctr">
              <a:lnSpc>
                <a:spcPts val="4498"/>
              </a:lnSpc>
            </a:pPr>
            <a:r>
              <a:rPr lang="en-US" sz="2999">
                <a:solidFill>
                  <a:srgbClr val="000000"/>
                </a:solidFill>
                <a:latin typeface="Tahoma"/>
                <a:ea typeface="Tahoma"/>
                <a:cs typeface="Tahoma"/>
                <a:sym typeface="Tahoma"/>
              </a:rPr>
              <a:t>Numeracy, logical reasoning, verbal reasoning​</a:t>
            </a:r>
          </a:p>
          <a:p>
            <a:pPr algn="ctr">
              <a:lnSpc>
                <a:spcPts val="4498"/>
              </a:lnSpc>
            </a:pPr>
            <a:r>
              <a:rPr lang="en-US" sz="2999">
                <a:solidFill>
                  <a:srgbClr val="000000"/>
                </a:solidFill>
                <a:latin typeface="Tahoma"/>
                <a:ea typeface="Tahoma"/>
                <a:cs typeface="Tahoma"/>
                <a:sym typeface="Tahoma"/>
              </a:rPr>
              <a:t>Situational judgement​</a:t>
            </a:r>
          </a:p>
          <a:p>
            <a:pPr algn="ctr">
              <a:lnSpc>
                <a:spcPts val="4498"/>
              </a:lnSpc>
            </a:pPr>
            <a:r>
              <a:rPr lang="en-US" sz="2999">
                <a:solidFill>
                  <a:srgbClr val="000000"/>
                </a:solidFill>
                <a:latin typeface="Tahoma"/>
                <a:ea typeface="Tahoma"/>
                <a:cs typeface="Tahoma"/>
                <a:sym typeface="Tahoma"/>
              </a:rPr>
              <a:t>Personality</a:t>
            </a:r>
          </a:p>
          <a:p>
            <a:pPr algn="ctr">
              <a:lnSpc>
                <a:spcPts val="4498"/>
              </a:lnSpc>
            </a:pPr>
            <a:endParaRPr lang="en-US" sz="2999">
              <a:solidFill>
                <a:srgbClr val="000000"/>
              </a:solidFill>
              <a:latin typeface="Tahoma"/>
              <a:ea typeface="Tahoma"/>
              <a:cs typeface="Tahoma"/>
              <a:sym typeface="Tahoma"/>
            </a:endParaRPr>
          </a:p>
          <a:p>
            <a:pPr algn="ctr">
              <a:lnSpc>
                <a:spcPts val="4498"/>
              </a:lnSpc>
            </a:pPr>
            <a:endParaRPr lang="en-US" sz="2999">
              <a:solidFill>
                <a:srgbClr val="000000"/>
              </a:solidFill>
              <a:latin typeface="Tahoma"/>
              <a:ea typeface="Tahoma"/>
              <a:cs typeface="Tahoma"/>
              <a:sym typeface="Tahoma"/>
            </a:endParaRPr>
          </a:p>
        </p:txBody>
      </p:sp>
      <p:grpSp>
        <p:nvGrpSpPr>
          <p:cNvPr id="9" name="Group 9"/>
          <p:cNvGrpSpPr/>
          <p:nvPr/>
        </p:nvGrpSpPr>
        <p:grpSpPr>
          <a:xfrm rot="-5400000">
            <a:off x="0" y="784084"/>
            <a:ext cx="1199085" cy="1199085"/>
            <a:chOff x="0" y="0"/>
            <a:chExt cx="1598780" cy="1598780"/>
          </a:xfrm>
        </p:grpSpPr>
        <p:grpSp>
          <p:nvGrpSpPr>
            <p:cNvPr id="10" name="Group 10"/>
            <p:cNvGrpSpPr/>
            <p:nvPr/>
          </p:nvGrpSpPr>
          <p:grpSpPr>
            <a:xfrm>
              <a:off x="0" y="799390"/>
              <a:ext cx="799390" cy="799390"/>
              <a:chOff x="0" y="0"/>
              <a:chExt cx="338164" cy="338164"/>
            </a:xfrm>
          </p:grpSpPr>
          <p:sp>
            <p:nvSpPr>
              <p:cNvPr id="11" name="Freeform 11"/>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12" name="TextBox 12"/>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nvGrpSpPr>
            <p:cNvPr id="13" name="Group 13"/>
            <p:cNvGrpSpPr/>
            <p:nvPr/>
          </p:nvGrpSpPr>
          <p:grpSpPr>
            <a:xfrm>
              <a:off x="799390" y="0"/>
              <a:ext cx="799390" cy="799390"/>
              <a:chOff x="0" y="0"/>
              <a:chExt cx="338164" cy="338164"/>
            </a:xfrm>
          </p:grpSpPr>
          <p:sp>
            <p:nvSpPr>
              <p:cNvPr id="14" name="Freeform 14"/>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15" name="TextBox 15"/>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sp>
        <p:nvSpPr>
          <p:cNvPr id="16" name="Freeform 16"/>
          <p:cNvSpPr/>
          <p:nvPr/>
        </p:nvSpPr>
        <p:spPr>
          <a:xfrm>
            <a:off x="14795959" y="110794"/>
            <a:ext cx="3352981" cy="673289"/>
          </a:xfrm>
          <a:custGeom>
            <a:avLst/>
            <a:gdLst/>
            <a:ahLst/>
            <a:cxnLst/>
            <a:rect l="l" t="t" r="r" b="b"/>
            <a:pathLst>
              <a:path w="3352981" h="673289">
                <a:moveTo>
                  <a:pt x="0" y="0"/>
                </a:moveTo>
                <a:lnTo>
                  <a:pt x="3352981" y="0"/>
                </a:lnTo>
                <a:lnTo>
                  <a:pt x="3352981" y="673290"/>
                </a:lnTo>
                <a:lnTo>
                  <a:pt x="0" y="673290"/>
                </a:lnTo>
                <a:lnTo>
                  <a:pt x="0" y="0"/>
                </a:lnTo>
                <a:close/>
              </a:path>
            </a:pathLst>
          </a:custGeom>
          <a:blipFill>
            <a:blip r:embed="rId4"/>
            <a:stretch>
              <a:fillRect/>
            </a:stretch>
          </a:blipFill>
        </p:spPr>
        <p:txBody>
          <a:bodyPr/>
          <a:lstStyle/>
          <a:p>
            <a:endParaRPr lang="en-GB"/>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2F50"/>
        </a:solidFill>
        <a:effectLst/>
      </p:bgPr>
    </p:bg>
    <p:spTree>
      <p:nvGrpSpPr>
        <p:cNvPr id="1" name="">
          <a:extLst>
            <a:ext uri="{FF2B5EF4-FFF2-40B4-BE49-F238E27FC236}">
              <a16:creationId xmlns:a16="http://schemas.microsoft.com/office/drawing/2014/main" id="{8E8EF0DA-04CD-DD69-33D4-AAA0349F443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1B58112-0B41-02D2-A680-8841041F43DA}"/>
              </a:ext>
            </a:extLst>
          </p:cNvPr>
          <p:cNvGrpSpPr/>
          <p:nvPr/>
        </p:nvGrpSpPr>
        <p:grpSpPr>
          <a:xfrm>
            <a:off x="0" y="1983169"/>
            <a:ext cx="18288000" cy="8556252"/>
            <a:chOff x="0" y="0"/>
            <a:chExt cx="5683590" cy="2253498"/>
          </a:xfrm>
        </p:grpSpPr>
        <p:sp>
          <p:nvSpPr>
            <p:cNvPr id="3" name="Freeform 3">
              <a:extLst>
                <a:ext uri="{FF2B5EF4-FFF2-40B4-BE49-F238E27FC236}">
                  <a16:creationId xmlns:a16="http://schemas.microsoft.com/office/drawing/2014/main" id="{FF030E09-7704-2001-3995-634CB69F1112}"/>
                </a:ext>
              </a:extLst>
            </p:cNvPr>
            <p:cNvSpPr/>
            <p:nvPr/>
          </p:nvSpPr>
          <p:spPr>
            <a:xfrm>
              <a:off x="0" y="0"/>
              <a:ext cx="5683590" cy="2253498"/>
            </a:xfrm>
            <a:custGeom>
              <a:avLst/>
              <a:gdLst/>
              <a:ahLst/>
              <a:cxnLst/>
              <a:rect l="l" t="t" r="r" b="b"/>
              <a:pathLst>
                <a:path w="5683590" h="2253498">
                  <a:moveTo>
                    <a:pt x="0" y="0"/>
                  </a:moveTo>
                  <a:lnTo>
                    <a:pt x="5683590" y="0"/>
                  </a:lnTo>
                  <a:lnTo>
                    <a:pt x="5683590" y="2253498"/>
                  </a:lnTo>
                  <a:lnTo>
                    <a:pt x="0" y="2253498"/>
                  </a:lnTo>
                  <a:close/>
                </a:path>
              </a:pathLst>
            </a:custGeom>
            <a:solidFill>
              <a:srgbClr val="FFF3DE"/>
            </a:solidFill>
          </p:spPr>
          <p:txBody>
            <a:bodyPr/>
            <a:lstStyle/>
            <a:p>
              <a:endParaRPr lang="en-GB"/>
            </a:p>
          </p:txBody>
        </p:sp>
        <p:sp>
          <p:nvSpPr>
            <p:cNvPr id="4" name="TextBox 4">
              <a:extLst>
                <a:ext uri="{FF2B5EF4-FFF2-40B4-BE49-F238E27FC236}">
                  <a16:creationId xmlns:a16="http://schemas.microsoft.com/office/drawing/2014/main" id="{10636991-B8DB-BE6C-D260-BC5249E7F5FA}"/>
                </a:ext>
              </a:extLst>
            </p:cNvPr>
            <p:cNvSpPr txBox="1"/>
            <p:nvPr/>
          </p:nvSpPr>
          <p:spPr>
            <a:xfrm>
              <a:off x="0" y="-95250"/>
              <a:ext cx="5683590" cy="2348748"/>
            </a:xfrm>
            <a:prstGeom prst="rect">
              <a:avLst/>
            </a:prstGeom>
          </p:spPr>
          <p:txBody>
            <a:bodyPr lIns="50800" tIns="50800" rIns="50800" bIns="50800" rtlCol="0" anchor="ctr"/>
            <a:lstStyle/>
            <a:p>
              <a:pPr algn="ctr">
                <a:lnSpc>
                  <a:spcPts val="3500"/>
                </a:lnSpc>
              </a:pPr>
              <a:endParaRPr/>
            </a:p>
          </p:txBody>
        </p:sp>
      </p:grpSp>
      <p:sp>
        <p:nvSpPr>
          <p:cNvPr id="7" name="Freeform 7">
            <a:extLst>
              <a:ext uri="{FF2B5EF4-FFF2-40B4-BE49-F238E27FC236}">
                <a16:creationId xmlns:a16="http://schemas.microsoft.com/office/drawing/2014/main" id="{4DCF4911-3852-4457-D9B4-9828142E14B0}"/>
              </a:ext>
            </a:extLst>
          </p:cNvPr>
          <p:cNvSpPr/>
          <p:nvPr/>
        </p:nvSpPr>
        <p:spPr>
          <a:xfrm>
            <a:off x="14795959" y="110794"/>
            <a:ext cx="3352981" cy="673289"/>
          </a:xfrm>
          <a:custGeom>
            <a:avLst/>
            <a:gdLst/>
            <a:ahLst/>
            <a:cxnLst/>
            <a:rect l="l" t="t" r="r" b="b"/>
            <a:pathLst>
              <a:path w="3352981" h="673289">
                <a:moveTo>
                  <a:pt x="0" y="0"/>
                </a:moveTo>
                <a:lnTo>
                  <a:pt x="3352981" y="0"/>
                </a:lnTo>
                <a:lnTo>
                  <a:pt x="3352981" y="673290"/>
                </a:lnTo>
                <a:lnTo>
                  <a:pt x="0" y="673290"/>
                </a:lnTo>
                <a:lnTo>
                  <a:pt x="0" y="0"/>
                </a:lnTo>
                <a:close/>
              </a:path>
            </a:pathLst>
          </a:custGeom>
          <a:blipFill>
            <a:blip r:embed="rId3"/>
            <a:stretch>
              <a:fillRect/>
            </a:stretch>
          </a:blipFill>
        </p:spPr>
        <p:txBody>
          <a:bodyPr/>
          <a:lstStyle/>
          <a:p>
            <a:endParaRPr lang="en-GB"/>
          </a:p>
        </p:txBody>
      </p:sp>
      <p:sp>
        <p:nvSpPr>
          <p:cNvPr id="8" name="TextBox 8">
            <a:extLst>
              <a:ext uri="{FF2B5EF4-FFF2-40B4-BE49-F238E27FC236}">
                <a16:creationId xmlns:a16="http://schemas.microsoft.com/office/drawing/2014/main" id="{7D665F9A-C439-BE98-D7B1-E3F9BB3D6673}"/>
              </a:ext>
            </a:extLst>
          </p:cNvPr>
          <p:cNvSpPr txBox="1"/>
          <p:nvPr/>
        </p:nvSpPr>
        <p:spPr>
          <a:xfrm>
            <a:off x="-4342949" y="187965"/>
            <a:ext cx="18288000" cy="1255472"/>
          </a:xfrm>
          <a:prstGeom prst="rect">
            <a:avLst/>
          </a:prstGeom>
        </p:spPr>
        <p:txBody>
          <a:bodyPr lIns="0" tIns="0" rIns="0" bIns="0" rtlCol="0" anchor="t">
            <a:spAutoFit/>
          </a:bodyPr>
          <a:lstStyle/>
          <a:p>
            <a:pPr algn="ctr">
              <a:lnSpc>
                <a:spcPts val="10219"/>
              </a:lnSpc>
            </a:pPr>
            <a:r>
              <a:rPr lang="en-US" sz="7298" b="1" dirty="0">
                <a:solidFill>
                  <a:srgbClr val="C3EDFE"/>
                </a:solidFill>
                <a:latin typeface="FH Lecturis Rounded Test Bold"/>
                <a:ea typeface="FH Lecturis Rounded Test Bold"/>
                <a:cs typeface="FH Lecturis Rounded Test Bold"/>
                <a:sym typeface="FH Lecturis Rounded Test Bold"/>
              </a:rPr>
              <a:t>Let’s Try One</a:t>
            </a:r>
          </a:p>
        </p:txBody>
      </p:sp>
      <p:grpSp>
        <p:nvGrpSpPr>
          <p:cNvPr id="9" name="Group 9">
            <a:extLst>
              <a:ext uri="{FF2B5EF4-FFF2-40B4-BE49-F238E27FC236}">
                <a16:creationId xmlns:a16="http://schemas.microsoft.com/office/drawing/2014/main" id="{BAF25CE3-D3E1-006A-D518-4490DD8A984F}"/>
              </a:ext>
            </a:extLst>
          </p:cNvPr>
          <p:cNvGrpSpPr/>
          <p:nvPr/>
        </p:nvGrpSpPr>
        <p:grpSpPr>
          <a:xfrm rot="-5400000">
            <a:off x="0" y="784084"/>
            <a:ext cx="1199085" cy="1199085"/>
            <a:chOff x="0" y="0"/>
            <a:chExt cx="1598780" cy="1598780"/>
          </a:xfrm>
        </p:grpSpPr>
        <p:grpSp>
          <p:nvGrpSpPr>
            <p:cNvPr id="10" name="Group 10">
              <a:extLst>
                <a:ext uri="{FF2B5EF4-FFF2-40B4-BE49-F238E27FC236}">
                  <a16:creationId xmlns:a16="http://schemas.microsoft.com/office/drawing/2014/main" id="{E549283E-5D23-AC93-864F-2003D5DF877A}"/>
                </a:ext>
              </a:extLst>
            </p:cNvPr>
            <p:cNvGrpSpPr/>
            <p:nvPr/>
          </p:nvGrpSpPr>
          <p:grpSpPr>
            <a:xfrm>
              <a:off x="0" y="799390"/>
              <a:ext cx="799390" cy="799390"/>
              <a:chOff x="0" y="0"/>
              <a:chExt cx="338164" cy="338164"/>
            </a:xfrm>
          </p:grpSpPr>
          <p:sp>
            <p:nvSpPr>
              <p:cNvPr id="11" name="Freeform 11">
                <a:extLst>
                  <a:ext uri="{FF2B5EF4-FFF2-40B4-BE49-F238E27FC236}">
                    <a16:creationId xmlns:a16="http://schemas.microsoft.com/office/drawing/2014/main" id="{664AB9FE-182F-DC16-53C8-0EB1D8F2F3D7}"/>
                  </a:ext>
                </a:extLst>
              </p:cNvPr>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12" name="TextBox 12">
                <a:extLst>
                  <a:ext uri="{FF2B5EF4-FFF2-40B4-BE49-F238E27FC236}">
                    <a16:creationId xmlns:a16="http://schemas.microsoft.com/office/drawing/2014/main" id="{8E4C28CB-BA38-82DC-C29E-4B33C724DA4E}"/>
                  </a:ext>
                </a:extLst>
              </p:cNvPr>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nvGrpSpPr>
            <p:cNvPr id="13" name="Group 13">
              <a:extLst>
                <a:ext uri="{FF2B5EF4-FFF2-40B4-BE49-F238E27FC236}">
                  <a16:creationId xmlns:a16="http://schemas.microsoft.com/office/drawing/2014/main" id="{7814B55E-6C4A-4BED-895C-079E7CA02AA2}"/>
                </a:ext>
              </a:extLst>
            </p:cNvPr>
            <p:cNvGrpSpPr/>
            <p:nvPr/>
          </p:nvGrpSpPr>
          <p:grpSpPr>
            <a:xfrm>
              <a:off x="799390" y="0"/>
              <a:ext cx="799390" cy="799390"/>
              <a:chOff x="0" y="0"/>
              <a:chExt cx="338164" cy="338164"/>
            </a:xfrm>
          </p:grpSpPr>
          <p:sp>
            <p:nvSpPr>
              <p:cNvPr id="14" name="Freeform 14">
                <a:extLst>
                  <a:ext uri="{FF2B5EF4-FFF2-40B4-BE49-F238E27FC236}">
                    <a16:creationId xmlns:a16="http://schemas.microsoft.com/office/drawing/2014/main" id="{308C0997-DE91-D782-32FA-E10C75ABA401}"/>
                  </a:ext>
                </a:extLst>
              </p:cNvPr>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15" name="TextBox 15">
                <a:extLst>
                  <a:ext uri="{FF2B5EF4-FFF2-40B4-BE49-F238E27FC236}">
                    <a16:creationId xmlns:a16="http://schemas.microsoft.com/office/drawing/2014/main" id="{F23FB378-C69E-D243-3528-3142E547FCD7}"/>
                  </a:ext>
                </a:extLst>
              </p:cNvPr>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sp>
        <p:nvSpPr>
          <p:cNvPr id="16" name="Freeform 7">
            <a:extLst>
              <a:ext uri="{FF2B5EF4-FFF2-40B4-BE49-F238E27FC236}">
                <a16:creationId xmlns:a16="http://schemas.microsoft.com/office/drawing/2014/main" id="{FCEC3038-B4A7-AE97-4628-8488A98CA315}"/>
              </a:ext>
            </a:extLst>
          </p:cNvPr>
          <p:cNvSpPr/>
          <p:nvPr/>
        </p:nvSpPr>
        <p:spPr>
          <a:xfrm>
            <a:off x="367446" y="2874258"/>
            <a:ext cx="17754600" cy="7326601"/>
          </a:xfrm>
          <a:custGeom>
            <a:avLst/>
            <a:gdLst/>
            <a:ahLst/>
            <a:cxnLst/>
            <a:rect l="l" t="t" r="r" b="b"/>
            <a:pathLst>
              <a:path w="18296744" h="7703892">
                <a:moveTo>
                  <a:pt x="0" y="0"/>
                </a:moveTo>
                <a:lnTo>
                  <a:pt x="18296744" y="0"/>
                </a:lnTo>
                <a:lnTo>
                  <a:pt x="18296744" y="7703892"/>
                </a:lnTo>
                <a:lnTo>
                  <a:pt x="0" y="7703892"/>
                </a:lnTo>
                <a:lnTo>
                  <a:pt x="0" y="0"/>
                </a:lnTo>
                <a:close/>
              </a:path>
            </a:pathLst>
          </a:custGeom>
          <a:blipFill>
            <a:blip r:embed="rId4"/>
            <a:stretch>
              <a:fillRect l="-877" t="-23527" r="-2094" b="-13969"/>
            </a:stretch>
          </a:blipFill>
        </p:spPr>
        <p:txBody>
          <a:bodyPr/>
          <a:lstStyle/>
          <a:p>
            <a:endParaRPr lang="en-GB"/>
          </a:p>
        </p:txBody>
      </p:sp>
    </p:spTree>
    <p:extLst>
      <p:ext uri="{BB962C8B-B14F-4D97-AF65-F5344CB8AC3E}">
        <p14:creationId xmlns:p14="http://schemas.microsoft.com/office/powerpoint/2010/main" val="293326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2F50"/>
        </a:solidFill>
        <a:effectLst/>
      </p:bgPr>
    </p:bg>
    <p:spTree>
      <p:nvGrpSpPr>
        <p:cNvPr id="1" name=""/>
        <p:cNvGrpSpPr/>
        <p:nvPr/>
      </p:nvGrpSpPr>
      <p:grpSpPr>
        <a:xfrm>
          <a:off x="0" y="0"/>
          <a:ext cx="0" cy="0"/>
          <a:chOff x="0" y="0"/>
          <a:chExt cx="0" cy="0"/>
        </a:xfrm>
      </p:grpSpPr>
      <p:grpSp>
        <p:nvGrpSpPr>
          <p:cNvPr id="2" name="Group 2"/>
          <p:cNvGrpSpPr/>
          <p:nvPr/>
        </p:nvGrpSpPr>
        <p:grpSpPr>
          <a:xfrm>
            <a:off x="0" y="1983169"/>
            <a:ext cx="18873898" cy="8493400"/>
            <a:chOff x="0" y="0"/>
            <a:chExt cx="4970903" cy="2236945"/>
          </a:xfrm>
        </p:grpSpPr>
        <p:sp>
          <p:nvSpPr>
            <p:cNvPr id="3" name="Freeform 3"/>
            <p:cNvSpPr/>
            <p:nvPr/>
          </p:nvSpPr>
          <p:spPr>
            <a:xfrm>
              <a:off x="0" y="0"/>
              <a:ext cx="4970903" cy="2236945"/>
            </a:xfrm>
            <a:custGeom>
              <a:avLst/>
              <a:gdLst/>
              <a:ahLst/>
              <a:cxnLst/>
              <a:rect l="l" t="t" r="r" b="b"/>
              <a:pathLst>
                <a:path w="4970903" h="2236945">
                  <a:moveTo>
                    <a:pt x="0" y="0"/>
                  </a:moveTo>
                  <a:lnTo>
                    <a:pt x="4970903" y="0"/>
                  </a:lnTo>
                  <a:lnTo>
                    <a:pt x="4970903" y="2236945"/>
                  </a:lnTo>
                  <a:lnTo>
                    <a:pt x="0" y="2236945"/>
                  </a:lnTo>
                  <a:close/>
                </a:path>
              </a:pathLst>
            </a:custGeom>
            <a:solidFill>
              <a:srgbClr val="FFF3DE"/>
            </a:solidFill>
          </p:spPr>
          <p:txBody>
            <a:bodyPr/>
            <a:lstStyle/>
            <a:p>
              <a:endParaRPr lang="en-GB"/>
            </a:p>
          </p:txBody>
        </p:sp>
        <p:sp>
          <p:nvSpPr>
            <p:cNvPr id="4" name="TextBox 4"/>
            <p:cNvSpPr txBox="1"/>
            <p:nvPr/>
          </p:nvSpPr>
          <p:spPr>
            <a:xfrm>
              <a:off x="0" y="-95250"/>
              <a:ext cx="4970903" cy="2332195"/>
            </a:xfrm>
            <a:prstGeom prst="rect">
              <a:avLst/>
            </a:prstGeom>
          </p:spPr>
          <p:txBody>
            <a:bodyPr lIns="50800" tIns="50800" rIns="50800" bIns="50800" rtlCol="0" anchor="ctr"/>
            <a:lstStyle/>
            <a:p>
              <a:pPr algn="ctr">
                <a:lnSpc>
                  <a:spcPts val="3500"/>
                </a:lnSpc>
              </a:pPr>
              <a:endParaRPr/>
            </a:p>
          </p:txBody>
        </p:sp>
      </p:grpSp>
      <p:grpSp>
        <p:nvGrpSpPr>
          <p:cNvPr id="5" name="Group 5"/>
          <p:cNvGrpSpPr/>
          <p:nvPr/>
        </p:nvGrpSpPr>
        <p:grpSpPr>
          <a:xfrm>
            <a:off x="2952163" y="9592442"/>
            <a:ext cx="169903" cy="169903"/>
            <a:chOff x="0" y="0"/>
            <a:chExt cx="226537" cy="226537"/>
          </a:xfrm>
        </p:grpSpPr>
        <p:sp>
          <p:nvSpPr>
            <p:cNvPr id="6" name="Freeform 6"/>
            <p:cNvSpPr/>
            <p:nvPr/>
          </p:nvSpPr>
          <p:spPr>
            <a:xfrm>
              <a:off x="0" y="0"/>
              <a:ext cx="226568" cy="226568"/>
            </a:xfrm>
            <a:custGeom>
              <a:avLst/>
              <a:gdLst/>
              <a:ahLst/>
              <a:cxnLst/>
              <a:rect l="l" t="t" r="r" b="b"/>
              <a:pathLst>
                <a:path w="226568" h="226568">
                  <a:moveTo>
                    <a:pt x="113284" y="0"/>
                  </a:moveTo>
                  <a:cubicBezTo>
                    <a:pt x="50673" y="0"/>
                    <a:pt x="0" y="50673"/>
                    <a:pt x="0" y="113284"/>
                  </a:cubicBezTo>
                  <a:cubicBezTo>
                    <a:pt x="0" y="175895"/>
                    <a:pt x="50673" y="226568"/>
                    <a:pt x="113284" y="226568"/>
                  </a:cubicBezTo>
                  <a:cubicBezTo>
                    <a:pt x="175895" y="226568"/>
                    <a:pt x="226568" y="175895"/>
                    <a:pt x="226568" y="113284"/>
                  </a:cubicBezTo>
                  <a:cubicBezTo>
                    <a:pt x="226568" y="50673"/>
                    <a:pt x="175768" y="0"/>
                    <a:pt x="113284" y="0"/>
                  </a:cubicBezTo>
                  <a:close/>
                </a:path>
              </a:pathLst>
            </a:custGeom>
            <a:solidFill>
              <a:srgbClr val="51A681"/>
            </a:solidFill>
          </p:spPr>
          <p:txBody>
            <a:bodyPr/>
            <a:lstStyle/>
            <a:p>
              <a:endParaRPr lang="en-GB"/>
            </a:p>
          </p:txBody>
        </p:sp>
      </p:grpSp>
      <p:grpSp>
        <p:nvGrpSpPr>
          <p:cNvPr id="7" name="Group 7"/>
          <p:cNvGrpSpPr/>
          <p:nvPr/>
        </p:nvGrpSpPr>
        <p:grpSpPr>
          <a:xfrm>
            <a:off x="15109013" y="433695"/>
            <a:ext cx="169903" cy="169903"/>
            <a:chOff x="0" y="0"/>
            <a:chExt cx="226537" cy="226537"/>
          </a:xfrm>
        </p:grpSpPr>
        <p:sp>
          <p:nvSpPr>
            <p:cNvPr id="8" name="Freeform 8"/>
            <p:cNvSpPr/>
            <p:nvPr/>
          </p:nvSpPr>
          <p:spPr>
            <a:xfrm>
              <a:off x="0" y="0"/>
              <a:ext cx="226568" cy="226568"/>
            </a:xfrm>
            <a:custGeom>
              <a:avLst/>
              <a:gdLst/>
              <a:ahLst/>
              <a:cxnLst/>
              <a:rect l="l" t="t" r="r" b="b"/>
              <a:pathLst>
                <a:path w="226568" h="226568">
                  <a:moveTo>
                    <a:pt x="113284" y="0"/>
                  </a:moveTo>
                  <a:cubicBezTo>
                    <a:pt x="50673" y="0"/>
                    <a:pt x="0" y="50673"/>
                    <a:pt x="0" y="113284"/>
                  </a:cubicBezTo>
                  <a:cubicBezTo>
                    <a:pt x="0" y="175895"/>
                    <a:pt x="50673" y="226568"/>
                    <a:pt x="113284" y="226568"/>
                  </a:cubicBezTo>
                  <a:cubicBezTo>
                    <a:pt x="175895" y="226568"/>
                    <a:pt x="226568" y="175895"/>
                    <a:pt x="226568" y="113284"/>
                  </a:cubicBezTo>
                  <a:cubicBezTo>
                    <a:pt x="226568" y="50673"/>
                    <a:pt x="175768" y="0"/>
                    <a:pt x="113284" y="0"/>
                  </a:cubicBezTo>
                  <a:close/>
                </a:path>
              </a:pathLst>
            </a:custGeom>
            <a:solidFill>
              <a:srgbClr val="51A681"/>
            </a:solidFill>
          </p:spPr>
          <p:txBody>
            <a:bodyPr/>
            <a:lstStyle/>
            <a:p>
              <a:endParaRPr lang="en-GB"/>
            </a:p>
          </p:txBody>
        </p:sp>
      </p:grpSp>
      <p:grpSp>
        <p:nvGrpSpPr>
          <p:cNvPr id="9" name="Group 9"/>
          <p:cNvGrpSpPr/>
          <p:nvPr/>
        </p:nvGrpSpPr>
        <p:grpSpPr>
          <a:xfrm>
            <a:off x="5972977" y="9762345"/>
            <a:ext cx="169903" cy="169903"/>
            <a:chOff x="0" y="0"/>
            <a:chExt cx="226537" cy="226537"/>
          </a:xfrm>
        </p:grpSpPr>
        <p:sp>
          <p:nvSpPr>
            <p:cNvPr id="10" name="Freeform 10"/>
            <p:cNvSpPr/>
            <p:nvPr/>
          </p:nvSpPr>
          <p:spPr>
            <a:xfrm>
              <a:off x="0" y="0"/>
              <a:ext cx="226568" cy="226568"/>
            </a:xfrm>
            <a:custGeom>
              <a:avLst/>
              <a:gdLst/>
              <a:ahLst/>
              <a:cxnLst/>
              <a:rect l="l" t="t" r="r" b="b"/>
              <a:pathLst>
                <a:path w="226568" h="226568">
                  <a:moveTo>
                    <a:pt x="113284" y="0"/>
                  </a:moveTo>
                  <a:cubicBezTo>
                    <a:pt x="50673" y="0"/>
                    <a:pt x="0" y="50673"/>
                    <a:pt x="0" y="113284"/>
                  </a:cubicBezTo>
                  <a:cubicBezTo>
                    <a:pt x="0" y="175895"/>
                    <a:pt x="50673" y="226568"/>
                    <a:pt x="113284" y="226568"/>
                  </a:cubicBezTo>
                  <a:cubicBezTo>
                    <a:pt x="175895" y="226568"/>
                    <a:pt x="226568" y="175895"/>
                    <a:pt x="226568" y="113284"/>
                  </a:cubicBezTo>
                  <a:cubicBezTo>
                    <a:pt x="226568" y="50673"/>
                    <a:pt x="175768" y="0"/>
                    <a:pt x="113284" y="0"/>
                  </a:cubicBezTo>
                  <a:close/>
                </a:path>
              </a:pathLst>
            </a:custGeom>
            <a:solidFill>
              <a:srgbClr val="F7CD34"/>
            </a:solidFill>
          </p:spPr>
          <p:txBody>
            <a:bodyPr/>
            <a:lstStyle/>
            <a:p>
              <a:endParaRPr lang="en-GB"/>
            </a:p>
          </p:txBody>
        </p:sp>
      </p:grpSp>
      <p:grpSp>
        <p:nvGrpSpPr>
          <p:cNvPr id="11" name="Group 11"/>
          <p:cNvGrpSpPr/>
          <p:nvPr/>
        </p:nvGrpSpPr>
        <p:grpSpPr>
          <a:xfrm>
            <a:off x="14619630" y="9592442"/>
            <a:ext cx="169903" cy="169903"/>
            <a:chOff x="0" y="0"/>
            <a:chExt cx="226537" cy="226537"/>
          </a:xfrm>
        </p:grpSpPr>
        <p:sp>
          <p:nvSpPr>
            <p:cNvPr id="12" name="Freeform 12"/>
            <p:cNvSpPr/>
            <p:nvPr/>
          </p:nvSpPr>
          <p:spPr>
            <a:xfrm>
              <a:off x="0" y="0"/>
              <a:ext cx="226568" cy="226568"/>
            </a:xfrm>
            <a:custGeom>
              <a:avLst/>
              <a:gdLst/>
              <a:ahLst/>
              <a:cxnLst/>
              <a:rect l="l" t="t" r="r" b="b"/>
              <a:pathLst>
                <a:path w="226568" h="226568">
                  <a:moveTo>
                    <a:pt x="113284" y="0"/>
                  </a:moveTo>
                  <a:cubicBezTo>
                    <a:pt x="50673" y="0"/>
                    <a:pt x="0" y="50673"/>
                    <a:pt x="0" y="113284"/>
                  </a:cubicBezTo>
                  <a:cubicBezTo>
                    <a:pt x="0" y="175895"/>
                    <a:pt x="50673" y="226568"/>
                    <a:pt x="113284" y="226568"/>
                  </a:cubicBezTo>
                  <a:cubicBezTo>
                    <a:pt x="175895" y="226568"/>
                    <a:pt x="226568" y="175895"/>
                    <a:pt x="226568" y="113284"/>
                  </a:cubicBezTo>
                  <a:cubicBezTo>
                    <a:pt x="226568" y="50673"/>
                    <a:pt x="175768" y="0"/>
                    <a:pt x="113284" y="0"/>
                  </a:cubicBezTo>
                  <a:close/>
                </a:path>
              </a:pathLst>
            </a:custGeom>
            <a:solidFill>
              <a:srgbClr val="F7CD34"/>
            </a:solidFill>
          </p:spPr>
          <p:txBody>
            <a:bodyPr/>
            <a:lstStyle/>
            <a:p>
              <a:endParaRPr lang="en-GB"/>
            </a:p>
          </p:txBody>
        </p:sp>
      </p:grpSp>
      <p:sp>
        <p:nvSpPr>
          <p:cNvPr id="13" name="TextBox 13"/>
          <p:cNvSpPr txBox="1"/>
          <p:nvPr/>
        </p:nvSpPr>
        <p:spPr>
          <a:xfrm>
            <a:off x="-1375458" y="205781"/>
            <a:ext cx="18288000" cy="1369614"/>
          </a:xfrm>
          <a:prstGeom prst="rect">
            <a:avLst/>
          </a:prstGeom>
        </p:spPr>
        <p:txBody>
          <a:bodyPr lIns="0" tIns="0" rIns="0" bIns="0" rtlCol="0" anchor="t">
            <a:spAutoFit/>
          </a:bodyPr>
          <a:lstStyle/>
          <a:p>
            <a:pPr algn="ctr">
              <a:lnSpc>
                <a:spcPts val="10079"/>
              </a:lnSpc>
            </a:pPr>
            <a:r>
              <a:rPr lang="en-US" sz="7198" b="1">
                <a:solidFill>
                  <a:srgbClr val="C3EDFE"/>
                </a:solidFill>
                <a:latin typeface="FH Lecturis Rounded Test Bold"/>
                <a:ea typeface="FH Lecturis Rounded Test Bold"/>
                <a:cs typeface="FH Lecturis Rounded Test Bold"/>
                <a:sym typeface="FH Lecturis Rounded Test Bold"/>
              </a:rPr>
              <a:t>Access FREE Practice Tests </a:t>
            </a:r>
          </a:p>
        </p:txBody>
      </p:sp>
      <p:grpSp>
        <p:nvGrpSpPr>
          <p:cNvPr id="14" name="Group 14"/>
          <p:cNvGrpSpPr/>
          <p:nvPr/>
        </p:nvGrpSpPr>
        <p:grpSpPr>
          <a:xfrm rot="-5400000">
            <a:off x="0" y="784084"/>
            <a:ext cx="1199085" cy="1199085"/>
            <a:chOff x="0" y="0"/>
            <a:chExt cx="1598780" cy="1598780"/>
          </a:xfrm>
        </p:grpSpPr>
        <p:grpSp>
          <p:nvGrpSpPr>
            <p:cNvPr id="15" name="Group 15"/>
            <p:cNvGrpSpPr/>
            <p:nvPr/>
          </p:nvGrpSpPr>
          <p:grpSpPr>
            <a:xfrm>
              <a:off x="0" y="799390"/>
              <a:ext cx="799390" cy="799390"/>
              <a:chOff x="0" y="0"/>
              <a:chExt cx="338164" cy="338164"/>
            </a:xfrm>
          </p:grpSpPr>
          <p:sp>
            <p:nvSpPr>
              <p:cNvPr id="16" name="Freeform 16"/>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17" name="TextBox 17"/>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nvGrpSpPr>
            <p:cNvPr id="18" name="Group 18"/>
            <p:cNvGrpSpPr/>
            <p:nvPr/>
          </p:nvGrpSpPr>
          <p:grpSpPr>
            <a:xfrm>
              <a:off x="799390" y="0"/>
              <a:ext cx="799390" cy="799390"/>
              <a:chOff x="0" y="0"/>
              <a:chExt cx="338164" cy="338164"/>
            </a:xfrm>
          </p:grpSpPr>
          <p:sp>
            <p:nvSpPr>
              <p:cNvPr id="19" name="Freeform 19"/>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20" name="TextBox 20"/>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sp>
        <p:nvSpPr>
          <p:cNvPr id="21" name="Freeform 21"/>
          <p:cNvSpPr/>
          <p:nvPr/>
        </p:nvSpPr>
        <p:spPr>
          <a:xfrm>
            <a:off x="14795959" y="110794"/>
            <a:ext cx="3352981" cy="673289"/>
          </a:xfrm>
          <a:custGeom>
            <a:avLst/>
            <a:gdLst/>
            <a:ahLst/>
            <a:cxnLst/>
            <a:rect l="l" t="t" r="r" b="b"/>
            <a:pathLst>
              <a:path w="3352981" h="673289">
                <a:moveTo>
                  <a:pt x="0" y="0"/>
                </a:moveTo>
                <a:lnTo>
                  <a:pt x="3352981" y="0"/>
                </a:lnTo>
                <a:lnTo>
                  <a:pt x="3352981" y="673290"/>
                </a:lnTo>
                <a:lnTo>
                  <a:pt x="0" y="673290"/>
                </a:lnTo>
                <a:lnTo>
                  <a:pt x="0" y="0"/>
                </a:lnTo>
                <a:close/>
              </a:path>
            </a:pathLst>
          </a:custGeom>
          <a:blipFill>
            <a:blip r:embed="rId3"/>
            <a:stretch>
              <a:fillRect/>
            </a:stretch>
          </a:blipFill>
        </p:spPr>
        <p:txBody>
          <a:bodyPr/>
          <a:lstStyle/>
          <a:p>
            <a:endParaRPr lang="en-GB"/>
          </a:p>
        </p:txBody>
      </p:sp>
      <p:sp>
        <p:nvSpPr>
          <p:cNvPr id="22" name="Freeform 22"/>
          <p:cNvSpPr/>
          <p:nvPr/>
        </p:nvSpPr>
        <p:spPr>
          <a:xfrm>
            <a:off x="4860926" y="2757077"/>
            <a:ext cx="9415530" cy="7320575"/>
          </a:xfrm>
          <a:custGeom>
            <a:avLst/>
            <a:gdLst/>
            <a:ahLst/>
            <a:cxnLst/>
            <a:rect l="l" t="t" r="r" b="b"/>
            <a:pathLst>
              <a:path w="9415530" h="7320575">
                <a:moveTo>
                  <a:pt x="0" y="0"/>
                </a:moveTo>
                <a:lnTo>
                  <a:pt x="9415531" y="0"/>
                </a:lnTo>
                <a:lnTo>
                  <a:pt x="9415531" y="7320575"/>
                </a:lnTo>
                <a:lnTo>
                  <a:pt x="0" y="7320575"/>
                </a:lnTo>
                <a:lnTo>
                  <a:pt x="0" y="0"/>
                </a:lnTo>
                <a:close/>
              </a:path>
            </a:pathLst>
          </a:custGeom>
          <a:blipFill>
            <a:blip r:embed="rId4"/>
            <a:stretch>
              <a:fillRect/>
            </a:stretch>
          </a:blipFill>
        </p:spPr>
        <p:txBody>
          <a:bodyPr/>
          <a:lstStyle/>
          <a:p>
            <a:endParaRPr lang="en-GB"/>
          </a:p>
        </p:txBody>
      </p:sp>
      <p:sp>
        <p:nvSpPr>
          <p:cNvPr id="23" name="TextBox 23"/>
          <p:cNvSpPr txBox="1"/>
          <p:nvPr/>
        </p:nvSpPr>
        <p:spPr>
          <a:xfrm>
            <a:off x="0" y="1980669"/>
            <a:ext cx="18288000" cy="2091691"/>
          </a:xfrm>
          <a:prstGeom prst="rect">
            <a:avLst/>
          </a:prstGeom>
        </p:spPr>
        <p:txBody>
          <a:bodyPr lIns="0" tIns="0" rIns="0" bIns="0" rtlCol="0" anchor="t">
            <a:spAutoFit/>
          </a:bodyPr>
          <a:lstStyle/>
          <a:p>
            <a:pPr algn="ctr">
              <a:lnSpc>
                <a:spcPts val="5398"/>
              </a:lnSpc>
            </a:pPr>
            <a:r>
              <a:rPr lang="en-US" sz="3550">
                <a:solidFill>
                  <a:srgbClr val="000000"/>
                </a:solidFill>
                <a:latin typeface="Tahoma"/>
                <a:ea typeface="Tahoma"/>
                <a:cs typeface="Tahoma"/>
                <a:sym typeface="Tahoma"/>
              </a:rPr>
              <a:t>Go to </a:t>
            </a:r>
            <a:r>
              <a:rPr lang="en-US" sz="3550" u="sng">
                <a:solidFill>
                  <a:srgbClr val="0000FF"/>
                </a:solidFill>
                <a:latin typeface="Tahoma"/>
                <a:ea typeface="Tahoma"/>
                <a:cs typeface="Tahoma"/>
                <a:sym typeface="Tahoma"/>
                <a:hlinkClick r:id="rId5" tooltip="https://bcu.careercentre.me/Resources/CustomPage/28573"/>
              </a:rPr>
              <a:t>Careers+ Website: Psychometric Page</a:t>
            </a:r>
            <a:r>
              <a:rPr lang="en-US" sz="3550">
                <a:solidFill>
                  <a:srgbClr val="000000"/>
                </a:solidFill>
                <a:latin typeface="Tahoma"/>
                <a:ea typeface="Tahoma"/>
                <a:cs typeface="Tahoma"/>
                <a:sym typeface="Tahoma"/>
              </a:rPr>
              <a:t> - click on </a:t>
            </a:r>
            <a:r>
              <a:rPr lang="en-US" sz="3550" b="1">
                <a:solidFill>
                  <a:srgbClr val="000000"/>
                </a:solidFill>
                <a:latin typeface="Tahoma Bold"/>
                <a:ea typeface="Tahoma Bold"/>
                <a:cs typeface="Tahoma Bold"/>
                <a:sym typeface="Tahoma Bold"/>
              </a:rPr>
              <a:t>Graduates First</a:t>
            </a:r>
          </a:p>
          <a:p>
            <a:pPr algn="l">
              <a:lnSpc>
                <a:spcPts val="5398"/>
              </a:lnSpc>
            </a:pPr>
            <a:endParaRPr lang="en-US" sz="3550" b="1">
              <a:solidFill>
                <a:srgbClr val="000000"/>
              </a:solidFill>
              <a:latin typeface="Tahoma Bold"/>
              <a:ea typeface="Tahoma Bold"/>
              <a:cs typeface="Tahoma Bold"/>
              <a:sym typeface="Tahoma Bold"/>
            </a:endParaRPr>
          </a:p>
          <a:p>
            <a:pPr algn="l">
              <a:lnSpc>
                <a:spcPts val="5398"/>
              </a:lnSpc>
            </a:pPr>
            <a:endParaRPr lang="en-US" sz="3550" b="1">
              <a:solidFill>
                <a:srgbClr val="000000"/>
              </a:solidFill>
              <a:latin typeface="Tahoma Bold"/>
              <a:ea typeface="Tahoma Bold"/>
              <a:cs typeface="Tahoma Bold"/>
              <a:sym typeface="Tahoma Bo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2F50"/>
        </a:solidFill>
        <a:effectLst/>
      </p:bgPr>
    </p:bg>
    <p:spTree>
      <p:nvGrpSpPr>
        <p:cNvPr id="1" name=""/>
        <p:cNvGrpSpPr/>
        <p:nvPr/>
      </p:nvGrpSpPr>
      <p:grpSpPr>
        <a:xfrm>
          <a:off x="0" y="0"/>
          <a:ext cx="0" cy="0"/>
          <a:chOff x="0" y="0"/>
          <a:chExt cx="0" cy="0"/>
        </a:xfrm>
      </p:grpSpPr>
      <p:sp>
        <p:nvSpPr>
          <p:cNvPr id="2" name="TextBox 2"/>
          <p:cNvSpPr txBox="1"/>
          <p:nvPr/>
        </p:nvSpPr>
        <p:spPr>
          <a:xfrm>
            <a:off x="2642623" y="187964"/>
            <a:ext cx="13002389" cy="1395721"/>
          </a:xfrm>
          <a:prstGeom prst="rect">
            <a:avLst/>
          </a:prstGeom>
        </p:spPr>
        <p:txBody>
          <a:bodyPr lIns="0" tIns="0" rIns="0" bIns="0" rtlCol="0" anchor="t">
            <a:spAutoFit/>
          </a:bodyPr>
          <a:lstStyle/>
          <a:p>
            <a:pPr algn="ctr">
              <a:lnSpc>
                <a:spcPts val="10219"/>
              </a:lnSpc>
            </a:pPr>
            <a:r>
              <a:rPr lang="en-US" sz="7298" b="1">
                <a:solidFill>
                  <a:srgbClr val="C3EDFE"/>
                </a:solidFill>
                <a:latin typeface="FH Lecturis Rounded Test Bold"/>
                <a:ea typeface="FH Lecturis Rounded Test Bold"/>
                <a:cs typeface="FH Lecturis Rounded Test Bold"/>
                <a:sym typeface="FH Lecturis Rounded Test Bold"/>
              </a:rPr>
              <a:t>Different routes in your sector</a:t>
            </a:r>
          </a:p>
        </p:txBody>
      </p:sp>
      <p:grpSp>
        <p:nvGrpSpPr>
          <p:cNvPr id="3" name="Group 3"/>
          <p:cNvGrpSpPr/>
          <p:nvPr/>
        </p:nvGrpSpPr>
        <p:grpSpPr>
          <a:xfrm>
            <a:off x="0" y="2037196"/>
            <a:ext cx="18288000" cy="8326004"/>
            <a:chOff x="0" y="0"/>
            <a:chExt cx="5683590" cy="2192857"/>
          </a:xfrm>
        </p:grpSpPr>
        <p:sp>
          <p:nvSpPr>
            <p:cNvPr id="4" name="Freeform 4"/>
            <p:cNvSpPr/>
            <p:nvPr/>
          </p:nvSpPr>
          <p:spPr>
            <a:xfrm>
              <a:off x="0" y="0"/>
              <a:ext cx="5683590" cy="2192857"/>
            </a:xfrm>
            <a:custGeom>
              <a:avLst/>
              <a:gdLst/>
              <a:ahLst/>
              <a:cxnLst/>
              <a:rect l="l" t="t" r="r" b="b"/>
              <a:pathLst>
                <a:path w="5683590" h="2192857">
                  <a:moveTo>
                    <a:pt x="0" y="0"/>
                  </a:moveTo>
                  <a:lnTo>
                    <a:pt x="5683590" y="0"/>
                  </a:lnTo>
                  <a:lnTo>
                    <a:pt x="5683590" y="2192857"/>
                  </a:lnTo>
                  <a:lnTo>
                    <a:pt x="0" y="2192857"/>
                  </a:lnTo>
                  <a:close/>
                </a:path>
              </a:pathLst>
            </a:custGeom>
            <a:solidFill>
              <a:srgbClr val="FFF3DE"/>
            </a:solidFill>
          </p:spPr>
          <p:txBody>
            <a:bodyPr/>
            <a:lstStyle/>
            <a:p>
              <a:endParaRPr lang="en-GB"/>
            </a:p>
          </p:txBody>
        </p:sp>
        <p:sp>
          <p:nvSpPr>
            <p:cNvPr id="5" name="TextBox 5"/>
            <p:cNvSpPr txBox="1"/>
            <p:nvPr/>
          </p:nvSpPr>
          <p:spPr>
            <a:xfrm>
              <a:off x="0" y="-95250"/>
              <a:ext cx="5683590" cy="2288107"/>
            </a:xfrm>
            <a:prstGeom prst="rect">
              <a:avLst/>
            </a:prstGeom>
          </p:spPr>
          <p:txBody>
            <a:bodyPr lIns="50800" tIns="50800" rIns="50800" bIns="50800" rtlCol="0" anchor="ctr"/>
            <a:lstStyle/>
            <a:p>
              <a:pPr algn="ctr">
                <a:lnSpc>
                  <a:spcPts val="3500"/>
                </a:lnSpc>
              </a:pPr>
              <a:endParaRPr/>
            </a:p>
          </p:txBody>
        </p:sp>
      </p:grpSp>
      <p:sp>
        <p:nvSpPr>
          <p:cNvPr id="6" name="TextBox 6"/>
          <p:cNvSpPr txBox="1"/>
          <p:nvPr/>
        </p:nvSpPr>
        <p:spPr>
          <a:xfrm>
            <a:off x="1515064" y="2304543"/>
            <a:ext cx="15708504" cy="1965880"/>
          </a:xfrm>
          <a:prstGeom prst="rect">
            <a:avLst/>
          </a:prstGeom>
        </p:spPr>
        <p:txBody>
          <a:bodyPr lIns="0" tIns="0" rIns="0" bIns="0" rtlCol="0" anchor="t">
            <a:spAutoFit/>
          </a:bodyPr>
          <a:lstStyle/>
          <a:p>
            <a:pPr algn="just">
              <a:lnSpc>
                <a:spcPts val="5098"/>
              </a:lnSpc>
            </a:pPr>
            <a:r>
              <a:rPr lang="en-US" sz="3399" dirty="0">
                <a:solidFill>
                  <a:srgbClr val="000000"/>
                </a:solidFill>
                <a:latin typeface="DIN Offc 1"/>
                <a:ea typeface="DIN Offc 1"/>
                <a:cs typeface="DIN Offc 1"/>
                <a:sym typeface="DIN Offc 1"/>
              </a:rPr>
              <a:t>In addition to work experience, you can explore your career options in various ways..</a:t>
            </a:r>
          </a:p>
          <a:p>
            <a:pPr algn="just">
              <a:lnSpc>
                <a:spcPts val="5098"/>
              </a:lnSpc>
            </a:pPr>
            <a:endParaRPr lang="en-US" sz="3399" dirty="0">
              <a:solidFill>
                <a:srgbClr val="000000"/>
              </a:solidFill>
              <a:latin typeface="DIN Offc 1"/>
              <a:ea typeface="DIN Offc 1"/>
              <a:cs typeface="DIN Offc 1"/>
              <a:sym typeface="DIN Offc 1"/>
            </a:endParaRPr>
          </a:p>
        </p:txBody>
      </p:sp>
      <p:grpSp>
        <p:nvGrpSpPr>
          <p:cNvPr id="7" name="Group 7"/>
          <p:cNvGrpSpPr>
            <a:grpSpLocks noChangeAspect="1"/>
          </p:cNvGrpSpPr>
          <p:nvPr/>
        </p:nvGrpSpPr>
        <p:grpSpPr>
          <a:xfrm>
            <a:off x="4520330" y="3345147"/>
            <a:ext cx="9697973" cy="7018053"/>
            <a:chOff x="0" y="0"/>
            <a:chExt cx="10801549" cy="7816669"/>
          </a:xfrm>
        </p:grpSpPr>
        <p:sp>
          <p:nvSpPr>
            <p:cNvPr id="8" name="Freeform 8" descr="A cartoon of a person holding a clipboard and pointing at a sign  Description automatically generated"/>
            <p:cNvSpPr/>
            <p:nvPr/>
          </p:nvSpPr>
          <p:spPr>
            <a:xfrm>
              <a:off x="0" y="0"/>
              <a:ext cx="10801604" cy="7816723"/>
            </a:xfrm>
            <a:custGeom>
              <a:avLst/>
              <a:gdLst/>
              <a:ahLst/>
              <a:cxnLst/>
              <a:rect l="l" t="t" r="r" b="b"/>
              <a:pathLst>
                <a:path w="10801604" h="7816723">
                  <a:moveTo>
                    <a:pt x="0" y="0"/>
                  </a:moveTo>
                  <a:lnTo>
                    <a:pt x="10801604" y="0"/>
                  </a:lnTo>
                  <a:lnTo>
                    <a:pt x="10801604" y="7816723"/>
                  </a:lnTo>
                  <a:lnTo>
                    <a:pt x="0" y="7816723"/>
                  </a:lnTo>
                  <a:lnTo>
                    <a:pt x="0" y="0"/>
                  </a:lnTo>
                  <a:close/>
                </a:path>
              </a:pathLst>
            </a:custGeom>
            <a:blipFill>
              <a:blip r:embed="rId2"/>
              <a:stretch>
                <a:fillRect l="-54265" t="-31378" r="-59035" b="-34418"/>
              </a:stretch>
            </a:blipFill>
          </p:spPr>
          <p:txBody>
            <a:bodyPr/>
            <a:lstStyle/>
            <a:p>
              <a:endParaRPr lang="en-GB"/>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3E0"/>
        </a:solidFill>
        <a:effectLst/>
      </p:bgPr>
    </p:bg>
    <p:spTree>
      <p:nvGrpSpPr>
        <p:cNvPr id="1" name=""/>
        <p:cNvGrpSpPr/>
        <p:nvPr/>
      </p:nvGrpSpPr>
      <p:grpSpPr>
        <a:xfrm>
          <a:off x="0" y="0"/>
          <a:ext cx="0" cy="0"/>
          <a:chOff x="0" y="0"/>
          <a:chExt cx="0" cy="0"/>
        </a:xfrm>
      </p:grpSpPr>
      <p:grpSp>
        <p:nvGrpSpPr>
          <p:cNvPr id="8" name="Group 6">
            <a:extLst>
              <a:ext uri="{FF2B5EF4-FFF2-40B4-BE49-F238E27FC236}">
                <a16:creationId xmlns:a16="http://schemas.microsoft.com/office/drawing/2014/main" id="{D1C1EB2E-F1CF-D877-28F5-2063D8230FFA}"/>
              </a:ext>
            </a:extLst>
          </p:cNvPr>
          <p:cNvGrpSpPr/>
          <p:nvPr/>
        </p:nvGrpSpPr>
        <p:grpSpPr>
          <a:xfrm>
            <a:off x="0" y="0"/>
            <a:ext cx="18288001" cy="1745353"/>
            <a:chOff x="0" y="0"/>
            <a:chExt cx="5133147" cy="747627"/>
          </a:xfrm>
        </p:grpSpPr>
        <p:sp>
          <p:nvSpPr>
            <p:cNvPr id="9" name="Freeform 7">
              <a:extLst>
                <a:ext uri="{FF2B5EF4-FFF2-40B4-BE49-F238E27FC236}">
                  <a16:creationId xmlns:a16="http://schemas.microsoft.com/office/drawing/2014/main" id="{1EEE0E21-74CF-F5CE-ED32-7B2F30241D4D}"/>
                </a:ext>
              </a:extLst>
            </p:cNvPr>
            <p:cNvSpPr/>
            <p:nvPr/>
          </p:nvSpPr>
          <p:spPr>
            <a:xfrm>
              <a:off x="0" y="0"/>
              <a:ext cx="5133147" cy="747627"/>
            </a:xfrm>
            <a:custGeom>
              <a:avLst/>
              <a:gdLst/>
              <a:ahLst/>
              <a:cxnLst/>
              <a:rect l="l" t="t" r="r" b="b"/>
              <a:pathLst>
                <a:path w="5133147" h="747627">
                  <a:moveTo>
                    <a:pt x="0" y="0"/>
                  </a:moveTo>
                  <a:lnTo>
                    <a:pt x="5133147" y="0"/>
                  </a:lnTo>
                  <a:lnTo>
                    <a:pt x="5133147" y="747627"/>
                  </a:lnTo>
                  <a:lnTo>
                    <a:pt x="0" y="747627"/>
                  </a:lnTo>
                  <a:close/>
                </a:path>
              </a:pathLst>
            </a:custGeom>
            <a:solidFill>
              <a:srgbClr val="002F50"/>
            </a:solidFill>
          </p:spPr>
          <p:txBody>
            <a:bodyPr/>
            <a:lstStyle/>
            <a:p>
              <a:endParaRPr lang="en-GB"/>
            </a:p>
          </p:txBody>
        </p:sp>
        <p:sp>
          <p:nvSpPr>
            <p:cNvPr id="10" name="TextBox 8">
              <a:extLst>
                <a:ext uri="{FF2B5EF4-FFF2-40B4-BE49-F238E27FC236}">
                  <a16:creationId xmlns:a16="http://schemas.microsoft.com/office/drawing/2014/main" id="{B9C6E781-7DF3-5F9C-2291-6F7C7379F0BB}"/>
                </a:ext>
              </a:extLst>
            </p:cNvPr>
            <p:cNvSpPr txBox="1"/>
            <p:nvPr/>
          </p:nvSpPr>
          <p:spPr>
            <a:xfrm>
              <a:off x="0" y="-95250"/>
              <a:ext cx="5133147" cy="842877"/>
            </a:xfrm>
            <a:prstGeom prst="rect">
              <a:avLst/>
            </a:prstGeom>
          </p:spPr>
          <p:txBody>
            <a:bodyPr lIns="50800" tIns="50800" rIns="50800" bIns="50800" rtlCol="0" anchor="ctr"/>
            <a:lstStyle/>
            <a:p>
              <a:pPr algn="ctr">
                <a:lnSpc>
                  <a:spcPts val="3500"/>
                </a:lnSpc>
              </a:pPr>
              <a:endParaRPr/>
            </a:p>
          </p:txBody>
        </p:sp>
      </p:grpSp>
      <p:sp>
        <p:nvSpPr>
          <p:cNvPr id="11" name="TextBox 14">
            <a:extLst>
              <a:ext uri="{FF2B5EF4-FFF2-40B4-BE49-F238E27FC236}">
                <a16:creationId xmlns:a16="http://schemas.microsoft.com/office/drawing/2014/main" id="{F8CCB62E-4F94-8DCD-B298-58FC8B095AFB}"/>
              </a:ext>
            </a:extLst>
          </p:cNvPr>
          <p:cNvSpPr txBox="1"/>
          <p:nvPr/>
        </p:nvSpPr>
        <p:spPr>
          <a:xfrm>
            <a:off x="-1" y="185436"/>
            <a:ext cx="15229682" cy="1374479"/>
          </a:xfrm>
          <a:prstGeom prst="rect">
            <a:avLst/>
          </a:prstGeom>
        </p:spPr>
        <p:txBody>
          <a:bodyPr wrap="square" lIns="0" tIns="0" rIns="0" bIns="0" rtlCol="0" anchor="t">
            <a:spAutoFit/>
          </a:bodyPr>
          <a:lstStyle/>
          <a:p>
            <a:pPr algn="ctr">
              <a:lnSpc>
                <a:spcPts val="11539"/>
              </a:lnSpc>
              <a:spcBef>
                <a:spcPct val="0"/>
              </a:spcBef>
            </a:pPr>
            <a:r>
              <a:rPr lang="en-US" sz="8242" b="1" dirty="0">
                <a:solidFill>
                  <a:srgbClr val="C3EDFE"/>
                </a:solidFill>
                <a:latin typeface="FH Lecturis Rounded Test Bold"/>
                <a:ea typeface="FH Lecturis Rounded Test Bold"/>
                <a:cs typeface="FH Lecturis Rounded Test Bold"/>
                <a:sym typeface="FH Lecturis Rounded Test Bold"/>
              </a:rPr>
              <a:t>What can you do extra</a:t>
            </a:r>
            <a:r>
              <a:rPr lang="en-US" sz="8242" b="1" dirty="0">
                <a:solidFill>
                  <a:srgbClr val="C3EDFE"/>
                </a:solidFill>
                <a:latin typeface="Agency FB" panose="020B0503020202020204" pitchFamily="34" charset="0"/>
                <a:ea typeface="FH Lecturis Rounded Test Bold"/>
                <a:cs typeface="FH Lecturis Rounded Test Bold"/>
                <a:sym typeface="FH Lecturis Rounded Test Bold"/>
              </a:rPr>
              <a:t>?</a:t>
            </a:r>
          </a:p>
        </p:txBody>
      </p:sp>
      <p:grpSp>
        <p:nvGrpSpPr>
          <p:cNvPr id="12" name="Group 7">
            <a:extLst>
              <a:ext uri="{FF2B5EF4-FFF2-40B4-BE49-F238E27FC236}">
                <a16:creationId xmlns:a16="http://schemas.microsoft.com/office/drawing/2014/main" id="{22BD6171-C8E7-BFA1-20AB-9B691374B1AE}"/>
              </a:ext>
            </a:extLst>
          </p:cNvPr>
          <p:cNvGrpSpPr/>
          <p:nvPr/>
        </p:nvGrpSpPr>
        <p:grpSpPr>
          <a:xfrm rot="-5400000">
            <a:off x="0" y="716653"/>
            <a:ext cx="1028700" cy="1028700"/>
            <a:chOff x="0" y="0"/>
            <a:chExt cx="1371600" cy="1371600"/>
          </a:xfrm>
        </p:grpSpPr>
        <p:grpSp>
          <p:nvGrpSpPr>
            <p:cNvPr id="13" name="Group 8">
              <a:extLst>
                <a:ext uri="{FF2B5EF4-FFF2-40B4-BE49-F238E27FC236}">
                  <a16:creationId xmlns:a16="http://schemas.microsoft.com/office/drawing/2014/main" id="{ACFD9842-E3D1-90A6-290A-E0C106F7A788}"/>
                </a:ext>
              </a:extLst>
            </p:cNvPr>
            <p:cNvGrpSpPr/>
            <p:nvPr/>
          </p:nvGrpSpPr>
          <p:grpSpPr>
            <a:xfrm>
              <a:off x="0" y="685800"/>
              <a:ext cx="685800" cy="685800"/>
              <a:chOff x="0" y="0"/>
              <a:chExt cx="338164" cy="338164"/>
            </a:xfrm>
          </p:grpSpPr>
          <p:sp>
            <p:nvSpPr>
              <p:cNvPr id="17" name="Freeform 9">
                <a:extLst>
                  <a:ext uri="{FF2B5EF4-FFF2-40B4-BE49-F238E27FC236}">
                    <a16:creationId xmlns:a16="http://schemas.microsoft.com/office/drawing/2014/main" id="{E6D5F916-E640-4DC5-DA5D-17011243B615}"/>
                  </a:ext>
                </a:extLst>
              </p:cNvPr>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18" name="TextBox 10">
                <a:extLst>
                  <a:ext uri="{FF2B5EF4-FFF2-40B4-BE49-F238E27FC236}">
                    <a16:creationId xmlns:a16="http://schemas.microsoft.com/office/drawing/2014/main" id="{FE9AA4FD-CD19-7681-DC7B-8E38AE019905}"/>
                  </a:ext>
                </a:extLst>
              </p:cNvPr>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nvGrpSpPr>
            <p:cNvPr id="14" name="Group 11">
              <a:extLst>
                <a:ext uri="{FF2B5EF4-FFF2-40B4-BE49-F238E27FC236}">
                  <a16:creationId xmlns:a16="http://schemas.microsoft.com/office/drawing/2014/main" id="{7EDA57F8-629D-A51E-34F5-7DF3A87349FE}"/>
                </a:ext>
              </a:extLst>
            </p:cNvPr>
            <p:cNvGrpSpPr/>
            <p:nvPr/>
          </p:nvGrpSpPr>
          <p:grpSpPr>
            <a:xfrm>
              <a:off x="685800" y="0"/>
              <a:ext cx="685800" cy="685800"/>
              <a:chOff x="0" y="0"/>
              <a:chExt cx="338164" cy="338164"/>
            </a:xfrm>
          </p:grpSpPr>
          <p:sp>
            <p:nvSpPr>
              <p:cNvPr id="15" name="Freeform 12">
                <a:extLst>
                  <a:ext uri="{FF2B5EF4-FFF2-40B4-BE49-F238E27FC236}">
                    <a16:creationId xmlns:a16="http://schemas.microsoft.com/office/drawing/2014/main" id="{A3DD82AA-4927-613E-4D42-B6EBFD93475C}"/>
                  </a:ext>
                </a:extLst>
              </p:cNvPr>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16" name="TextBox 13">
                <a:extLst>
                  <a:ext uri="{FF2B5EF4-FFF2-40B4-BE49-F238E27FC236}">
                    <a16:creationId xmlns:a16="http://schemas.microsoft.com/office/drawing/2014/main" id="{17A586AD-D3B1-72EF-36D6-BB3A8244DFA2}"/>
                  </a:ext>
                </a:extLst>
              </p:cNvPr>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sp>
        <p:nvSpPr>
          <p:cNvPr id="19" name="Freeform 15">
            <a:extLst>
              <a:ext uri="{FF2B5EF4-FFF2-40B4-BE49-F238E27FC236}">
                <a16:creationId xmlns:a16="http://schemas.microsoft.com/office/drawing/2014/main" id="{CAC80ED4-F634-FF4C-50F2-7841F261B166}"/>
              </a:ext>
            </a:extLst>
          </p:cNvPr>
          <p:cNvSpPr/>
          <p:nvPr/>
        </p:nvSpPr>
        <p:spPr>
          <a:xfrm>
            <a:off x="16230600" y="185436"/>
            <a:ext cx="1781329" cy="1559914"/>
          </a:xfrm>
          <a:custGeom>
            <a:avLst/>
            <a:gdLst/>
            <a:ahLst/>
            <a:cxnLst/>
            <a:rect l="l" t="t" r="r" b="b"/>
            <a:pathLst>
              <a:path w="2731666" h="2572733">
                <a:moveTo>
                  <a:pt x="0" y="0"/>
                </a:moveTo>
                <a:lnTo>
                  <a:pt x="2731666" y="0"/>
                </a:lnTo>
                <a:lnTo>
                  <a:pt x="2731666" y="2572733"/>
                </a:lnTo>
                <a:lnTo>
                  <a:pt x="0" y="257273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grpSp>
        <p:nvGrpSpPr>
          <p:cNvPr id="21" name="Group 2">
            <a:extLst>
              <a:ext uri="{FF2B5EF4-FFF2-40B4-BE49-F238E27FC236}">
                <a16:creationId xmlns:a16="http://schemas.microsoft.com/office/drawing/2014/main" id="{6D141D77-1557-79D5-606C-2932B8C4DD6B}"/>
              </a:ext>
            </a:extLst>
          </p:cNvPr>
          <p:cNvGrpSpPr/>
          <p:nvPr/>
        </p:nvGrpSpPr>
        <p:grpSpPr>
          <a:xfrm>
            <a:off x="-576" y="1071110"/>
            <a:ext cx="19203551" cy="9215890"/>
            <a:chOff x="-284537" y="-95250"/>
            <a:chExt cx="5968127" cy="2427230"/>
          </a:xfrm>
        </p:grpSpPr>
        <p:sp>
          <p:nvSpPr>
            <p:cNvPr id="22" name="Freeform 3">
              <a:extLst>
                <a:ext uri="{FF2B5EF4-FFF2-40B4-BE49-F238E27FC236}">
                  <a16:creationId xmlns:a16="http://schemas.microsoft.com/office/drawing/2014/main" id="{E167386B-512C-FFA8-108E-2C41AF494A0F}"/>
                </a:ext>
              </a:extLst>
            </p:cNvPr>
            <p:cNvSpPr/>
            <p:nvPr/>
          </p:nvSpPr>
          <p:spPr>
            <a:xfrm>
              <a:off x="-284537" y="90284"/>
              <a:ext cx="5683590" cy="2241696"/>
            </a:xfrm>
            <a:custGeom>
              <a:avLst/>
              <a:gdLst/>
              <a:ahLst/>
              <a:cxnLst/>
              <a:rect l="l" t="t" r="r" b="b"/>
              <a:pathLst>
                <a:path w="5683590" h="2192857">
                  <a:moveTo>
                    <a:pt x="0" y="0"/>
                  </a:moveTo>
                  <a:lnTo>
                    <a:pt x="5683590" y="0"/>
                  </a:lnTo>
                  <a:lnTo>
                    <a:pt x="5683590" y="2192857"/>
                  </a:lnTo>
                  <a:lnTo>
                    <a:pt x="0" y="2192857"/>
                  </a:lnTo>
                  <a:close/>
                </a:path>
              </a:pathLst>
            </a:custGeom>
            <a:solidFill>
              <a:srgbClr val="FFF3DE"/>
            </a:solidFill>
          </p:spPr>
          <p:txBody>
            <a:bodyPr/>
            <a:lstStyle/>
            <a:p>
              <a:endParaRPr lang="en-GB"/>
            </a:p>
          </p:txBody>
        </p:sp>
        <p:sp>
          <p:nvSpPr>
            <p:cNvPr id="23" name="TextBox 4">
              <a:extLst>
                <a:ext uri="{FF2B5EF4-FFF2-40B4-BE49-F238E27FC236}">
                  <a16:creationId xmlns:a16="http://schemas.microsoft.com/office/drawing/2014/main" id="{3C4FB680-A1D9-F0FD-9BB4-2E3F55F39772}"/>
                </a:ext>
              </a:extLst>
            </p:cNvPr>
            <p:cNvSpPr txBox="1"/>
            <p:nvPr/>
          </p:nvSpPr>
          <p:spPr>
            <a:xfrm>
              <a:off x="0" y="-95250"/>
              <a:ext cx="5683590" cy="2288107"/>
            </a:xfrm>
            <a:prstGeom prst="rect">
              <a:avLst/>
            </a:prstGeom>
          </p:spPr>
          <p:txBody>
            <a:bodyPr lIns="50800" tIns="50800" rIns="50800" bIns="50800" rtlCol="0" anchor="ctr"/>
            <a:lstStyle/>
            <a:p>
              <a:pPr algn="ctr">
                <a:lnSpc>
                  <a:spcPts val="3500"/>
                </a:lnSpc>
              </a:pPr>
              <a:endParaRPr/>
            </a:p>
          </p:txBody>
        </p:sp>
      </p:grpSp>
      <p:sp>
        <p:nvSpPr>
          <p:cNvPr id="20" name="Freeform 17">
            <a:extLst>
              <a:ext uri="{FF2B5EF4-FFF2-40B4-BE49-F238E27FC236}">
                <a16:creationId xmlns:a16="http://schemas.microsoft.com/office/drawing/2014/main" id="{4EA41631-3B2B-A875-F7AD-2F6F06CCFAA4}"/>
              </a:ext>
            </a:extLst>
          </p:cNvPr>
          <p:cNvSpPr/>
          <p:nvPr/>
        </p:nvSpPr>
        <p:spPr>
          <a:xfrm>
            <a:off x="12172709" y="3679797"/>
            <a:ext cx="4653531" cy="4518111"/>
          </a:xfrm>
          <a:custGeom>
            <a:avLst/>
            <a:gdLst/>
            <a:ahLst/>
            <a:cxnLst/>
            <a:rect l="l" t="t" r="r" b="b"/>
            <a:pathLst>
              <a:path w="4144945" h="4114800">
                <a:moveTo>
                  <a:pt x="0" y="0"/>
                </a:moveTo>
                <a:lnTo>
                  <a:pt x="4144945" y="0"/>
                </a:lnTo>
                <a:lnTo>
                  <a:pt x="4144945"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t="-19" b="-19"/>
            </a:stretch>
          </a:blipFill>
        </p:spPr>
        <p:txBody>
          <a:bodyPr/>
          <a:lstStyle/>
          <a:p>
            <a:endParaRPr lang="en-GB"/>
          </a:p>
        </p:txBody>
      </p:sp>
      <p:sp>
        <p:nvSpPr>
          <p:cNvPr id="3" name="TextBox 2">
            <a:extLst>
              <a:ext uri="{FF2B5EF4-FFF2-40B4-BE49-F238E27FC236}">
                <a16:creationId xmlns:a16="http://schemas.microsoft.com/office/drawing/2014/main" id="{BA1861A6-BC1B-7134-9E18-9CEF1A806B93}"/>
              </a:ext>
            </a:extLst>
          </p:cNvPr>
          <p:cNvSpPr txBox="1"/>
          <p:nvPr/>
        </p:nvSpPr>
        <p:spPr>
          <a:xfrm>
            <a:off x="828091" y="1982768"/>
            <a:ext cx="10574401" cy="7971413"/>
          </a:xfrm>
          <a:prstGeom prst="rect">
            <a:avLst/>
          </a:prstGeom>
          <a:noFill/>
        </p:spPr>
        <p:txBody>
          <a:bodyPr wrap="square">
            <a:spAutoFit/>
          </a:bodyPr>
          <a:lstStyle/>
          <a:p>
            <a:pPr marL="342900" indent="-342900">
              <a:buFont typeface="Arial" panose="020B0604020202020204" pitchFamily="34" charset="0"/>
              <a:buChar char="•"/>
            </a:pPr>
            <a:r>
              <a:rPr lang="en-GB" sz="3200" dirty="0"/>
              <a:t>Build real projects outside class (apps, cyber labs, networks, dashboards) and document them properly.</a:t>
            </a:r>
          </a:p>
          <a:p>
            <a:pPr marL="342900" indent="-342900">
              <a:buFont typeface="Arial" panose="020B0604020202020204" pitchFamily="34" charset="0"/>
              <a:buChar char="•"/>
            </a:pPr>
            <a:r>
              <a:rPr lang="en-GB" sz="3200" dirty="0"/>
              <a:t>Use GitHub consistently to store code, reports, and READMEs that explain what you built and why.</a:t>
            </a:r>
          </a:p>
          <a:p>
            <a:pPr marL="342900" indent="-342900">
              <a:buFont typeface="Arial" panose="020B0604020202020204" pitchFamily="34" charset="0"/>
              <a:buChar char="•"/>
            </a:pPr>
            <a:r>
              <a:rPr lang="en-GB" sz="3200" dirty="0"/>
              <a:t>Practice on industry platforms (</a:t>
            </a:r>
            <a:r>
              <a:rPr lang="en-GB" sz="3200" dirty="0" err="1"/>
              <a:t>TryHackMe</a:t>
            </a:r>
            <a:r>
              <a:rPr lang="en-GB" sz="3200" dirty="0"/>
              <a:t>, Hack The Box, Cisco Packet Tracer, Docker, Power BI, SQL).</a:t>
            </a:r>
          </a:p>
          <a:p>
            <a:pPr marL="342900" indent="-342900">
              <a:buFont typeface="Arial" panose="020B0604020202020204" pitchFamily="34" charset="0"/>
              <a:buChar char="•"/>
            </a:pPr>
            <a:r>
              <a:rPr lang="en-GB" sz="3200" dirty="0"/>
              <a:t>Create a home lab (cyber, networking, or systems) to gain hands-on technical experience.</a:t>
            </a:r>
          </a:p>
          <a:p>
            <a:pPr marL="342900" indent="-342900">
              <a:buFont typeface="Arial" panose="020B0604020202020204" pitchFamily="34" charset="0"/>
              <a:buChar char="•"/>
            </a:pPr>
            <a:r>
              <a:rPr lang="en-GB" sz="3200" dirty="0"/>
              <a:t>Earn 1–2 relevant entry-level certifications (e.g., CompTIA, Azure Fundamentals, ISC2 CC).</a:t>
            </a:r>
          </a:p>
          <a:p>
            <a:pPr marL="342900" indent="-342900">
              <a:buFont typeface="Arial" panose="020B0604020202020204" pitchFamily="34" charset="0"/>
              <a:buChar char="•"/>
            </a:pPr>
            <a:r>
              <a:rPr lang="en-GB" sz="3200" dirty="0"/>
              <a:t>Join hackathons, CTFs, or group projects to show teamwork and problem-solving skills.</a:t>
            </a:r>
          </a:p>
          <a:p>
            <a:pPr marL="342900" indent="-342900">
              <a:buFont typeface="Arial" panose="020B0604020202020204" pitchFamily="34" charset="0"/>
              <a:buChar char="•"/>
            </a:pPr>
            <a:r>
              <a:rPr lang="en-GB" sz="3200" dirty="0"/>
              <a:t>Develop a professional online presence (LinkedIn, GitHub, optional portfolio website).</a:t>
            </a:r>
          </a:p>
          <a:p>
            <a:pPr marL="342900" indent="-342900">
              <a:buFont typeface="Arial" panose="020B0604020202020204" pitchFamily="34" charset="0"/>
              <a:buChar char="•"/>
            </a:pPr>
            <a:r>
              <a:rPr lang="en-GB" sz="3200" dirty="0"/>
              <a:t>Learn to explain your work clearly—problem, solution, tools used, and improvements.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3F144D"/>
        </a:solidFill>
        <a:effectLst/>
      </p:bgPr>
    </p:bg>
    <p:spTree>
      <p:nvGrpSpPr>
        <p:cNvPr id="1" name=""/>
        <p:cNvGrpSpPr/>
        <p:nvPr/>
      </p:nvGrpSpPr>
      <p:grpSpPr>
        <a:xfrm>
          <a:off x="0" y="0"/>
          <a:ext cx="0" cy="0"/>
          <a:chOff x="0" y="0"/>
          <a:chExt cx="0" cy="0"/>
        </a:xfrm>
      </p:grpSpPr>
      <p:grpSp>
        <p:nvGrpSpPr>
          <p:cNvPr id="2" name="Group 2"/>
          <p:cNvGrpSpPr/>
          <p:nvPr/>
        </p:nvGrpSpPr>
        <p:grpSpPr>
          <a:xfrm>
            <a:off x="-1150708" y="-1891762"/>
            <a:ext cx="4536000" cy="453600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EF7BA1"/>
            </a:solidFill>
          </p:spPr>
          <p:txBody>
            <a:bodyPr/>
            <a:lstStyle/>
            <a:p>
              <a:endParaRPr lang="en-GB"/>
            </a:p>
          </p:txBody>
        </p:sp>
        <p:sp>
          <p:nvSpPr>
            <p:cNvPr id="4" name="TextBox 4"/>
            <p:cNvSpPr txBox="1"/>
            <p:nvPr/>
          </p:nvSpPr>
          <p:spPr>
            <a:xfrm>
              <a:off x="127000" y="-44450"/>
              <a:ext cx="558800" cy="730250"/>
            </a:xfrm>
            <a:prstGeom prst="rect">
              <a:avLst/>
            </a:prstGeom>
          </p:spPr>
          <p:txBody>
            <a:bodyPr lIns="50800" tIns="50800" rIns="50800" bIns="50800" rtlCol="0" anchor="ctr"/>
            <a:lstStyle/>
            <a:p>
              <a:pPr algn="ctr">
                <a:lnSpc>
                  <a:spcPts val="4900"/>
                </a:lnSpc>
              </a:pPr>
              <a:endParaRPr/>
            </a:p>
          </p:txBody>
        </p:sp>
      </p:grpSp>
      <p:sp>
        <p:nvSpPr>
          <p:cNvPr id="5" name="TextBox 5"/>
          <p:cNvSpPr txBox="1"/>
          <p:nvPr/>
        </p:nvSpPr>
        <p:spPr>
          <a:xfrm>
            <a:off x="1570500" y="471487"/>
            <a:ext cx="15147000" cy="1489091"/>
          </a:xfrm>
          <a:prstGeom prst="rect">
            <a:avLst/>
          </a:prstGeom>
        </p:spPr>
        <p:txBody>
          <a:bodyPr lIns="0" tIns="0" rIns="0" bIns="0" rtlCol="0" anchor="t">
            <a:spAutoFit/>
          </a:bodyPr>
          <a:lstStyle/>
          <a:p>
            <a:pPr algn="ctr">
              <a:lnSpc>
                <a:spcPts val="9500"/>
              </a:lnSpc>
            </a:pPr>
            <a:r>
              <a:rPr lang="en-US" sz="10000" b="1">
                <a:solidFill>
                  <a:srgbClr val="3F144D"/>
                </a:solidFill>
                <a:latin typeface="FH Lecturis Rounded Test Bold"/>
                <a:ea typeface="FH Lecturis Rounded Test Bold"/>
                <a:cs typeface="FH Lecturis Rounded Test Bold"/>
                <a:sym typeface="FH Lecturis Rounded Test Bold"/>
              </a:rPr>
              <a:t>Forage</a:t>
            </a:r>
          </a:p>
        </p:txBody>
      </p:sp>
      <p:grpSp>
        <p:nvGrpSpPr>
          <p:cNvPr id="6" name="Group 6"/>
          <p:cNvGrpSpPr/>
          <p:nvPr/>
        </p:nvGrpSpPr>
        <p:grpSpPr>
          <a:xfrm>
            <a:off x="14991300" y="-1825088"/>
            <a:ext cx="4536000" cy="4536000"/>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EF7BA1"/>
            </a:solidFill>
          </p:spPr>
          <p:txBody>
            <a:bodyPr/>
            <a:lstStyle/>
            <a:p>
              <a:endParaRPr lang="en-GB"/>
            </a:p>
          </p:txBody>
        </p:sp>
        <p:sp>
          <p:nvSpPr>
            <p:cNvPr id="8" name="TextBox 8"/>
            <p:cNvSpPr txBox="1"/>
            <p:nvPr/>
          </p:nvSpPr>
          <p:spPr>
            <a:xfrm>
              <a:off x="127000" y="-44450"/>
              <a:ext cx="558800" cy="730250"/>
            </a:xfrm>
            <a:prstGeom prst="rect">
              <a:avLst/>
            </a:prstGeom>
          </p:spPr>
          <p:txBody>
            <a:bodyPr lIns="50800" tIns="50800" rIns="50800" bIns="50800" rtlCol="0" anchor="ctr"/>
            <a:lstStyle/>
            <a:p>
              <a:pPr algn="ctr">
                <a:lnSpc>
                  <a:spcPts val="4900"/>
                </a:lnSpc>
              </a:pPr>
              <a:endParaRPr/>
            </a:p>
          </p:txBody>
        </p:sp>
      </p:grpSp>
      <p:grpSp>
        <p:nvGrpSpPr>
          <p:cNvPr id="9" name="Group 9"/>
          <p:cNvGrpSpPr/>
          <p:nvPr/>
        </p:nvGrpSpPr>
        <p:grpSpPr>
          <a:xfrm>
            <a:off x="-143880" y="2909655"/>
            <a:ext cx="18288000" cy="1225931"/>
            <a:chOff x="0" y="0"/>
            <a:chExt cx="1907767" cy="127887"/>
          </a:xfrm>
        </p:grpSpPr>
        <p:sp>
          <p:nvSpPr>
            <p:cNvPr id="10" name="Freeform 10"/>
            <p:cNvSpPr/>
            <p:nvPr/>
          </p:nvSpPr>
          <p:spPr>
            <a:xfrm>
              <a:off x="0" y="0"/>
              <a:ext cx="1907767" cy="127887"/>
            </a:xfrm>
            <a:custGeom>
              <a:avLst/>
              <a:gdLst/>
              <a:ahLst/>
              <a:cxnLst/>
              <a:rect l="l" t="t" r="r" b="b"/>
              <a:pathLst>
                <a:path w="1907767" h="127887">
                  <a:moveTo>
                    <a:pt x="1704567" y="0"/>
                  </a:moveTo>
                  <a:cubicBezTo>
                    <a:pt x="1816792" y="0"/>
                    <a:pt x="1907767" y="28628"/>
                    <a:pt x="1907767" y="63943"/>
                  </a:cubicBezTo>
                  <a:cubicBezTo>
                    <a:pt x="1907767" y="99258"/>
                    <a:pt x="1816792" y="127887"/>
                    <a:pt x="1704567" y="127887"/>
                  </a:cubicBezTo>
                  <a:lnTo>
                    <a:pt x="203200" y="127887"/>
                  </a:lnTo>
                  <a:cubicBezTo>
                    <a:pt x="90976" y="127887"/>
                    <a:pt x="0" y="99258"/>
                    <a:pt x="0" y="63943"/>
                  </a:cubicBezTo>
                  <a:cubicBezTo>
                    <a:pt x="0" y="28628"/>
                    <a:pt x="90976" y="0"/>
                    <a:pt x="203200" y="0"/>
                  </a:cubicBezTo>
                  <a:close/>
                </a:path>
              </a:pathLst>
            </a:custGeom>
            <a:solidFill>
              <a:srgbClr val="B9046B"/>
            </a:solidFill>
          </p:spPr>
          <p:txBody>
            <a:bodyPr/>
            <a:lstStyle/>
            <a:p>
              <a:endParaRPr lang="en-GB"/>
            </a:p>
          </p:txBody>
        </p:sp>
        <p:sp>
          <p:nvSpPr>
            <p:cNvPr id="11" name="TextBox 11"/>
            <p:cNvSpPr txBox="1"/>
            <p:nvPr/>
          </p:nvSpPr>
          <p:spPr>
            <a:xfrm>
              <a:off x="0" y="-247650"/>
              <a:ext cx="1907767" cy="375537"/>
            </a:xfrm>
            <a:prstGeom prst="rect">
              <a:avLst/>
            </a:prstGeom>
          </p:spPr>
          <p:txBody>
            <a:bodyPr lIns="50800" tIns="50800" rIns="50800" bIns="50800" rtlCol="0" anchor="ctr"/>
            <a:lstStyle/>
            <a:p>
              <a:pPr algn="ctr">
                <a:lnSpc>
                  <a:spcPts val="8959"/>
                </a:lnSpc>
              </a:pPr>
              <a:r>
                <a:rPr lang="en-US" sz="6399" b="1" dirty="0">
                  <a:solidFill>
                    <a:srgbClr val="FFFFFF"/>
                  </a:solidFill>
                  <a:latin typeface="FH Lecturis Rounded Test Bold"/>
                  <a:ea typeface="FH Lecturis Rounded Test Bold"/>
                  <a:cs typeface="FH Lecturis Rounded Test Bold"/>
                  <a:sym typeface="FH Lecturis Rounded Test Bold"/>
                </a:rPr>
                <a:t>Scan the QR code to get started</a:t>
              </a:r>
            </a:p>
          </p:txBody>
        </p:sp>
      </p:grpSp>
      <p:grpSp>
        <p:nvGrpSpPr>
          <p:cNvPr id="12" name="Group 12"/>
          <p:cNvGrpSpPr/>
          <p:nvPr/>
        </p:nvGrpSpPr>
        <p:grpSpPr>
          <a:xfrm>
            <a:off x="4473909" y="7527702"/>
            <a:ext cx="9843659" cy="1720660"/>
            <a:chOff x="0" y="-90488"/>
            <a:chExt cx="1979423" cy="346001"/>
          </a:xfrm>
        </p:grpSpPr>
        <p:sp>
          <p:nvSpPr>
            <p:cNvPr id="13" name="Freeform 13"/>
            <p:cNvSpPr/>
            <p:nvPr/>
          </p:nvSpPr>
          <p:spPr>
            <a:xfrm>
              <a:off x="0" y="0"/>
              <a:ext cx="1979423" cy="165026"/>
            </a:xfrm>
            <a:custGeom>
              <a:avLst/>
              <a:gdLst/>
              <a:ahLst/>
              <a:cxnLst/>
              <a:rect l="l" t="t" r="r" b="b"/>
              <a:pathLst>
                <a:path w="1979423" h="165026">
                  <a:moveTo>
                    <a:pt x="41684" y="0"/>
                  </a:moveTo>
                  <a:lnTo>
                    <a:pt x="1937739" y="0"/>
                  </a:lnTo>
                  <a:cubicBezTo>
                    <a:pt x="1960761" y="0"/>
                    <a:pt x="1979423" y="18663"/>
                    <a:pt x="1979423" y="41684"/>
                  </a:cubicBezTo>
                  <a:lnTo>
                    <a:pt x="1979423" y="123342"/>
                  </a:lnTo>
                  <a:cubicBezTo>
                    <a:pt x="1979423" y="146364"/>
                    <a:pt x="1960761" y="165026"/>
                    <a:pt x="1937739" y="165026"/>
                  </a:cubicBezTo>
                  <a:lnTo>
                    <a:pt x="41684" y="165026"/>
                  </a:lnTo>
                  <a:cubicBezTo>
                    <a:pt x="18663" y="165026"/>
                    <a:pt x="0" y="146364"/>
                    <a:pt x="0" y="123342"/>
                  </a:cubicBezTo>
                  <a:lnTo>
                    <a:pt x="0" y="41684"/>
                  </a:lnTo>
                  <a:cubicBezTo>
                    <a:pt x="0" y="18663"/>
                    <a:pt x="18663" y="0"/>
                    <a:pt x="41684" y="0"/>
                  </a:cubicBezTo>
                  <a:close/>
                </a:path>
              </a:pathLst>
            </a:custGeom>
            <a:solidFill>
              <a:srgbClr val="F5C3E5"/>
            </a:solidFill>
          </p:spPr>
          <p:txBody>
            <a:bodyPr/>
            <a:lstStyle/>
            <a:p>
              <a:endParaRPr lang="en-GB"/>
            </a:p>
          </p:txBody>
        </p:sp>
        <p:sp>
          <p:nvSpPr>
            <p:cNvPr id="14" name="TextBox 14"/>
            <p:cNvSpPr txBox="1"/>
            <p:nvPr/>
          </p:nvSpPr>
          <p:spPr>
            <a:xfrm>
              <a:off x="0" y="-90488"/>
              <a:ext cx="1979423" cy="346001"/>
            </a:xfrm>
            <a:prstGeom prst="rect">
              <a:avLst/>
            </a:prstGeom>
          </p:spPr>
          <p:txBody>
            <a:bodyPr lIns="50800" tIns="50800" rIns="50800" bIns="50800" rtlCol="0" anchor="ctr"/>
            <a:lstStyle/>
            <a:p>
              <a:pPr algn="ctr">
                <a:lnSpc>
                  <a:spcPts val="5599"/>
                </a:lnSpc>
              </a:pPr>
              <a:r>
                <a:rPr lang="en-US" sz="3999" dirty="0">
                  <a:solidFill>
                    <a:srgbClr val="000000"/>
                  </a:solidFill>
                  <a:latin typeface="DIN Offc 3"/>
                  <a:ea typeface="DIN Offc 3"/>
                  <a:cs typeface="DIN Offc 3"/>
                  <a:sym typeface="DIN Offc 3"/>
                </a:rPr>
                <a:t>No Applications or Experience required!</a:t>
              </a:r>
            </a:p>
          </p:txBody>
        </p:sp>
      </p:grpSp>
      <p:grpSp>
        <p:nvGrpSpPr>
          <p:cNvPr id="15" name="Group 15"/>
          <p:cNvGrpSpPr/>
          <p:nvPr/>
        </p:nvGrpSpPr>
        <p:grpSpPr>
          <a:xfrm>
            <a:off x="1228353" y="8941178"/>
            <a:ext cx="16334772" cy="751220"/>
            <a:chOff x="0" y="0"/>
            <a:chExt cx="3284695" cy="151060"/>
          </a:xfrm>
        </p:grpSpPr>
        <p:sp>
          <p:nvSpPr>
            <p:cNvPr id="16" name="Freeform 16"/>
            <p:cNvSpPr/>
            <p:nvPr/>
          </p:nvSpPr>
          <p:spPr>
            <a:xfrm>
              <a:off x="0" y="0"/>
              <a:ext cx="3284695" cy="151060"/>
            </a:xfrm>
            <a:custGeom>
              <a:avLst/>
              <a:gdLst/>
              <a:ahLst/>
              <a:cxnLst/>
              <a:rect l="l" t="t" r="r" b="b"/>
              <a:pathLst>
                <a:path w="3284695" h="151060">
                  <a:moveTo>
                    <a:pt x="25120" y="0"/>
                  </a:moveTo>
                  <a:lnTo>
                    <a:pt x="3259576" y="0"/>
                  </a:lnTo>
                  <a:cubicBezTo>
                    <a:pt x="3273449" y="0"/>
                    <a:pt x="3284695" y="11246"/>
                    <a:pt x="3284695" y="25120"/>
                  </a:cubicBezTo>
                  <a:lnTo>
                    <a:pt x="3284695" y="125940"/>
                  </a:lnTo>
                  <a:cubicBezTo>
                    <a:pt x="3284695" y="139814"/>
                    <a:pt x="3273449" y="151060"/>
                    <a:pt x="3259576" y="151060"/>
                  </a:cubicBezTo>
                  <a:lnTo>
                    <a:pt x="25120" y="151060"/>
                  </a:lnTo>
                  <a:cubicBezTo>
                    <a:pt x="11246" y="151060"/>
                    <a:pt x="0" y="139814"/>
                    <a:pt x="0" y="125940"/>
                  </a:cubicBezTo>
                  <a:lnTo>
                    <a:pt x="0" y="25120"/>
                  </a:lnTo>
                  <a:cubicBezTo>
                    <a:pt x="0" y="11246"/>
                    <a:pt x="11246" y="0"/>
                    <a:pt x="25120" y="0"/>
                  </a:cubicBezTo>
                  <a:close/>
                </a:path>
              </a:pathLst>
            </a:custGeom>
            <a:solidFill>
              <a:srgbClr val="C4E4F6"/>
            </a:solidFill>
          </p:spPr>
          <p:txBody>
            <a:bodyPr/>
            <a:lstStyle/>
            <a:p>
              <a:endParaRPr lang="en-GB"/>
            </a:p>
          </p:txBody>
        </p:sp>
        <p:sp>
          <p:nvSpPr>
            <p:cNvPr id="17" name="TextBox 17"/>
            <p:cNvSpPr txBox="1"/>
            <p:nvPr/>
          </p:nvSpPr>
          <p:spPr>
            <a:xfrm>
              <a:off x="0" y="-66675"/>
              <a:ext cx="3284695" cy="217735"/>
            </a:xfrm>
            <a:prstGeom prst="rect">
              <a:avLst/>
            </a:prstGeom>
          </p:spPr>
          <p:txBody>
            <a:bodyPr lIns="50800" tIns="50800" rIns="50800" bIns="50800" rtlCol="0" anchor="ctr"/>
            <a:lstStyle/>
            <a:p>
              <a:pPr algn="ctr">
                <a:lnSpc>
                  <a:spcPts val="4199"/>
                </a:lnSpc>
              </a:pPr>
              <a:r>
                <a:rPr lang="en-US" sz="2999" b="1">
                  <a:solidFill>
                    <a:srgbClr val="000000"/>
                  </a:solidFill>
                  <a:latin typeface="Public Sans Bold"/>
                  <a:ea typeface="Public Sans Bold"/>
                  <a:cs typeface="Public Sans Bold"/>
                  <a:sym typeface="Public Sans Bold"/>
                </a:rPr>
                <a:t>Learn direct from Leading companies and gain valuable careers skills</a:t>
              </a:r>
            </a:p>
          </p:txBody>
        </p:sp>
      </p:grpSp>
      <p:sp>
        <p:nvSpPr>
          <p:cNvPr id="18" name="TextBox 18"/>
          <p:cNvSpPr txBox="1"/>
          <p:nvPr/>
        </p:nvSpPr>
        <p:spPr>
          <a:xfrm>
            <a:off x="657059" y="534802"/>
            <a:ext cx="17477358" cy="1043234"/>
          </a:xfrm>
          <a:prstGeom prst="rect">
            <a:avLst/>
          </a:prstGeom>
        </p:spPr>
        <p:txBody>
          <a:bodyPr lIns="0" tIns="0" rIns="0" bIns="0" rtlCol="0" anchor="t">
            <a:spAutoFit/>
          </a:bodyPr>
          <a:lstStyle/>
          <a:p>
            <a:pPr marL="0" lvl="0" indent="0" algn="ctr">
              <a:lnSpc>
                <a:spcPts val="8959"/>
              </a:lnSpc>
              <a:spcBef>
                <a:spcPct val="0"/>
              </a:spcBef>
            </a:pPr>
            <a:r>
              <a:rPr lang="en-US" sz="6399" b="1" dirty="0">
                <a:solidFill>
                  <a:srgbClr val="FFFFFF"/>
                </a:solidFill>
                <a:latin typeface="FH Lecturis Rounded Test Bold"/>
                <a:ea typeface="FH Lecturis Rounded Test Bold"/>
                <a:cs typeface="FH Lecturis Rounded Test Bold"/>
                <a:sym typeface="FH Lecturis Rounded Test Bold"/>
              </a:rPr>
              <a:t>Virtual Work Experience Opportunities</a:t>
            </a:r>
          </a:p>
        </p:txBody>
      </p:sp>
      <p:sp>
        <p:nvSpPr>
          <p:cNvPr id="19" name="Freeform 19"/>
          <p:cNvSpPr/>
          <p:nvPr/>
        </p:nvSpPr>
        <p:spPr>
          <a:xfrm>
            <a:off x="571818" y="5433922"/>
            <a:ext cx="2212236" cy="2362869"/>
          </a:xfrm>
          <a:custGeom>
            <a:avLst/>
            <a:gdLst/>
            <a:ahLst/>
            <a:cxnLst/>
            <a:rect l="l" t="t" r="r" b="b"/>
            <a:pathLst>
              <a:path w="2212236" h="2362869">
                <a:moveTo>
                  <a:pt x="0" y="0"/>
                </a:moveTo>
                <a:lnTo>
                  <a:pt x="2212236" y="0"/>
                </a:lnTo>
                <a:lnTo>
                  <a:pt x="2212236" y="2362869"/>
                </a:lnTo>
                <a:lnTo>
                  <a:pt x="0" y="23628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20" name="Freeform 20"/>
          <p:cNvSpPr/>
          <p:nvPr/>
        </p:nvSpPr>
        <p:spPr>
          <a:xfrm>
            <a:off x="4854952" y="5433922"/>
            <a:ext cx="2212236" cy="2362869"/>
          </a:xfrm>
          <a:custGeom>
            <a:avLst/>
            <a:gdLst/>
            <a:ahLst/>
            <a:cxnLst/>
            <a:rect l="l" t="t" r="r" b="b"/>
            <a:pathLst>
              <a:path w="2212236" h="2362869">
                <a:moveTo>
                  <a:pt x="0" y="0"/>
                </a:moveTo>
                <a:lnTo>
                  <a:pt x="2212236" y="0"/>
                </a:lnTo>
                <a:lnTo>
                  <a:pt x="2212236" y="2362869"/>
                </a:lnTo>
                <a:lnTo>
                  <a:pt x="0" y="236286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21" name="TextBox 21"/>
          <p:cNvSpPr txBox="1"/>
          <p:nvPr/>
        </p:nvSpPr>
        <p:spPr>
          <a:xfrm>
            <a:off x="4527299" y="4489450"/>
            <a:ext cx="2867542" cy="701675"/>
          </a:xfrm>
          <a:prstGeom prst="rect">
            <a:avLst/>
          </a:prstGeom>
        </p:spPr>
        <p:txBody>
          <a:bodyPr lIns="0" tIns="0" rIns="0" bIns="0" rtlCol="0" anchor="t">
            <a:spAutoFit/>
          </a:bodyPr>
          <a:lstStyle/>
          <a:p>
            <a:pPr marL="0" lvl="0" indent="0" algn="ctr">
              <a:lnSpc>
                <a:spcPts val="4900"/>
              </a:lnSpc>
              <a:spcBef>
                <a:spcPct val="0"/>
              </a:spcBef>
            </a:pPr>
            <a:r>
              <a:rPr lang="en-US" sz="3500" u="sng">
                <a:solidFill>
                  <a:srgbClr val="FFFFFF"/>
                </a:solidFill>
                <a:latin typeface="DIN Offc 3"/>
                <a:ea typeface="DIN Offc 3"/>
                <a:cs typeface="DIN Offc 3"/>
                <a:sym typeface="DIN Offc 3"/>
                <a:hlinkClick r:id="rId6" tooltip="https://www.theforage.com/landing/birmingham-city-university-aobm8/engineering-9boh"/>
              </a:rPr>
              <a:t>Engineering</a:t>
            </a:r>
          </a:p>
        </p:txBody>
      </p:sp>
      <p:sp>
        <p:nvSpPr>
          <p:cNvPr id="22" name="TextBox 22"/>
          <p:cNvSpPr txBox="1"/>
          <p:nvPr/>
        </p:nvSpPr>
        <p:spPr>
          <a:xfrm>
            <a:off x="371083" y="4489450"/>
            <a:ext cx="2613705" cy="701675"/>
          </a:xfrm>
          <a:prstGeom prst="rect">
            <a:avLst/>
          </a:prstGeom>
        </p:spPr>
        <p:txBody>
          <a:bodyPr lIns="0" tIns="0" rIns="0" bIns="0" rtlCol="0" anchor="t">
            <a:spAutoFit/>
          </a:bodyPr>
          <a:lstStyle/>
          <a:p>
            <a:pPr marL="0" lvl="0" indent="0" algn="ctr">
              <a:lnSpc>
                <a:spcPts val="4900"/>
              </a:lnSpc>
              <a:spcBef>
                <a:spcPct val="0"/>
              </a:spcBef>
            </a:pPr>
            <a:r>
              <a:rPr lang="en-US" sz="3500" u="sng">
                <a:solidFill>
                  <a:srgbClr val="FFFFFF"/>
                </a:solidFill>
                <a:latin typeface="DIN Offc 3"/>
                <a:ea typeface="DIN Offc 3"/>
                <a:cs typeface="DIN Offc 3"/>
                <a:sym typeface="DIN Offc 3"/>
                <a:hlinkClick r:id="rId7" tooltip="https://www.theforage.com/landing/birmingham-city-university-aobm8/computing-opportunities-pBJ6"/>
              </a:rPr>
              <a:t>Computing</a:t>
            </a:r>
          </a:p>
        </p:txBody>
      </p:sp>
      <p:pic>
        <p:nvPicPr>
          <p:cNvPr id="23" name="Picture 23"/>
          <p:cNvPicPr>
            <a:picLocks noChangeAspect="1"/>
          </p:cNvPicPr>
          <p:nvPr/>
        </p:nvPicPr>
        <p:blipFill>
          <a:blip r:embed="rId8"/>
          <a:stretch>
            <a:fillRect/>
          </a:stretch>
        </p:blipFill>
        <p:spPr>
          <a:xfrm>
            <a:off x="524594" y="5561257"/>
            <a:ext cx="2306683" cy="2306683"/>
          </a:xfrm>
          <a:prstGeom prst="rect">
            <a:avLst/>
          </a:prstGeom>
        </p:spPr>
      </p:pic>
      <p:pic>
        <p:nvPicPr>
          <p:cNvPr id="24" name="Picture 24"/>
          <p:cNvPicPr>
            <a:picLocks noChangeAspect="1"/>
          </p:cNvPicPr>
          <p:nvPr/>
        </p:nvPicPr>
        <p:blipFill>
          <a:blip r:embed="rId9"/>
          <a:stretch>
            <a:fillRect/>
          </a:stretch>
        </p:blipFill>
        <p:spPr>
          <a:xfrm>
            <a:off x="4807728" y="5561257"/>
            <a:ext cx="2306683" cy="2306683"/>
          </a:xfrm>
          <a:prstGeom prst="rect">
            <a:avLst/>
          </a:prstGeom>
        </p:spPr>
      </p:pic>
      <p:sp>
        <p:nvSpPr>
          <p:cNvPr id="25" name="TextBox 25"/>
          <p:cNvSpPr txBox="1"/>
          <p:nvPr/>
        </p:nvSpPr>
        <p:spPr>
          <a:xfrm>
            <a:off x="8985044" y="4489450"/>
            <a:ext cx="4011776" cy="701675"/>
          </a:xfrm>
          <a:prstGeom prst="rect">
            <a:avLst/>
          </a:prstGeom>
        </p:spPr>
        <p:txBody>
          <a:bodyPr lIns="0" tIns="0" rIns="0" bIns="0" rtlCol="0" anchor="t">
            <a:spAutoFit/>
          </a:bodyPr>
          <a:lstStyle/>
          <a:p>
            <a:pPr marL="0" lvl="0" indent="0" algn="ctr">
              <a:lnSpc>
                <a:spcPts val="4900"/>
              </a:lnSpc>
              <a:spcBef>
                <a:spcPct val="0"/>
              </a:spcBef>
            </a:pPr>
            <a:r>
              <a:rPr lang="en-US" sz="3500" u="sng">
                <a:solidFill>
                  <a:srgbClr val="FFFFFF"/>
                </a:solidFill>
                <a:latin typeface="DIN Offc 3"/>
                <a:ea typeface="DIN Offc 3"/>
                <a:cs typeface="DIN Offc 3"/>
                <a:sym typeface="DIN Offc 3"/>
                <a:hlinkClick r:id="rId10" tooltip="https://www.theforage.com/landing/birmingham-city-university-aobm8/built-environment-opportunities-y7Db"/>
              </a:rPr>
              <a:t>Built Environment</a:t>
            </a:r>
          </a:p>
        </p:txBody>
      </p:sp>
      <p:sp>
        <p:nvSpPr>
          <p:cNvPr id="26" name="Freeform 26"/>
          <p:cNvSpPr/>
          <p:nvPr/>
        </p:nvSpPr>
        <p:spPr>
          <a:xfrm>
            <a:off x="9884814" y="5433922"/>
            <a:ext cx="2212236" cy="2362869"/>
          </a:xfrm>
          <a:custGeom>
            <a:avLst/>
            <a:gdLst/>
            <a:ahLst/>
            <a:cxnLst/>
            <a:rect l="l" t="t" r="r" b="b"/>
            <a:pathLst>
              <a:path w="2212236" h="2362869">
                <a:moveTo>
                  <a:pt x="0" y="0"/>
                </a:moveTo>
                <a:lnTo>
                  <a:pt x="2212236" y="0"/>
                </a:lnTo>
                <a:lnTo>
                  <a:pt x="2212236" y="2362869"/>
                </a:lnTo>
                <a:lnTo>
                  <a:pt x="0" y="2362869"/>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GB"/>
          </a:p>
        </p:txBody>
      </p:sp>
      <p:pic>
        <p:nvPicPr>
          <p:cNvPr id="27" name="Picture 27"/>
          <p:cNvPicPr>
            <a:picLocks noChangeAspect="1"/>
          </p:cNvPicPr>
          <p:nvPr/>
        </p:nvPicPr>
        <p:blipFill>
          <a:blip r:embed="rId13"/>
          <a:stretch>
            <a:fillRect/>
          </a:stretch>
        </p:blipFill>
        <p:spPr>
          <a:xfrm>
            <a:off x="9837590" y="5566678"/>
            <a:ext cx="2306683" cy="2306683"/>
          </a:xfrm>
          <a:prstGeom prst="rect">
            <a:avLst/>
          </a:prstGeom>
        </p:spPr>
      </p:pic>
      <p:sp>
        <p:nvSpPr>
          <p:cNvPr id="28" name="TextBox 28"/>
          <p:cNvSpPr txBox="1"/>
          <p:nvPr/>
        </p:nvSpPr>
        <p:spPr>
          <a:xfrm>
            <a:off x="14587494" y="4489450"/>
            <a:ext cx="2610665" cy="701675"/>
          </a:xfrm>
          <a:prstGeom prst="rect">
            <a:avLst/>
          </a:prstGeom>
        </p:spPr>
        <p:txBody>
          <a:bodyPr lIns="0" tIns="0" rIns="0" bIns="0" rtlCol="0" anchor="t">
            <a:spAutoFit/>
          </a:bodyPr>
          <a:lstStyle/>
          <a:p>
            <a:pPr marL="0" lvl="0" indent="0" algn="ctr">
              <a:lnSpc>
                <a:spcPts val="4900"/>
              </a:lnSpc>
              <a:spcBef>
                <a:spcPct val="0"/>
              </a:spcBef>
            </a:pPr>
            <a:r>
              <a:rPr lang="en-US" sz="3500" u="sng">
                <a:solidFill>
                  <a:srgbClr val="FFFFFF"/>
                </a:solidFill>
                <a:latin typeface="DIN Offc 3"/>
                <a:ea typeface="DIN Offc 3"/>
                <a:cs typeface="DIN Offc 3"/>
                <a:sym typeface="DIN Offc 3"/>
                <a:hlinkClick r:id="rId14" tooltip="https://www.theforage.com/landing/birmingham-city-university-aobm8/built-environment-opportunities-68bp"/>
              </a:rPr>
              <a:t>Architecture</a:t>
            </a:r>
          </a:p>
        </p:txBody>
      </p:sp>
      <p:sp>
        <p:nvSpPr>
          <p:cNvPr id="29" name="Freeform 29"/>
          <p:cNvSpPr/>
          <p:nvPr/>
        </p:nvSpPr>
        <p:spPr>
          <a:xfrm>
            <a:off x="14786709" y="5433922"/>
            <a:ext cx="2212236" cy="2362869"/>
          </a:xfrm>
          <a:custGeom>
            <a:avLst/>
            <a:gdLst/>
            <a:ahLst/>
            <a:cxnLst/>
            <a:rect l="l" t="t" r="r" b="b"/>
            <a:pathLst>
              <a:path w="2212236" h="2362869">
                <a:moveTo>
                  <a:pt x="0" y="0"/>
                </a:moveTo>
                <a:lnTo>
                  <a:pt x="2212236" y="0"/>
                </a:lnTo>
                <a:lnTo>
                  <a:pt x="2212236" y="2362869"/>
                </a:lnTo>
                <a:lnTo>
                  <a:pt x="0" y="236286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GB"/>
          </a:p>
        </p:txBody>
      </p:sp>
      <p:pic>
        <p:nvPicPr>
          <p:cNvPr id="30" name="Picture 30"/>
          <p:cNvPicPr>
            <a:picLocks noChangeAspect="1"/>
          </p:cNvPicPr>
          <p:nvPr/>
        </p:nvPicPr>
        <p:blipFill>
          <a:blip r:embed="rId17"/>
          <a:stretch>
            <a:fillRect/>
          </a:stretch>
        </p:blipFill>
        <p:spPr>
          <a:xfrm>
            <a:off x="14739485" y="5566678"/>
            <a:ext cx="2306683" cy="230668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2E4E"/>
        </a:solidFill>
        <a:effectLst/>
      </p:bgPr>
    </p:bg>
    <p:spTree>
      <p:nvGrpSpPr>
        <p:cNvPr id="1" name=""/>
        <p:cNvGrpSpPr/>
        <p:nvPr/>
      </p:nvGrpSpPr>
      <p:grpSpPr>
        <a:xfrm>
          <a:off x="0" y="0"/>
          <a:ext cx="0" cy="0"/>
          <a:chOff x="0" y="0"/>
          <a:chExt cx="0" cy="0"/>
        </a:xfrm>
      </p:grpSpPr>
      <p:grpSp>
        <p:nvGrpSpPr>
          <p:cNvPr id="2" name="Group 2"/>
          <p:cNvGrpSpPr/>
          <p:nvPr/>
        </p:nvGrpSpPr>
        <p:grpSpPr>
          <a:xfrm>
            <a:off x="425407" y="4832633"/>
            <a:ext cx="169903" cy="169903"/>
            <a:chOff x="0" y="0"/>
            <a:chExt cx="226537" cy="226537"/>
          </a:xfrm>
        </p:grpSpPr>
        <p:sp>
          <p:nvSpPr>
            <p:cNvPr id="3" name="Freeform 3"/>
            <p:cNvSpPr/>
            <p:nvPr/>
          </p:nvSpPr>
          <p:spPr>
            <a:xfrm>
              <a:off x="0" y="0"/>
              <a:ext cx="226568" cy="226568"/>
            </a:xfrm>
            <a:custGeom>
              <a:avLst/>
              <a:gdLst/>
              <a:ahLst/>
              <a:cxnLst/>
              <a:rect l="l" t="t" r="r" b="b"/>
              <a:pathLst>
                <a:path w="226568" h="226568">
                  <a:moveTo>
                    <a:pt x="113284" y="0"/>
                  </a:moveTo>
                  <a:cubicBezTo>
                    <a:pt x="50673" y="0"/>
                    <a:pt x="0" y="50673"/>
                    <a:pt x="0" y="113284"/>
                  </a:cubicBezTo>
                  <a:cubicBezTo>
                    <a:pt x="0" y="175895"/>
                    <a:pt x="50673" y="226568"/>
                    <a:pt x="113284" y="226568"/>
                  </a:cubicBezTo>
                  <a:cubicBezTo>
                    <a:pt x="175895" y="226568"/>
                    <a:pt x="226568" y="175895"/>
                    <a:pt x="226568" y="113284"/>
                  </a:cubicBezTo>
                  <a:cubicBezTo>
                    <a:pt x="226568" y="50673"/>
                    <a:pt x="175768" y="0"/>
                    <a:pt x="113284" y="0"/>
                  </a:cubicBezTo>
                  <a:close/>
                </a:path>
              </a:pathLst>
            </a:custGeom>
            <a:solidFill>
              <a:srgbClr val="F7CD34"/>
            </a:solidFill>
          </p:spPr>
          <p:txBody>
            <a:bodyPr/>
            <a:lstStyle/>
            <a:p>
              <a:endParaRPr lang="en-GB"/>
            </a:p>
          </p:txBody>
        </p:sp>
      </p:grpSp>
      <p:grpSp>
        <p:nvGrpSpPr>
          <p:cNvPr id="4" name="Group 4"/>
          <p:cNvGrpSpPr/>
          <p:nvPr/>
        </p:nvGrpSpPr>
        <p:grpSpPr>
          <a:xfrm>
            <a:off x="15109013" y="433695"/>
            <a:ext cx="169903" cy="169903"/>
            <a:chOff x="0" y="0"/>
            <a:chExt cx="226537" cy="226537"/>
          </a:xfrm>
        </p:grpSpPr>
        <p:sp>
          <p:nvSpPr>
            <p:cNvPr id="5" name="Freeform 5"/>
            <p:cNvSpPr/>
            <p:nvPr/>
          </p:nvSpPr>
          <p:spPr>
            <a:xfrm>
              <a:off x="0" y="0"/>
              <a:ext cx="226568" cy="226568"/>
            </a:xfrm>
            <a:custGeom>
              <a:avLst/>
              <a:gdLst/>
              <a:ahLst/>
              <a:cxnLst/>
              <a:rect l="l" t="t" r="r" b="b"/>
              <a:pathLst>
                <a:path w="226568" h="226568">
                  <a:moveTo>
                    <a:pt x="113284" y="0"/>
                  </a:moveTo>
                  <a:cubicBezTo>
                    <a:pt x="50673" y="0"/>
                    <a:pt x="0" y="50673"/>
                    <a:pt x="0" y="113284"/>
                  </a:cubicBezTo>
                  <a:cubicBezTo>
                    <a:pt x="0" y="175895"/>
                    <a:pt x="50673" y="226568"/>
                    <a:pt x="113284" y="226568"/>
                  </a:cubicBezTo>
                  <a:cubicBezTo>
                    <a:pt x="175895" y="226568"/>
                    <a:pt x="226568" y="175895"/>
                    <a:pt x="226568" y="113284"/>
                  </a:cubicBezTo>
                  <a:cubicBezTo>
                    <a:pt x="226568" y="50673"/>
                    <a:pt x="175768" y="0"/>
                    <a:pt x="113284" y="0"/>
                  </a:cubicBezTo>
                  <a:close/>
                </a:path>
              </a:pathLst>
            </a:custGeom>
            <a:solidFill>
              <a:srgbClr val="51A681"/>
            </a:solidFill>
          </p:spPr>
          <p:txBody>
            <a:bodyPr/>
            <a:lstStyle/>
            <a:p>
              <a:endParaRPr lang="en-GB"/>
            </a:p>
          </p:txBody>
        </p:sp>
      </p:grpSp>
      <p:grpSp>
        <p:nvGrpSpPr>
          <p:cNvPr id="6" name="Group 6"/>
          <p:cNvGrpSpPr/>
          <p:nvPr/>
        </p:nvGrpSpPr>
        <p:grpSpPr>
          <a:xfrm>
            <a:off x="510358" y="7805535"/>
            <a:ext cx="169903" cy="169903"/>
            <a:chOff x="0" y="0"/>
            <a:chExt cx="226537" cy="226537"/>
          </a:xfrm>
        </p:grpSpPr>
        <p:sp>
          <p:nvSpPr>
            <p:cNvPr id="7" name="Freeform 7"/>
            <p:cNvSpPr/>
            <p:nvPr/>
          </p:nvSpPr>
          <p:spPr>
            <a:xfrm>
              <a:off x="0" y="0"/>
              <a:ext cx="226568" cy="226568"/>
            </a:xfrm>
            <a:custGeom>
              <a:avLst/>
              <a:gdLst/>
              <a:ahLst/>
              <a:cxnLst/>
              <a:rect l="l" t="t" r="r" b="b"/>
              <a:pathLst>
                <a:path w="226568" h="226568">
                  <a:moveTo>
                    <a:pt x="113284" y="0"/>
                  </a:moveTo>
                  <a:cubicBezTo>
                    <a:pt x="50673" y="0"/>
                    <a:pt x="0" y="50673"/>
                    <a:pt x="0" y="113284"/>
                  </a:cubicBezTo>
                  <a:cubicBezTo>
                    <a:pt x="0" y="175895"/>
                    <a:pt x="50673" y="226568"/>
                    <a:pt x="113284" y="226568"/>
                  </a:cubicBezTo>
                  <a:cubicBezTo>
                    <a:pt x="175895" y="226568"/>
                    <a:pt x="226568" y="175895"/>
                    <a:pt x="226568" y="113284"/>
                  </a:cubicBezTo>
                  <a:cubicBezTo>
                    <a:pt x="226568" y="50673"/>
                    <a:pt x="175768" y="0"/>
                    <a:pt x="113284" y="0"/>
                  </a:cubicBezTo>
                  <a:close/>
                </a:path>
              </a:pathLst>
            </a:custGeom>
            <a:solidFill>
              <a:srgbClr val="F14975"/>
            </a:solidFill>
          </p:spPr>
          <p:txBody>
            <a:bodyPr/>
            <a:lstStyle/>
            <a:p>
              <a:endParaRPr lang="en-GB"/>
            </a:p>
          </p:txBody>
        </p:sp>
      </p:grpSp>
      <p:grpSp>
        <p:nvGrpSpPr>
          <p:cNvPr id="8" name="Group 8"/>
          <p:cNvGrpSpPr/>
          <p:nvPr/>
        </p:nvGrpSpPr>
        <p:grpSpPr>
          <a:xfrm>
            <a:off x="17541706" y="4174635"/>
            <a:ext cx="169903" cy="169903"/>
            <a:chOff x="0" y="0"/>
            <a:chExt cx="226537" cy="226537"/>
          </a:xfrm>
        </p:grpSpPr>
        <p:sp>
          <p:nvSpPr>
            <p:cNvPr id="9" name="Freeform 9"/>
            <p:cNvSpPr/>
            <p:nvPr/>
          </p:nvSpPr>
          <p:spPr>
            <a:xfrm>
              <a:off x="0" y="0"/>
              <a:ext cx="226568" cy="226568"/>
            </a:xfrm>
            <a:custGeom>
              <a:avLst/>
              <a:gdLst/>
              <a:ahLst/>
              <a:cxnLst/>
              <a:rect l="l" t="t" r="r" b="b"/>
              <a:pathLst>
                <a:path w="226568" h="226568">
                  <a:moveTo>
                    <a:pt x="113284" y="0"/>
                  </a:moveTo>
                  <a:cubicBezTo>
                    <a:pt x="50673" y="0"/>
                    <a:pt x="0" y="50673"/>
                    <a:pt x="0" y="113284"/>
                  </a:cubicBezTo>
                  <a:cubicBezTo>
                    <a:pt x="0" y="175895"/>
                    <a:pt x="50673" y="226568"/>
                    <a:pt x="113284" y="226568"/>
                  </a:cubicBezTo>
                  <a:cubicBezTo>
                    <a:pt x="175895" y="226568"/>
                    <a:pt x="226568" y="175895"/>
                    <a:pt x="226568" y="113284"/>
                  </a:cubicBezTo>
                  <a:cubicBezTo>
                    <a:pt x="226568" y="50673"/>
                    <a:pt x="175768" y="0"/>
                    <a:pt x="113284" y="0"/>
                  </a:cubicBezTo>
                  <a:close/>
                </a:path>
              </a:pathLst>
            </a:custGeom>
            <a:solidFill>
              <a:srgbClr val="51A681"/>
            </a:solidFill>
          </p:spPr>
          <p:txBody>
            <a:bodyPr/>
            <a:lstStyle/>
            <a:p>
              <a:endParaRPr lang="en-GB"/>
            </a:p>
          </p:txBody>
        </p:sp>
      </p:grpSp>
      <p:grpSp>
        <p:nvGrpSpPr>
          <p:cNvPr id="10" name="Group 10"/>
          <p:cNvGrpSpPr/>
          <p:nvPr/>
        </p:nvGrpSpPr>
        <p:grpSpPr>
          <a:xfrm>
            <a:off x="17456754" y="9422539"/>
            <a:ext cx="169903" cy="169903"/>
            <a:chOff x="0" y="0"/>
            <a:chExt cx="226537" cy="226537"/>
          </a:xfrm>
        </p:grpSpPr>
        <p:sp>
          <p:nvSpPr>
            <p:cNvPr id="11" name="Freeform 11"/>
            <p:cNvSpPr/>
            <p:nvPr/>
          </p:nvSpPr>
          <p:spPr>
            <a:xfrm>
              <a:off x="0" y="0"/>
              <a:ext cx="226568" cy="226568"/>
            </a:xfrm>
            <a:custGeom>
              <a:avLst/>
              <a:gdLst/>
              <a:ahLst/>
              <a:cxnLst/>
              <a:rect l="l" t="t" r="r" b="b"/>
              <a:pathLst>
                <a:path w="226568" h="226568">
                  <a:moveTo>
                    <a:pt x="113284" y="0"/>
                  </a:moveTo>
                  <a:cubicBezTo>
                    <a:pt x="50673" y="0"/>
                    <a:pt x="0" y="50673"/>
                    <a:pt x="0" y="113284"/>
                  </a:cubicBezTo>
                  <a:cubicBezTo>
                    <a:pt x="0" y="175895"/>
                    <a:pt x="50673" y="226568"/>
                    <a:pt x="113284" y="226568"/>
                  </a:cubicBezTo>
                  <a:cubicBezTo>
                    <a:pt x="175895" y="226568"/>
                    <a:pt x="226568" y="175895"/>
                    <a:pt x="226568" y="113284"/>
                  </a:cubicBezTo>
                  <a:cubicBezTo>
                    <a:pt x="226568" y="50673"/>
                    <a:pt x="175768" y="0"/>
                    <a:pt x="113284" y="0"/>
                  </a:cubicBezTo>
                  <a:close/>
                </a:path>
              </a:pathLst>
            </a:custGeom>
            <a:solidFill>
              <a:srgbClr val="51A681"/>
            </a:solidFill>
          </p:spPr>
          <p:txBody>
            <a:bodyPr/>
            <a:lstStyle/>
            <a:p>
              <a:endParaRPr lang="en-GB"/>
            </a:p>
          </p:txBody>
        </p:sp>
      </p:grpSp>
      <p:grpSp>
        <p:nvGrpSpPr>
          <p:cNvPr id="12" name="Group 12"/>
          <p:cNvGrpSpPr/>
          <p:nvPr/>
        </p:nvGrpSpPr>
        <p:grpSpPr>
          <a:xfrm>
            <a:off x="17881511" y="6048563"/>
            <a:ext cx="169903" cy="169903"/>
            <a:chOff x="0" y="0"/>
            <a:chExt cx="226537" cy="226537"/>
          </a:xfrm>
        </p:grpSpPr>
        <p:sp>
          <p:nvSpPr>
            <p:cNvPr id="13" name="Freeform 13"/>
            <p:cNvSpPr/>
            <p:nvPr/>
          </p:nvSpPr>
          <p:spPr>
            <a:xfrm>
              <a:off x="0" y="0"/>
              <a:ext cx="226568" cy="226568"/>
            </a:xfrm>
            <a:custGeom>
              <a:avLst/>
              <a:gdLst/>
              <a:ahLst/>
              <a:cxnLst/>
              <a:rect l="l" t="t" r="r" b="b"/>
              <a:pathLst>
                <a:path w="226568" h="226568">
                  <a:moveTo>
                    <a:pt x="113284" y="0"/>
                  </a:moveTo>
                  <a:cubicBezTo>
                    <a:pt x="50673" y="0"/>
                    <a:pt x="0" y="50673"/>
                    <a:pt x="0" y="113284"/>
                  </a:cubicBezTo>
                  <a:cubicBezTo>
                    <a:pt x="0" y="175895"/>
                    <a:pt x="50673" y="226568"/>
                    <a:pt x="113284" y="226568"/>
                  </a:cubicBezTo>
                  <a:cubicBezTo>
                    <a:pt x="175895" y="226568"/>
                    <a:pt x="226568" y="175895"/>
                    <a:pt x="226568" y="113284"/>
                  </a:cubicBezTo>
                  <a:cubicBezTo>
                    <a:pt x="226568" y="50673"/>
                    <a:pt x="175768" y="0"/>
                    <a:pt x="113284" y="0"/>
                  </a:cubicBezTo>
                  <a:close/>
                </a:path>
              </a:pathLst>
            </a:custGeom>
            <a:solidFill>
              <a:srgbClr val="F7CD34"/>
            </a:solidFill>
          </p:spPr>
          <p:txBody>
            <a:bodyPr/>
            <a:lstStyle/>
            <a:p>
              <a:endParaRPr lang="en-GB"/>
            </a:p>
          </p:txBody>
        </p:sp>
      </p:grpSp>
      <p:grpSp>
        <p:nvGrpSpPr>
          <p:cNvPr id="14" name="Group 14"/>
          <p:cNvGrpSpPr/>
          <p:nvPr/>
        </p:nvGrpSpPr>
        <p:grpSpPr>
          <a:xfrm>
            <a:off x="-4234" y="1899336"/>
            <a:ext cx="18292234" cy="8640085"/>
            <a:chOff x="0" y="0"/>
            <a:chExt cx="5683590" cy="2275578"/>
          </a:xfrm>
        </p:grpSpPr>
        <p:sp>
          <p:nvSpPr>
            <p:cNvPr id="15" name="Freeform 15"/>
            <p:cNvSpPr/>
            <p:nvPr/>
          </p:nvSpPr>
          <p:spPr>
            <a:xfrm>
              <a:off x="0" y="0"/>
              <a:ext cx="5683590" cy="2275578"/>
            </a:xfrm>
            <a:custGeom>
              <a:avLst/>
              <a:gdLst/>
              <a:ahLst/>
              <a:cxnLst/>
              <a:rect l="l" t="t" r="r" b="b"/>
              <a:pathLst>
                <a:path w="5683590" h="2275578">
                  <a:moveTo>
                    <a:pt x="0" y="0"/>
                  </a:moveTo>
                  <a:lnTo>
                    <a:pt x="5683590" y="0"/>
                  </a:lnTo>
                  <a:lnTo>
                    <a:pt x="5683590" y="2275578"/>
                  </a:lnTo>
                  <a:lnTo>
                    <a:pt x="0" y="2275578"/>
                  </a:lnTo>
                  <a:close/>
                </a:path>
              </a:pathLst>
            </a:custGeom>
            <a:solidFill>
              <a:srgbClr val="FFF3DE"/>
            </a:solidFill>
          </p:spPr>
          <p:txBody>
            <a:bodyPr/>
            <a:lstStyle/>
            <a:p>
              <a:endParaRPr lang="en-GB"/>
            </a:p>
          </p:txBody>
        </p:sp>
        <p:sp>
          <p:nvSpPr>
            <p:cNvPr id="16" name="TextBox 16"/>
            <p:cNvSpPr txBox="1"/>
            <p:nvPr/>
          </p:nvSpPr>
          <p:spPr>
            <a:xfrm>
              <a:off x="0" y="-95250"/>
              <a:ext cx="5683590" cy="2370828"/>
            </a:xfrm>
            <a:prstGeom prst="rect">
              <a:avLst/>
            </a:prstGeom>
          </p:spPr>
          <p:txBody>
            <a:bodyPr lIns="50800" tIns="50800" rIns="50800" bIns="50800" rtlCol="0" anchor="ctr"/>
            <a:lstStyle/>
            <a:p>
              <a:pPr algn="ctr">
                <a:lnSpc>
                  <a:spcPts val="3500"/>
                </a:lnSpc>
              </a:pPr>
              <a:endParaRPr/>
            </a:p>
          </p:txBody>
        </p:sp>
      </p:grpSp>
      <p:sp>
        <p:nvSpPr>
          <p:cNvPr id="17" name="Freeform 17"/>
          <p:cNvSpPr/>
          <p:nvPr/>
        </p:nvSpPr>
        <p:spPr>
          <a:xfrm>
            <a:off x="14703847" y="118403"/>
            <a:ext cx="3352981" cy="673289"/>
          </a:xfrm>
          <a:custGeom>
            <a:avLst/>
            <a:gdLst/>
            <a:ahLst/>
            <a:cxnLst/>
            <a:rect l="l" t="t" r="r" b="b"/>
            <a:pathLst>
              <a:path w="3352981" h="673289">
                <a:moveTo>
                  <a:pt x="0" y="0"/>
                </a:moveTo>
                <a:lnTo>
                  <a:pt x="3352981" y="0"/>
                </a:lnTo>
                <a:lnTo>
                  <a:pt x="3352981" y="673289"/>
                </a:lnTo>
                <a:lnTo>
                  <a:pt x="0" y="673289"/>
                </a:lnTo>
                <a:lnTo>
                  <a:pt x="0" y="0"/>
                </a:lnTo>
                <a:close/>
              </a:path>
            </a:pathLst>
          </a:custGeom>
          <a:blipFill>
            <a:blip r:embed="rId3"/>
            <a:stretch>
              <a:fillRect/>
            </a:stretch>
          </a:blipFill>
        </p:spPr>
        <p:txBody>
          <a:bodyPr/>
          <a:lstStyle/>
          <a:p>
            <a:endParaRPr lang="en-GB"/>
          </a:p>
        </p:txBody>
      </p:sp>
      <p:grpSp>
        <p:nvGrpSpPr>
          <p:cNvPr id="18" name="Group 18"/>
          <p:cNvGrpSpPr/>
          <p:nvPr/>
        </p:nvGrpSpPr>
        <p:grpSpPr>
          <a:xfrm rot="-5400000">
            <a:off x="-4233" y="700251"/>
            <a:ext cx="1199085" cy="1199085"/>
            <a:chOff x="0" y="0"/>
            <a:chExt cx="1598780" cy="1598780"/>
          </a:xfrm>
        </p:grpSpPr>
        <p:grpSp>
          <p:nvGrpSpPr>
            <p:cNvPr id="19" name="Group 19"/>
            <p:cNvGrpSpPr/>
            <p:nvPr/>
          </p:nvGrpSpPr>
          <p:grpSpPr>
            <a:xfrm>
              <a:off x="0" y="799390"/>
              <a:ext cx="799390" cy="799390"/>
              <a:chOff x="0" y="0"/>
              <a:chExt cx="338164" cy="338164"/>
            </a:xfrm>
          </p:grpSpPr>
          <p:sp>
            <p:nvSpPr>
              <p:cNvPr id="20" name="Freeform 20"/>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21" name="TextBox 21"/>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nvGrpSpPr>
            <p:cNvPr id="22" name="Group 22"/>
            <p:cNvGrpSpPr/>
            <p:nvPr/>
          </p:nvGrpSpPr>
          <p:grpSpPr>
            <a:xfrm>
              <a:off x="799390" y="0"/>
              <a:ext cx="799390" cy="799390"/>
              <a:chOff x="0" y="0"/>
              <a:chExt cx="338164" cy="338164"/>
            </a:xfrm>
          </p:grpSpPr>
          <p:sp>
            <p:nvSpPr>
              <p:cNvPr id="23" name="Freeform 23"/>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24" name="TextBox 24"/>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sp>
        <p:nvSpPr>
          <p:cNvPr id="25" name="Freeform 25"/>
          <p:cNvSpPr/>
          <p:nvPr/>
        </p:nvSpPr>
        <p:spPr>
          <a:xfrm>
            <a:off x="4921126" y="1899336"/>
            <a:ext cx="10699873" cy="8640085"/>
          </a:xfrm>
          <a:custGeom>
            <a:avLst/>
            <a:gdLst/>
            <a:ahLst/>
            <a:cxnLst/>
            <a:rect l="l" t="t" r="r" b="b"/>
            <a:pathLst>
              <a:path w="10667682" h="8387465">
                <a:moveTo>
                  <a:pt x="0" y="0"/>
                </a:moveTo>
                <a:lnTo>
                  <a:pt x="10667682" y="0"/>
                </a:lnTo>
                <a:lnTo>
                  <a:pt x="10667682" y="8387465"/>
                </a:lnTo>
                <a:lnTo>
                  <a:pt x="0" y="8387465"/>
                </a:lnTo>
                <a:lnTo>
                  <a:pt x="0" y="0"/>
                </a:lnTo>
                <a:close/>
              </a:path>
            </a:pathLst>
          </a:custGeom>
          <a:blipFill>
            <a:blip r:embed="rId4"/>
            <a:stretch>
              <a:fillRect/>
            </a:stretch>
          </a:blipFill>
        </p:spPr>
        <p:txBody>
          <a:bodyPr/>
          <a:lstStyle/>
          <a:p>
            <a:endParaRPr lang="en-GB"/>
          </a:p>
        </p:txBody>
      </p:sp>
      <p:sp>
        <p:nvSpPr>
          <p:cNvPr id="26" name="Freeform 26"/>
          <p:cNvSpPr/>
          <p:nvPr/>
        </p:nvSpPr>
        <p:spPr>
          <a:xfrm rot="5165756">
            <a:off x="11354057" y="4876095"/>
            <a:ext cx="2594031" cy="3584153"/>
          </a:xfrm>
          <a:custGeom>
            <a:avLst/>
            <a:gdLst/>
            <a:ahLst/>
            <a:cxnLst/>
            <a:rect l="l" t="t" r="r" b="b"/>
            <a:pathLst>
              <a:path w="2594031" h="3584153">
                <a:moveTo>
                  <a:pt x="0" y="0"/>
                </a:moveTo>
                <a:lnTo>
                  <a:pt x="2594031" y="0"/>
                </a:lnTo>
                <a:lnTo>
                  <a:pt x="2594031" y="3584153"/>
                </a:lnTo>
                <a:lnTo>
                  <a:pt x="0" y="358415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27" name="Freeform 27"/>
          <p:cNvSpPr/>
          <p:nvPr/>
        </p:nvSpPr>
        <p:spPr>
          <a:xfrm>
            <a:off x="194715" y="3269922"/>
            <a:ext cx="4335517" cy="4114800"/>
          </a:xfrm>
          <a:custGeom>
            <a:avLst/>
            <a:gdLst/>
            <a:ahLst/>
            <a:cxnLst/>
            <a:rect l="l" t="t" r="r" b="b"/>
            <a:pathLst>
              <a:path w="4335517" h="4114800">
                <a:moveTo>
                  <a:pt x="0" y="0"/>
                </a:moveTo>
                <a:lnTo>
                  <a:pt x="4335517" y="0"/>
                </a:lnTo>
                <a:lnTo>
                  <a:pt x="4335517"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28" name="TextBox 28"/>
          <p:cNvSpPr txBox="1"/>
          <p:nvPr/>
        </p:nvSpPr>
        <p:spPr>
          <a:xfrm>
            <a:off x="-769305" y="133181"/>
            <a:ext cx="12075745" cy="1543388"/>
          </a:xfrm>
          <a:prstGeom prst="rect">
            <a:avLst/>
          </a:prstGeom>
        </p:spPr>
        <p:txBody>
          <a:bodyPr lIns="0" tIns="0" rIns="0" bIns="0" rtlCol="0" anchor="t">
            <a:spAutoFit/>
          </a:bodyPr>
          <a:lstStyle/>
          <a:p>
            <a:pPr algn="ctr">
              <a:lnSpc>
                <a:spcPts val="11145"/>
              </a:lnSpc>
            </a:pPr>
            <a:r>
              <a:rPr lang="en-US" sz="8573" b="1">
                <a:solidFill>
                  <a:srgbClr val="C3EDFE"/>
                </a:solidFill>
                <a:latin typeface="FH Lecturis Rounded Test Bold"/>
                <a:ea typeface="FH Lecturis Rounded Test Bold"/>
                <a:cs typeface="FH Lecturis Rounded Test Bold"/>
                <a:sym typeface="FH Lecturis Rounded Test Bold"/>
              </a:rPr>
              <a:t>Volunteering </a:t>
            </a:r>
          </a:p>
        </p:txBody>
      </p:sp>
      <p:sp>
        <p:nvSpPr>
          <p:cNvPr id="29" name="Freeform 29"/>
          <p:cNvSpPr/>
          <p:nvPr/>
        </p:nvSpPr>
        <p:spPr>
          <a:xfrm>
            <a:off x="194715" y="3364603"/>
            <a:ext cx="4135999" cy="3925439"/>
          </a:xfrm>
          <a:custGeom>
            <a:avLst/>
            <a:gdLst/>
            <a:ahLst/>
            <a:cxnLst/>
            <a:rect l="l" t="t" r="r" b="b"/>
            <a:pathLst>
              <a:path w="4135999" h="3925439">
                <a:moveTo>
                  <a:pt x="0" y="0"/>
                </a:moveTo>
                <a:lnTo>
                  <a:pt x="4135999" y="0"/>
                </a:lnTo>
                <a:lnTo>
                  <a:pt x="4135999" y="3925439"/>
                </a:lnTo>
                <a:lnTo>
                  <a:pt x="0" y="392543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30" name="TextBox 30"/>
          <p:cNvSpPr txBox="1"/>
          <p:nvPr/>
        </p:nvSpPr>
        <p:spPr>
          <a:xfrm>
            <a:off x="782817" y="4416713"/>
            <a:ext cx="2959795" cy="1489791"/>
          </a:xfrm>
          <a:prstGeom prst="rect">
            <a:avLst/>
          </a:prstGeom>
        </p:spPr>
        <p:txBody>
          <a:bodyPr lIns="0" tIns="0" rIns="0" bIns="0" rtlCol="0" anchor="t">
            <a:spAutoFit/>
          </a:bodyPr>
          <a:lstStyle/>
          <a:p>
            <a:pPr algn="ctr">
              <a:lnSpc>
                <a:spcPts val="5560"/>
              </a:lnSpc>
              <a:spcBef>
                <a:spcPct val="0"/>
              </a:spcBef>
            </a:pPr>
            <a:r>
              <a:rPr lang="en-US" sz="3971" u="sng">
                <a:solidFill>
                  <a:srgbClr val="000000"/>
                </a:solidFill>
                <a:latin typeface="DIN Offc 1"/>
                <a:ea typeface="DIN Offc 1"/>
                <a:cs typeface="DIN Offc 1"/>
                <a:sym typeface="DIN Offc 1"/>
                <a:hlinkClick r:id="rId11" tooltip="https://new.express.adobe.com/webpage/9sKzEFpLTya8U"/>
              </a:rPr>
              <a:t>Volunteering </a:t>
            </a:r>
          </a:p>
          <a:p>
            <a:pPr algn="ctr">
              <a:lnSpc>
                <a:spcPts val="5560"/>
              </a:lnSpc>
              <a:spcBef>
                <a:spcPct val="0"/>
              </a:spcBef>
            </a:pPr>
            <a:r>
              <a:rPr lang="en-US" sz="3971" u="sng">
                <a:solidFill>
                  <a:srgbClr val="000000"/>
                </a:solidFill>
                <a:latin typeface="DIN Offc 1"/>
                <a:ea typeface="DIN Offc 1"/>
                <a:cs typeface="DIN Offc 1"/>
                <a:sym typeface="DIN Offc 1"/>
                <a:hlinkClick r:id="rId11" tooltip="https://new.express.adobe.com/webpage/9sKzEFpLTya8U"/>
              </a:rPr>
              <a:t>Bulletin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2E4E"/>
        </a:solidFill>
        <a:effectLst/>
      </p:bgPr>
    </p:bg>
    <p:spTree>
      <p:nvGrpSpPr>
        <p:cNvPr id="1" name=""/>
        <p:cNvGrpSpPr/>
        <p:nvPr/>
      </p:nvGrpSpPr>
      <p:grpSpPr>
        <a:xfrm>
          <a:off x="0" y="0"/>
          <a:ext cx="0" cy="0"/>
          <a:chOff x="0" y="0"/>
          <a:chExt cx="0" cy="0"/>
        </a:xfrm>
      </p:grpSpPr>
      <p:grpSp>
        <p:nvGrpSpPr>
          <p:cNvPr id="2" name="Group 2"/>
          <p:cNvGrpSpPr/>
          <p:nvPr/>
        </p:nvGrpSpPr>
        <p:grpSpPr>
          <a:xfrm>
            <a:off x="425407" y="4832633"/>
            <a:ext cx="169903" cy="169903"/>
            <a:chOff x="0" y="0"/>
            <a:chExt cx="226537" cy="226537"/>
          </a:xfrm>
        </p:grpSpPr>
        <p:sp>
          <p:nvSpPr>
            <p:cNvPr id="3" name="Freeform 3"/>
            <p:cNvSpPr/>
            <p:nvPr/>
          </p:nvSpPr>
          <p:spPr>
            <a:xfrm>
              <a:off x="0" y="0"/>
              <a:ext cx="226568" cy="226568"/>
            </a:xfrm>
            <a:custGeom>
              <a:avLst/>
              <a:gdLst/>
              <a:ahLst/>
              <a:cxnLst/>
              <a:rect l="l" t="t" r="r" b="b"/>
              <a:pathLst>
                <a:path w="226568" h="226568">
                  <a:moveTo>
                    <a:pt x="113284" y="0"/>
                  </a:moveTo>
                  <a:cubicBezTo>
                    <a:pt x="50673" y="0"/>
                    <a:pt x="0" y="50673"/>
                    <a:pt x="0" y="113284"/>
                  </a:cubicBezTo>
                  <a:cubicBezTo>
                    <a:pt x="0" y="175895"/>
                    <a:pt x="50673" y="226568"/>
                    <a:pt x="113284" y="226568"/>
                  </a:cubicBezTo>
                  <a:cubicBezTo>
                    <a:pt x="175895" y="226568"/>
                    <a:pt x="226568" y="175895"/>
                    <a:pt x="226568" y="113284"/>
                  </a:cubicBezTo>
                  <a:cubicBezTo>
                    <a:pt x="226568" y="50673"/>
                    <a:pt x="175768" y="0"/>
                    <a:pt x="113284" y="0"/>
                  </a:cubicBezTo>
                  <a:close/>
                </a:path>
              </a:pathLst>
            </a:custGeom>
            <a:solidFill>
              <a:srgbClr val="F7CD34"/>
            </a:solidFill>
          </p:spPr>
          <p:txBody>
            <a:bodyPr/>
            <a:lstStyle/>
            <a:p>
              <a:endParaRPr lang="en-GB"/>
            </a:p>
          </p:txBody>
        </p:sp>
      </p:grpSp>
      <p:grpSp>
        <p:nvGrpSpPr>
          <p:cNvPr id="4" name="Group 4"/>
          <p:cNvGrpSpPr/>
          <p:nvPr/>
        </p:nvGrpSpPr>
        <p:grpSpPr>
          <a:xfrm>
            <a:off x="4887514" y="8871128"/>
            <a:ext cx="169903" cy="169903"/>
            <a:chOff x="0" y="0"/>
            <a:chExt cx="226537" cy="226537"/>
          </a:xfrm>
        </p:grpSpPr>
        <p:sp>
          <p:nvSpPr>
            <p:cNvPr id="5" name="Freeform 5"/>
            <p:cNvSpPr/>
            <p:nvPr/>
          </p:nvSpPr>
          <p:spPr>
            <a:xfrm>
              <a:off x="0" y="0"/>
              <a:ext cx="226568" cy="226568"/>
            </a:xfrm>
            <a:custGeom>
              <a:avLst/>
              <a:gdLst/>
              <a:ahLst/>
              <a:cxnLst/>
              <a:rect l="l" t="t" r="r" b="b"/>
              <a:pathLst>
                <a:path w="226568" h="226568">
                  <a:moveTo>
                    <a:pt x="113284" y="0"/>
                  </a:moveTo>
                  <a:cubicBezTo>
                    <a:pt x="50673" y="0"/>
                    <a:pt x="0" y="50673"/>
                    <a:pt x="0" y="113284"/>
                  </a:cubicBezTo>
                  <a:cubicBezTo>
                    <a:pt x="0" y="175895"/>
                    <a:pt x="50673" y="226568"/>
                    <a:pt x="113284" y="226568"/>
                  </a:cubicBezTo>
                  <a:cubicBezTo>
                    <a:pt x="175895" y="226568"/>
                    <a:pt x="226568" y="175895"/>
                    <a:pt x="226568" y="113284"/>
                  </a:cubicBezTo>
                  <a:cubicBezTo>
                    <a:pt x="226568" y="50673"/>
                    <a:pt x="175768" y="0"/>
                    <a:pt x="113284" y="0"/>
                  </a:cubicBezTo>
                  <a:close/>
                </a:path>
              </a:pathLst>
            </a:custGeom>
            <a:solidFill>
              <a:srgbClr val="51A681"/>
            </a:solidFill>
          </p:spPr>
          <p:txBody>
            <a:bodyPr/>
            <a:lstStyle/>
            <a:p>
              <a:endParaRPr lang="en-GB"/>
            </a:p>
          </p:txBody>
        </p:sp>
      </p:grpSp>
      <p:grpSp>
        <p:nvGrpSpPr>
          <p:cNvPr id="6" name="Group 6"/>
          <p:cNvGrpSpPr/>
          <p:nvPr/>
        </p:nvGrpSpPr>
        <p:grpSpPr>
          <a:xfrm>
            <a:off x="510358" y="7805535"/>
            <a:ext cx="169903" cy="169903"/>
            <a:chOff x="0" y="0"/>
            <a:chExt cx="226537" cy="226537"/>
          </a:xfrm>
        </p:grpSpPr>
        <p:sp>
          <p:nvSpPr>
            <p:cNvPr id="7" name="Freeform 7"/>
            <p:cNvSpPr/>
            <p:nvPr/>
          </p:nvSpPr>
          <p:spPr>
            <a:xfrm>
              <a:off x="0" y="0"/>
              <a:ext cx="226568" cy="226568"/>
            </a:xfrm>
            <a:custGeom>
              <a:avLst/>
              <a:gdLst/>
              <a:ahLst/>
              <a:cxnLst/>
              <a:rect l="l" t="t" r="r" b="b"/>
              <a:pathLst>
                <a:path w="226568" h="226568">
                  <a:moveTo>
                    <a:pt x="113284" y="0"/>
                  </a:moveTo>
                  <a:cubicBezTo>
                    <a:pt x="50673" y="0"/>
                    <a:pt x="0" y="50673"/>
                    <a:pt x="0" y="113284"/>
                  </a:cubicBezTo>
                  <a:cubicBezTo>
                    <a:pt x="0" y="175895"/>
                    <a:pt x="50673" y="226568"/>
                    <a:pt x="113284" y="226568"/>
                  </a:cubicBezTo>
                  <a:cubicBezTo>
                    <a:pt x="175895" y="226568"/>
                    <a:pt x="226568" y="175895"/>
                    <a:pt x="226568" y="113284"/>
                  </a:cubicBezTo>
                  <a:cubicBezTo>
                    <a:pt x="226568" y="50673"/>
                    <a:pt x="175768" y="0"/>
                    <a:pt x="113284" y="0"/>
                  </a:cubicBezTo>
                  <a:close/>
                </a:path>
              </a:pathLst>
            </a:custGeom>
            <a:solidFill>
              <a:srgbClr val="F14975"/>
            </a:solidFill>
          </p:spPr>
          <p:txBody>
            <a:bodyPr/>
            <a:lstStyle/>
            <a:p>
              <a:endParaRPr lang="en-GB"/>
            </a:p>
          </p:txBody>
        </p:sp>
      </p:grpSp>
      <p:grpSp>
        <p:nvGrpSpPr>
          <p:cNvPr id="8" name="Group 8"/>
          <p:cNvGrpSpPr/>
          <p:nvPr/>
        </p:nvGrpSpPr>
        <p:grpSpPr>
          <a:xfrm>
            <a:off x="17541706" y="4174635"/>
            <a:ext cx="169903" cy="169903"/>
            <a:chOff x="0" y="0"/>
            <a:chExt cx="226537" cy="226537"/>
          </a:xfrm>
        </p:grpSpPr>
        <p:sp>
          <p:nvSpPr>
            <p:cNvPr id="9" name="Freeform 9"/>
            <p:cNvSpPr/>
            <p:nvPr/>
          </p:nvSpPr>
          <p:spPr>
            <a:xfrm>
              <a:off x="0" y="0"/>
              <a:ext cx="226568" cy="226568"/>
            </a:xfrm>
            <a:custGeom>
              <a:avLst/>
              <a:gdLst/>
              <a:ahLst/>
              <a:cxnLst/>
              <a:rect l="l" t="t" r="r" b="b"/>
              <a:pathLst>
                <a:path w="226568" h="226568">
                  <a:moveTo>
                    <a:pt x="113284" y="0"/>
                  </a:moveTo>
                  <a:cubicBezTo>
                    <a:pt x="50673" y="0"/>
                    <a:pt x="0" y="50673"/>
                    <a:pt x="0" y="113284"/>
                  </a:cubicBezTo>
                  <a:cubicBezTo>
                    <a:pt x="0" y="175895"/>
                    <a:pt x="50673" y="226568"/>
                    <a:pt x="113284" y="226568"/>
                  </a:cubicBezTo>
                  <a:cubicBezTo>
                    <a:pt x="175895" y="226568"/>
                    <a:pt x="226568" y="175895"/>
                    <a:pt x="226568" y="113284"/>
                  </a:cubicBezTo>
                  <a:cubicBezTo>
                    <a:pt x="226568" y="50673"/>
                    <a:pt x="175768" y="0"/>
                    <a:pt x="113284" y="0"/>
                  </a:cubicBezTo>
                  <a:close/>
                </a:path>
              </a:pathLst>
            </a:custGeom>
            <a:solidFill>
              <a:srgbClr val="51A681"/>
            </a:solidFill>
          </p:spPr>
          <p:txBody>
            <a:bodyPr/>
            <a:lstStyle/>
            <a:p>
              <a:endParaRPr lang="en-GB"/>
            </a:p>
          </p:txBody>
        </p:sp>
      </p:grpSp>
      <p:grpSp>
        <p:nvGrpSpPr>
          <p:cNvPr id="10" name="Group 10"/>
          <p:cNvGrpSpPr/>
          <p:nvPr/>
        </p:nvGrpSpPr>
        <p:grpSpPr>
          <a:xfrm>
            <a:off x="17456754" y="9422539"/>
            <a:ext cx="169903" cy="169903"/>
            <a:chOff x="0" y="0"/>
            <a:chExt cx="226537" cy="226537"/>
          </a:xfrm>
        </p:grpSpPr>
        <p:sp>
          <p:nvSpPr>
            <p:cNvPr id="11" name="Freeform 11"/>
            <p:cNvSpPr/>
            <p:nvPr/>
          </p:nvSpPr>
          <p:spPr>
            <a:xfrm>
              <a:off x="0" y="0"/>
              <a:ext cx="226568" cy="226568"/>
            </a:xfrm>
            <a:custGeom>
              <a:avLst/>
              <a:gdLst/>
              <a:ahLst/>
              <a:cxnLst/>
              <a:rect l="l" t="t" r="r" b="b"/>
              <a:pathLst>
                <a:path w="226568" h="226568">
                  <a:moveTo>
                    <a:pt x="113284" y="0"/>
                  </a:moveTo>
                  <a:cubicBezTo>
                    <a:pt x="50673" y="0"/>
                    <a:pt x="0" y="50673"/>
                    <a:pt x="0" y="113284"/>
                  </a:cubicBezTo>
                  <a:cubicBezTo>
                    <a:pt x="0" y="175895"/>
                    <a:pt x="50673" y="226568"/>
                    <a:pt x="113284" y="226568"/>
                  </a:cubicBezTo>
                  <a:cubicBezTo>
                    <a:pt x="175895" y="226568"/>
                    <a:pt x="226568" y="175895"/>
                    <a:pt x="226568" y="113284"/>
                  </a:cubicBezTo>
                  <a:cubicBezTo>
                    <a:pt x="226568" y="50673"/>
                    <a:pt x="175768" y="0"/>
                    <a:pt x="113284" y="0"/>
                  </a:cubicBezTo>
                  <a:close/>
                </a:path>
              </a:pathLst>
            </a:custGeom>
            <a:solidFill>
              <a:srgbClr val="51A681"/>
            </a:solidFill>
          </p:spPr>
          <p:txBody>
            <a:bodyPr/>
            <a:lstStyle/>
            <a:p>
              <a:endParaRPr lang="en-GB"/>
            </a:p>
          </p:txBody>
        </p:sp>
      </p:grpSp>
      <p:grpSp>
        <p:nvGrpSpPr>
          <p:cNvPr id="12" name="Group 12"/>
          <p:cNvGrpSpPr/>
          <p:nvPr/>
        </p:nvGrpSpPr>
        <p:grpSpPr>
          <a:xfrm>
            <a:off x="17881511" y="6048563"/>
            <a:ext cx="169903" cy="169903"/>
            <a:chOff x="0" y="0"/>
            <a:chExt cx="226537" cy="226537"/>
          </a:xfrm>
        </p:grpSpPr>
        <p:sp>
          <p:nvSpPr>
            <p:cNvPr id="13" name="Freeform 13"/>
            <p:cNvSpPr/>
            <p:nvPr/>
          </p:nvSpPr>
          <p:spPr>
            <a:xfrm>
              <a:off x="0" y="0"/>
              <a:ext cx="226568" cy="226568"/>
            </a:xfrm>
            <a:custGeom>
              <a:avLst/>
              <a:gdLst/>
              <a:ahLst/>
              <a:cxnLst/>
              <a:rect l="l" t="t" r="r" b="b"/>
              <a:pathLst>
                <a:path w="226568" h="226568">
                  <a:moveTo>
                    <a:pt x="113284" y="0"/>
                  </a:moveTo>
                  <a:cubicBezTo>
                    <a:pt x="50673" y="0"/>
                    <a:pt x="0" y="50673"/>
                    <a:pt x="0" y="113284"/>
                  </a:cubicBezTo>
                  <a:cubicBezTo>
                    <a:pt x="0" y="175895"/>
                    <a:pt x="50673" y="226568"/>
                    <a:pt x="113284" y="226568"/>
                  </a:cubicBezTo>
                  <a:cubicBezTo>
                    <a:pt x="175895" y="226568"/>
                    <a:pt x="226568" y="175895"/>
                    <a:pt x="226568" y="113284"/>
                  </a:cubicBezTo>
                  <a:cubicBezTo>
                    <a:pt x="226568" y="50673"/>
                    <a:pt x="175768" y="0"/>
                    <a:pt x="113284" y="0"/>
                  </a:cubicBezTo>
                  <a:close/>
                </a:path>
              </a:pathLst>
            </a:custGeom>
            <a:solidFill>
              <a:srgbClr val="F7CD34"/>
            </a:solidFill>
          </p:spPr>
          <p:txBody>
            <a:bodyPr/>
            <a:lstStyle/>
            <a:p>
              <a:endParaRPr lang="en-GB"/>
            </a:p>
          </p:txBody>
        </p:sp>
      </p:grpSp>
      <p:grpSp>
        <p:nvGrpSpPr>
          <p:cNvPr id="14" name="Group 14"/>
          <p:cNvGrpSpPr/>
          <p:nvPr/>
        </p:nvGrpSpPr>
        <p:grpSpPr>
          <a:xfrm>
            <a:off x="0" y="1899336"/>
            <a:ext cx="18288000" cy="8640085"/>
            <a:chOff x="0" y="0"/>
            <a:chExt cx="5683590" cy="2275578"/>
          </a:xfrm>
        </p:grpSpPr>
        <p:sp>
          <p:nvSpPr>
            <p:cNvPr id="15" name="Freeform 15"/>
            <p:cNvSpPr/>
            <p:nvPr/>
          </p:nvSpPr>
          <p:spPr>
            <a:xfrm>
              <a:off x="0" y="0"/>
              <a:ext cx="5683590" cy="2275578"/>
            </a:xfrm>
            <a:custGeom>
              <a:avLst/>
              <a:gdLst/>
              <a:ahLst/>
              <a:cxnLst/>
              <a:rect l="l" t="t" r="r" b="b"/>
              <a:pathLst>
                <a:path w="5683590" h="2275578">
                  <a:moveTo>
                    <a:pt x="0" y="0"/>
                  </a:moveTo>
                  <a:lnTo>
                    <a:pt x="5683590" y="0"/>
                  </a:lnTo>
                  <a:lnTo>
                    <a:pt x="5683590" y="2275578"/>
                  </a:lnTo>
                  <a:lnTo>
                    <a:pt x="0" y="2275578"/>
                  </a:lnTo>
                  <a:close/>
                </a:path>
              </a:pathLst>
            </a:custGeom>
            <a:solidFill>
              <a:srgbClr val="FFF3DE"/>
            </a:solidFill>
          </p:spPr>
          <p:txBody>
            <a:bodyPr/>
            <a:lstStyle/>
            <a:p>
              <a:endParaRPr lang="en-GB"/>
            </a:p>
          </p:txBody>
        </p:sp>
        <p:sp>
          <p:nvSpPr>
            <p:cNvPr id="16" name="TextBox 16"/>
            <p:cNvSpPr txBox="1"/>
            <p:nvPr/>
          </p:nvSpPr>
          <p:spPr>
            <a:xfrm>
              <a:off x="0" y="-95250"/>
              <a:ext cx="5683590" cy="2370828"/>
            </a:xfrm>
            <a:prstGeom prst="rect">
              <a:avLst/>
            </a:prstGeom>
          </p:spPr>
          <p:txBody>
            <a:bodyPr lIns="50800" tIns="50800" rIns="50800" bIns="50800" rtlCol="0" anchor="ctr"/>
            <a:lstStyle/>
            <a:p>
              <a:pPr algn="ctr">
                <a:lnSpc>
                  <a:spcPts val="3500"/>
                </a:lnSpc>
              </a:pPr>
              <a:endParaRPr/>
            </a:p>
          </p:txBody>
        </p:sp>
      </p:grpSp>
      <p:sp>
        <p:nvSpPr>
          <p:cNvPr id="17" name="Freeform 17"/>
          <p:cNvSpPr/>
          <p:nvPr/>
        </p:nvSpPr>
        <p:spPr>
          <a:xfrm>
            <a:off x="16695181" y="148852"/>
            <a:ext cx="1523145" cy="305852"/>
          </a:xfrm>
          <a:custGeom>
            <a:avLst/>
            <a:gdLst/>
            <a:ahLst/>
            <a:cxnLst/>
            <a:rect l="l" t="t" r="r" b="b"/>
            <a:pathLst>
              <a:path w="1523145" h="305852">
                <a:moveTo>
                  <a:pt x="0" y="0"/>
                </a:moveTo>
                <a:lnTo>
                  <a:pt x="1523146" y="0"/>
                </a:lnTo>
                <a:lnTo>
                  <a:pt x="1523146" y="305853"/>
                </a:lnTo>
                <a:lnTo>
                  <a:pt x="0" y="305853"/>
                </a:lnTo>
                <a:lnTo>
                  <a:pt x="0" y="0"/>
                </a:lnTo>
                <a:close/>
              </a:path>
            </a:pathLst>
          </a:custGeom>
          <a:blipFill>
            <a:blip r:embed="rId3"/>
            <a:stretch>
              <a:fillRect/>
            </a:stretch>
          </a:blipFill>
        </p:spPr>
        <p:txBody>
          <a:bodyPr/>
          <a:lstStyle/>
          <a:p>
            <a:endParaRPr lang="en-GB"/>
          </a:p>
        </p:txBody>
      </p:sp>
      <p:sp>
        <p:nvSpPr>
          <p:cNvPr id="18" name="Freeform 18"/>
          <p:cNvSpPr/>
          <p:nvPr/>
        </p:nvSpPr>
        <p:spPr>
          <a:xfrm>
            <a:off x="0" y="0"/>
            <a:ext cx="3976378" cy="1899336"/>
          </a:xfrm>
          <a:custGeom>
            <a:avLst/>
            <a:gdLst/>
            <a:ahLst/>
            <a:cxnLst/>
            <a:rect l="l" t="t" r="r" b="b"/>
            <a:pathLst>
              <a:path w="3976378" h="1899336">
                <a:moveTo>
                  <a:pt x="0" y="0"/>
                </a:moveTo>
                <a:lnTo>
                  <a:pt x="3976378" y="0"/>
                </a:lnTo>
                <a:lnTo>
                  <a:pt x="3976378" y="1899336"/>
                </a:lnTo>
                <a:lnTo>
                  <a:pt x="0" y="1899336"/>
                </a:lnTo>
                <a:lnTo>
                  <a:pt x="0" y="0"/>
                </a:lnTo>
                <a:close/>
              </a:path>
            </a:pathLst>
          </a:custGeom>
          <a:blipFill>
            <a:blip r:embed="rId4"/>
            <a:stretch>
              <a:fillRect t="-1070" b="-16692"/>
            </a:stretch>
          </a:blipFill>
        </p:spPr>
        <p:txBody>
          <a:bodyPr/>
          <a:lstStyle/>
          <a:p>
            <a:endParaRPr lang="en-GB"/>
          </a:p>
        </p:txBody>
      </p:sp>
      <p:sp>
        <p:nvSpPr>
          <p:cNvPr id="19" name="TextBox 19"/>
          <p:cNvSpPr txBox="1"/>
          <p:nvPr/>
        </p:nvSpPr>
        <p:spPr>
          <a:xfrm>
            <a:off x="680261" y="2000558"/>
            <a:ext cx="6931311" cy="7506933"/>
          </a:xfrm>
          <a:prstGeom prst="rect">
            <a:avLst/>
          </a:prstGeom>
        </p:spPr>
        <p:txBody>
          <a:bodyPr lIns="0" tIns="0" rIns="0" bIns="0" rtlCol="0" anchor="t">
            <a:spAutoFit/>
          </a:bodyPr>
          <a:lstStyle/>
          <a:p>
            <a:pPr algn="l">
              <a:lnSpc>
                <a:spcPts val="4600"/>
              </a:lnSpc>
              <a:spcBef>
                <a:spcPct val="0"/>
              </a:spcBef>
            </a:pPr>
            <a:r>
              <a:rPr lang="en-US" sz="3286">
                <a:solidFill>
                  <a:srgbClr val="000000"/>
                </a:solidFill>
                <a:latin typeface="DIN Offc 3"/>
                <a:ea typeface="DIN Offc 3"/>
                <a:cs typeface="DIN Offc 3"/>
                <a:sym typeface="DIN Offc 3"/>
              </a:rPr>
              <a:t>What’s available</a:t>
            </a:r>
          </a:p>
          <a:p>
            <a:pPr marL="709518" lvl="1" indent="-354759" algn="l">
              <a:lnSpc>
                <a:spcPts val="4600"/>
              </a:lnSpc>
              <a:buFont typeface="Arial"/>
              <a:buChar char="•"/>
            </a:pPr>
            <a:r>
              <a:rPr lang="en-US" sz="3286">
                <a:solidFill>
                  <a:srgbClr val="000000"/>
                </a:solidFill>
                <a:latin typeface="DIN Offc 1"/>
                <a:ea typeface="DIN Offc 1"/>
                <a:cs typeface="DIN Offc 1"/>
                <a:sym typeface="DIN Offc 1"/>
              </a:rPr>
              <a:t>Study abroad (Semester or Full Year)</a:t>
            </a:r>
          </a:p>
          <a:p>
            <a:pPr marL="709518" lvl="1" indent="-354759" algn="l">
              <a:lnSpc>
                <a:spcPts val="4600"/>
              </a:lnSpc>
              <a:buFont typeface="Arial"/>
              <a:buChar char="•"/>
            </a:pPr>
            <a:r>
              <a:rPr lang="en-US" sz="3286">
                <a:solidFill>
                  <a:srgbClr val="000000"/>
                </a:solidFill>
                <a:latin typeface="DIN Offc 1"/>
                <a:ea typeface="DIN Offc 1"/>
                <a:cs typeface="DIN Offc 1"/>
                <a:sym typeface="DIN Offc 1"/>
              </a:rPr>
              <a:t>Work placements abroad (14+ days)</a:t>
            </a:r>
          </a:p>
          <a:p>
            <a:pPr marL="709518" lvl="1" indent="-354759" algn="l">
              <a:lnSpc>
                <a:spcPts val="4600"/>
              </a:lnSpc>
              <a:buFont typeface="Arial"/>
              <a:buChar char="•"/>
            </a:pPr>
            <a:r>
              <a:rPr lang="en-US" sz="3286">
                <a:solidFill>
                  <a:srgbClr val="000000"/>
                </a:solidFill>
                <a:latin typeface="DIN Offc 1"/>
                <a:ea typeface="DIN Offc 1"/>
                <a:cs typeface="DIN Offc 1"/>
                <a:sym typeface="DIN Offc 1"/>
              </a:rPr>
              <a:t>Summer programmes (study, volunteering, internships)</a:t>
            </a:r>
          </a:p>
          <a:p>
            <a:pPr algn="l">
              <a:lnSpc>
                <a:spcPts val="4600"/>
              </a:lnSpc>
            </a:pPr>
            <a:r>
              <a:rPr lang="en-US" sz="3286">
                <a:solidFill>
                  <a:srgbClr val="000000"/>
                </a:solidFill>
                <a:latin typeface="DIN Offc 3"/>
                <a:ea typeface="DIN Offc 3"/>
                <a:cs typeface="DIN Offc 3"/>
                <a:sym typeface="DIN Offc 3"/>
              </a:rPr>
              <a:t>Destinations</a:t>
            </a:r>
          </a:p>
          <a:p>
            <a:pPr marL="709518" lvl="1" indent="-354759" algn="l">
              <a:lnSpc>
                <a:spcPts val="4600"/>
              </a:lnSpc>
              <a:buFont typeface="Arial"/>
              <a:buChar char="•"/>
            </a:pPr>
            <a:r>
              <a:rPr lang="en-US" sz="3286">
                <a:solidFill>
                  <a:srgbClr val="000000"/>
                </a:solidFill>
                <a:latin typeface="DIN Offc 1"/>
                <a:ea typeface="DIN Offc 1"/>
                <a:cs typeface="DIN Offc 1"/>
                <a:sym typeface="DIN Offc 1"/>
              </a:rPr>
              <a:t>Wide range depending on course</a:t>
            </a:r>
          </a:p>
          <a:p>
            <a:pPr marL="709518" lvl="1" indent="-354759" algn="l">
              <a:lnSpc>
                <a:spcPts val="4600"/>
              </a:lnSpc>
              <a:buFont typeface="Arial"/>
              <a:buChar char="•"/>
            </a:pPr>
            <a:r>
              <a:rPr lang="en-US" sz="3286">
                <a:solidFill>
                  <a:srgbClr val="000000"/>
                </a:solidFill>
                <a:latin typeface="DIN Offc 1"/>
                <a:ea typeface="DIN Offc 1"/>
                <a:cs typeface="DIN Offc 1"/>
                <a:sym typeface="DIN Offc 1"/>
              </a:rPr>
              <a:t>Destination videos available on Moodle</a:t>
            </a:r>
          </a:p>
          <a:p>
            <a:pPr algn="l">
              <a:lnSpc>
                <a:spcPts val="4600"/>
              </a:lnSpc>
            </a:pPr>
            <a:endParaRPr lang="en-US" sz="3286">
              <a:solidFill>
                <a:srgbClr val="000000"/>
              </a:solidFill>
              <a:latin typeface="DIN Offc 1"/>
              <a:ea typeface="DIN Offc 1"/>
              <a:cs typeface="DIN Offc 1"/>
              <a:sym typeface="DIN Offc 1"/>
            </a:endParaRPr>
          </a:p>
          <a:p>
            <a:pPr algn="ctr">
              <a:lnSpc>
                <a:spcPts val="3602"/>
              </a:lnSpc>
              <a:spcBef>
                <a:spcPct val="0"/>
              </a:spcBef>
            </a:pPr>
            <a:endParaRPr lang="en-US" sz="3286">
              <a:solidFill>
                <a:srgbClr val="000000"/>
              </a:solidFill>
              <a:latin typeface="DIN Offc 1"/>
              <a:ea typeface="DIN Offc 1"/>
              <a:cs typeface="DIN Offc 1"/>
              <a:sym typeface="DIN Offc 1"/>
            </a:endParaRPr>
          </a:p>
        </p:txBody>
      </p:sp>
      <p:sp>
        <p:nvSpPr>
          <p:cNvPr id="20" name="Freeform 20"/>
          <p:cNvSpPr/>
          <p:nvPr/>
        </p:nvSpPr>
        <p:spPr>
          <a:xfrm>
            <a:off x="14817142" y="6252245"/>
            <a:ext cx="5346833" cy="5407669"/>
          </a:xfrm>
          <a:custGeom>
            <a:avLst/>
            <a:gdLst/>
            <a:ahLst/>
            <a:cxnLst/>
            <a:rect l="l" t="t" r="r" b="b"/>
            <a:pathLst>
              <a:path w="5346833" h="5407669">
                <a:moveTo>
                  <a:pt x="0" y="0"/>
                </a:moveTo>
                <a:lnTo>
                  <a:pt x="5346833" y="0"/>
                </a:lnTo>
                <a:lnTo>
                  <a:pt x="5346833" y="5407669"/>
                </a:lnTo>
                <a:lnTo>
                  <a:pt x="0" y="5407669"/>
                </a:lnTo>
                <a:lnTo>
                  <a:pt x="0" y="0"/>
                </a:lnTo>
                <a:close/>
              </a:path>
            </a:pathLst>
          </a:custGeom>
          <a:blipFill>
            <a:blip r:embed="rId5">
              <a:alphaModFix amt="60000"/>
              <a:extLst>
                <a:ext uri="{96DAC541-7B7A-43D3-8B79-37D633B846F1}">
                  <asvg:svgBlip xmlns:asvg="http://schemas.microsoft.com/office/drawing/2016/SVG/main" r:embed="rId6"/>
                </a:ext>
              </a:extLst>
            </a:blip>
            <a:stretch>
              <a:fillRect/>
            </a:stretch>
          </a:blipFill>
        </p:spPr>
        <p:txBody>
          <a:bodyPr/>
          <a:lstStyle/>
          <a:p>
            <a:endParaRPr lang="en-GB"/>
          </a:p>
        </p:txBody>
      </p:sp>
      <p:sp>
        <p:nvSpPr>
          <p:cNvPr id="21" name="TextBox 21"/>
          <p:cNvSpPr txBox="1"/>
          <p:nvPr/>
        </p:nvSpPr>
        <p:spPr>
          <a:xfrm>
            <a:off x="2814849" y="54128"/>
            <a:ext cx="15473151" cy="1543429"/>
          </a:xfrm>
          <a:prstGeom prst="rect">
            <a:avLst/>
          </a:prstGeom>
        </p:spPr>
        <p:txBody>
          <a:bodyPr lIns="0" tIns="0" rIns="0" bIns="0" rtlCol="0" anchor="t">
            <a:spAutoFit/>
          </a:bodyPr>
          <a:lstStyle/>
          <a:p>
            <a:pPr algn="ctr">
              <a:lnSpc>
                <a:spcPts val="11145"/>
              </a:lnSpc>
            </a:pPr>
            <a:r>
              <a:rPr lang="en-US" sz="8573" b="1">
                <a:solidFill>
                  <a:srgbClr val="C3EDFE"/>
                </a:solidFill>
                <a:latin typeface="FH Lecturis Rounded Test Bold"/>
                <a:ea typeface="FH Lecturis Rounded Test Bold"/>
                <a:cs typeface="FH Lecturis Rounded Test Bold"/>
                <a:sym typeface="FH Lecturis Rounded Test Bold"/>
              </a:rPr>
              <a:t>Go Abroad Opportunities</a:t>
            </a:r>
          </a:p>
        </p:txBody>
      </p:sp>
      <p:sp>
        <p:nvSpPr>
          <p:cNvPr id="22" name="TextBox 22"/>
          <p:cNvSpPr txBox="1"/>
          <p:nvPr/>
        </p:nvSpPr>
        <p:spPr>
          <a:xfrm>
            <a:off x="8127995" y="2010083"/>
            <a:ext cx="7215114" cy="9951035"/>
          </a:xfrm>
          <a:prstGeom prst="rect">
            <a:avLst/>
          </a:prstGeom>
        </p:spPr>
        <p:txBody>
          <a:bodyPr lIns="0" tIns="0" rIns="0" bIns="0" rtlCol="0" anchor="t">
            <a:spAutoFit/>
          </a:bodyPr>
          <a:lstStyle/>
          <a:p>
            <a:pPr algn="l">
              <a:lnSpc>
                <a:spcPts val="4589"/>
              </a:lnSpc>
            </a:pPr>
            <a:r>
              <a:rPr lang="en-US" sz="3278">
                <a:solidFill>
                  <a:srgbClr val="000000"/>
                </a:solidFill>
                <a:latin typeface="DIN Offc 3"/>
                <a:ea typeface="DIN Offc 3"/>
                <a:cs typeface="DIN Offc 3"/>
                <a:sym typeface="DIN Offc 3"/>
              </a:rPr>
              <a:t>Funding</a:t>
            </a:r>
          </a:p>
          <a:p>
            <a:pPr marL="707755" lvl="1" indent="-353877" algn="l">
              <a:lnSpc>
                <a:spcPts val="4589"/>
              </a:lnSpc>
              <a:buFont typeface="Arial"/>
              <a:buChar char="•"/>
            </a:pPr>
            <a:r>
              <a:rPr lang="en-US" sz="3278">
                <a:solidFill>
                  <a:srgbClr val="000000"/>
                </a:solidFill>
                <a:latin typeface="DIN Offc 1"/>
                <a:ea typeface="DIN Offc 1"/>
                <a:cs typeface="DIN Offc 1"/>
                <a:sym typeface="DIN Offc 1"/>
              </a:rPr>
              <a:t>Turing Scheme funding available</a:t>
            </a:r>
          </a:p>
          <a:p>
            <a:pPr marL="707755" lvl="1" indent="-353877" algn="l">
              <a:lnSpc>
                <a:spcPts val="4589"/>
              </a:lnSpc>
              <a:buFont typeface="Arial"/>
              <a:buChar char="•"/>
            </a:pPr>
            <a:r>
              <a:rPr lang="en-US" sz="3278">
                <a:solidFill>
                  <a:srgbClr val="000000"/>
                </a:solidFill>
                <a:latin typeface="DIN Offc 1"/>
                <a:ea typeface="DIN Offc 1"/>
                <a:cs typeface="DIN Offc 1"/>
                <a:sym typeface="DIN Offc 1"/>
              </a:rPr>
              <a:t>Basic funding for all eligible students</a:t>
            </a:r>
          </a:p>
          <a:p>
            <a:pPr marL="707755" lvl="1" indent="-353877" algn="l">
              <a:lnSpc>
                <a:spcPts val="4589"/>
              </a:lnSpc>
              <a:buFont typeface="Arial"/>
              <a:buChar char="•"/>
            </a:pPr>
            <a:r>
              <a:rPr lang="en-US" sz="3278">
                <a:solidFill>
                  <a:srgbClr val="000000"/>
                </a:solidFill>
                <a:latin typeface="DIN Offc 1"/>
                <a:ea typeface="DIN Offc 1"/>
                <a:cs typeface="DIN Offc 1"/>
                <a:sym typeface="DIN Offc 1"/>
              </a:rPr>
              <a:t>Top-ups for WP students</a:t>
            </a:r>
          </a:p>
          <a:p>
            <a:pPr marL="707755" lvl="1" indent="-353877" algn="l">
              <a:lnSpc>
                <a:spcPts val="4589"/>
              </a:lnSpc>
              <a:buFont typeface="Arial"/>
              <a:buChar char="•"/>
            </a:pPr>
            <a:r>
              <a:rPr lang="en-US" sz="3278">
                <a:solidFill>
                  <a:srgbClr val="000000"/>
                </a:solidFill>
                <a:latin typeface="DIN Offc 1"/>
                <a:ea typeface="DIN Offc 1"/>
                <a:cs typeface="DIN Offc 1"/>
                <a:sym typeface="DIN Offc 1"/>
              </a:rPr>
              <a:t>Amount depends on destination, duration &amp; country tier</a:t>
            </a:r>
          </a:p>
          <a:p>
            <a:pPr algn="l">
              <a:lnSpc>
                <a:spcPts val="4589"/>
              </a:lnSpc>
            </a:pPr>
            <a:r>
              <a:rPr lang="en-US" sz="3278">
                <a:solidFill>
                  <a:srgbClr val="000000"/>
                </a:solidFill>
                <a:latin typeface="DIN Offc 3"/>
                <a:ea typeface="DIN Offc 3"/>
                <a:cs typeface="DIN Offc 3"/>
                <a:sym typeface="DIN Offc 3"/>
              </a:rPr>
              <a:t>Who can apply</a:t>
            </a:r>
          </a:p>
          <a:p>
            <a:pPr marL="707755" lvl="1" indent="-353877" algn="l">
              <a:lnSpc>
                <a:spcPts val="4589"/>
              </a:lnSpc>
              <a:buFont typeface="Arial"/>
              <a:buChar char="•"/>
            </a:pPr>
            <a:r>
              <a:rPr lang="en-US" sz="3278">
                <a:solidFill>
                  <a:srgbClr val="000000"/>
                </a:solidFill>
                <a:latin typeface="DIN Offc 1"/>
                <a:ea typeface="DIN Offc 1"/>
                <a:cs typeface="DIN Offc 1"/>
                <a:sym typeface="DIN Offc 1"/>
              </a:rPr>
              <a:t>Linked and non-linked degree options</a:t>
            </a:r>
          </a:p>
          <a:p>
            <a:pPr marL="707755" lvl="1" indent="-353877" algn="l">
              <a:lnSpc>
                <a:spcPts val="4589"/>
              </a:lnSpc>
              <a:buFont typeface="Arial"/>
              <a:buChar char="•"/>
            </a:pPr>
            <a:r>
              <a:rPr lang="en-US" sz="3278">
                <a:solidFill>
                  <a:srgbClr val="000000"/>
                </a:solidFill>
                <a:latin typeface="DIN Offc 1"/>
                <a:ea typeface="DIN Offc 1"/>
                <a:cs typeface="DIN Offc 1"/>
                <a:sym typeface="DIN Offc 1"/>
              </a:rPr>
              <a:t>Course approval + 60% average required</a:t>
            </a:r>
          </a:p>
          <a:p>
            <a:pPr marL="707755" lvl="1" indent="-353877" algn="l">
              <a:lnSpc>
                <a:spcPts val="4589"/>
              </a:lnSpc>
              <a:buFont typeface="Arial"/>
              <a:buChar char="•"/>
            </a:pPr>
            <a:r>
              <a:rPr lang="en-US" sz="3278">
                <a:solidFill>
                  <a:srgbClr val="000000"/>
                </a:solidFill>
                <a:latin typeface="DIN Offc 1"/>
                <a:ea typeface="DIN Offc 1"/>
                <a:cs typeface="DIN Offc 1"/>
                <a:sym typeface="DIN Offc 1"/>
              </a:rPr>
              <a:t>Credit transferred pass/fail (does not affect degree)</a:t>
            </a:r>
          </a:p>
          <a:p>
            <a:pPr algn="l">
              <a:lnSpc>
                <a:spcPts val="4449"/>
              </a:lnSpc>
            </a:pPr>
            <a:endParaRPr lang="en-US" sz="3278">
              <a:solidFill>
                <a:srgbClr val="000000"/>
              </a:solidFill>
              <a:latin typeface="DIN Offc 1"/>
              <a:ea typeface="DIN Offc 1"/>
              <a:cs typeface="DIN Offc 1"/>
              <a:sym typeface="DIN Offc 1"/>
            </a:endParaRPr>
          </a:p>
          <a:p>
            <a:pPr algn="l">
              <a:lnSpc>
                <a:spcPts val="4449"/>
              </a:lnSpc>
            </a:pPr>
            <a:endParaRPr lang="en-US" sz="3278">
              <a:solidFill>
                <a:srgbClr val="000000"/>
              </a:solidFill>
              <a:latin typeface="DIN Offc 1"/>
              <a:ea typeface="DIN Offc 1"/>
              <a:cs typeface="DIN Offc 1"/>
              <a:sym typeface="DIN Offc 1"/>
            </a:endParaRPr>
          </a:p>
          <a:p>
            <a:pPr algn="ctr">
              <a:lnSpc>
                <a:spcPts val="5090"/>
              </a:lnSpc>
              <a:spcBef>
                <a:spcPct val="0"/>
              </a:spcBef>
            </a:pPr>
            <a:endParaRPr lang="en-US" sz="3278">
              <a:solidFill>
                <a:srgbClr val="000000"/>
              </a:solidFill>
              <a:latin typeface="DIN Offc 1"/>
              <a:ea typeface="DIN Offc 1"/>
              <a:cs typeface="DIN Offc 1"/>
              <a:sym typeface="DIN Offc 1"/>
            </a:endParaRPr>
          </a:p>
        </p:txBody>
      </p:sp>
      <p:grpSp>
        <p:nvGrpSpPr>
          <p:cNvPr id="23" name="Group 23"/>
          <p:cNvGrpSpPr/>
          <p:nvPr/>
        </p:nvGrpSpPr>
        <p:grpSpPr>
          <a:xfrm rot="10800000">
            <a:off x="17490558" y="1101894"/>
            <a:ext cx="797442" cy="797442"/>
            <a:chOff x="0" y="0"/>
            <a:chExt cx="1063256" cy="1063256"/>
          </a:xfrm>
        </p:grpSpPr>
        <p:grpSp>
          <p:nvGrpSpPr>
            <p:cNvPr id="24" name="Group 24"/>
            <p:cNvGrpSpPr/>
            <p:nvPr/>
          </p:nvGrpSpPr>
          <p:grpSpPr>
            <a:xfrm>
              <a:off x="0" y="531628"/>
              <a:ext cx="531628" cy="531628"/>
              <a:chOff x="0" y="0"/>
              <a:chExt cx="338164" cy="338164"/>
            </a:xfrm>
          </p:grpSpPr>
          <p:sp>
            <p:nvSpPr>
              <p:cNvPr id="25" name="Freeform 25"/>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26" name="TextBox 26"/>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nvGrpSpPr>
            <p:cNvPr id="27" name="Group 27"/>
            <p:cNvGrpSpPr/>
            <p:nvPr/>
          </p:nvGrpSpPr>
          <p:grpSpPr>
            <a:xfrm>
              <a:off x="531628" y="0"/>
              <a:ext cx="531628" cy="531628"/>
              <a:chOff x="0" y="0"/>
              <a:chExt cx="338164" cy="338164"/>
            </a:xfrm>
          </p:grpSpPr>
          <p:sp>
            <p:nvSpPr>
              <p:cNvPr id="28" name="Freeform 28"/>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29" name="TextBox 29"/>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2E4E"/>
        </a:solidFill>
        <a:effectLst/>
      </p:bgPr>
    </p:bg>
    <p:spTree>
      <p:nvGrpSpPr>
        <p:cNvPr id="1" name=""/>
        <p:cNvGrpSpPr/>
        <p:nvPr/>
      </p:nvGrpSpPr>
      <p:grpSpPr>
        <a:xfrm>
          <a:off x="0" y="0"/>
          <a:ext cx="0" cy="0"/>
          <a:chOff x="0" y="0"/>
          <a:chExt cx="0" cy="0"/>
        </a:xfrm>
      </p:grpSpPr>
      <p:grpSp>
        <p:nvGrpSpPr>
          <p:cNvPr id="2" name="Group 2"/>
          <p:cNvGrpSpPr/>
          <p:nvPr/>
        </p:nvGrpSpPr>
        <p:grpSpPr>
          <a:xfrm>
            <a:off x="425407" y="4832633"/>
            <a:ext cx="169903" cy="169903"/>
            <a:chOff x="0" y="0"/>
            <a:chExt cx="226537" cy="226537"/>
          </a:xfrm>
        </p:grpSpPr>
        <p:sp>
          <p:nvSpPr>
            <p:cNvPr id="3" name="Freeform 3"/>
            <p:cNvSpPr/>
            <p:nvPr/>
          </p:nvSpPr>
          <p:spPr>
            <a:xfrm>
              <a:off x="0" y="0"/>
              <a:ext cx="226568" cy="226568"/>
            </a:xfrm>
            <a:custGeom>
              <a:avLst/>
              <a:gdLst/>
              <a:ahLst/>
              <a:cxnLst/>
              <a:rect l="l" t="t" r="r" b="b"/>
              <a:pathLst>
                <a:path w="226568" h="226568">
                  <a:moveTo>
                    <a:pt x="113284" y="0"/>
                  </a:moveTo>
                  <a:cubicBezTo>
                    <a:pt x="50673" y="0"/>
                    <a:pt x="0" y="50673"/>
                    <a:pt x="0" y="113284"/>
                  </a:cubicBezTo>
                  <a:cubicBezTo>
                    <a:pt x="0" y="175895"/>
                    <a:pt x="50673" y="226568"/>
                    <a:pt x="113284" y="226568"/>
                  </a:cubicBezTo>
                  <a:cubicBezTo>
                    <a:pt x="175895" y="226568"/>
                    <a:pt x="226568" y="175895"/>
                    <a:pt x="226568" y="113284"/>
                  </a:cubicBezTo>
                  <a:cubicBezTo>
                    <a:pt x="226568" y="50673"/>
                    <a:pt x="175768" y="0"/>
                    <a:pt x="113284" y="0"/>
                  </a:cubicBezTo>
                  <a:close/>
                </a:path>
              </a:pathLst>
            </a:custGeom>
            <a:solidFill>
              <a:srgbClr val="F7CD34"/>
            </a:solidFill>
          </p:spPr>
          <p:txBody>
            <a:bodyPr/>
            <a:lstStyle/>
            <a:p>
              <a:endParaRPr lang="en-GB"/>
            </a:p>
          </p:txBody>
        </p:sp>
      </p:grpSp>
      <p:grpSp>
        <p:nvGrpSpPr>
          <p:cNvPr id="4" name="Group 4"/>
          <p:cNvGrpSpPr/>
          <p:nvPr/>
        </p:nvGrpSpPr>
        <p:grpSpPr>
          <a:xfrm>
            <a:off x="15109013" y="433695"/>
            <a:ext cx="169903" cy="169903"/>
            <a:chOff x="0" y="0"/>
            <a:chExt cx="226537" cy="226537"/>
          </a:xfrm>
        </p:grpSpPr>
        <p:sp>
          <p:nvSpPr>
            <p:cNvPr id="5" name="Freeform 5"/>
            <p:cNvSpPr/>
            <p:nvPr/>
          </p:nvSpPr>
          <p:spPr>
            <a:xfrm>
              <a:off x="0" y="0"/>
              <a:ext cx="226568" cy="226568"/>
            </a:xfrm>
            <a:custGeom>
              <a:avLst/>
              <a:gdLst/>
              <a:ahLst/>
              <a:cxnLst/>
              <a:rect l="l" t="t" r="r" b="b"/>
              <a:pathLst>
                <a:path w="226568" h="226568">
                  <a:moveTo>
                    <a:pt x="113284" y="0"/>
                  </a:moveTo>
                  <a:cubicBezTo>
                    <a:pt x="50673" y="0"/>
                    <a:pt x="0" y="50673"/>
                    <a:pt x="0" y="113284"/>
                  </a:cubicBezTo>
                  <a:cubicBezTo>
                    <a:pt x="0" y="175895"/>
                    <a:pt x="50673" y="226568"/>
                    <a:pt x="113284" y="226568"/>
                  </a:cubicBezTo>
                  <a:cubicBezTo>
                    <a:pt x="175895" y="226568"/>
                    <a:pt x="226568" y="175895"/>
                    <a:pt x="226568" y="113284"/>
                  </a:cubicBezTo>
                  <a:cubicBezTo>
                    <a:pt x="226568" y="50673"/>
                    <a:pt x="175768" y="0"/>
                    <a:pt x="113284" y="0"/>
                  </a:cubicBezTo>
                  <a:close/>
                </a:path>
              </a:pathLst>
            </a:custGeom>
            <a:solidFill>
              <a:srgbClr val="51A681"/>
            </a:solidFill>
          </p:spPr>
          <p:txBody>
            <a:bodyPr/>
            <a:lstStyle/>
            <a:p>
              <a:endParaRPr lang="en-GB"/>
            </a:p>
          </p:txBody>
        </p:sp>
      </p:grpSp>
      <p:grpSp>
        <p:nvGrpSpPr>
          <p:cNvPr id="6" name="Group 6"/>
          <p:cNvGrpSpPr/>
          <p:nvPr/>
        </p:nvGrpSpPr>
        <p:grpSpPr>
          <a:xfrm>
            <a:off x="510358" y="7805535"/>
            <a:ext cx="169903" cy="169903"/>
            <a:chOff x="0" y="0"/>
            <a:chExt cx="226537" cy="226537"/>
          </a:xfrm>
        </p:grpSpPr>
        <p:sp>
          <p:nvSpPr>
            <p:cNvPr id="7" name="Freeform 7"/>
            <p:cNvSpPr/>
            <p:nvPr/>
          </p:nvSpPr>
          <p:spPr>
            <a:xfrm>
              <a:off x="0" y="0"/>
              <a:ext cx="226568" cy="226568"/>
            </a:xfrm>
            <a:custGeom>
              <a:avLst/>
              <a:gdLst/>
              <a:ahLst/>
              <a:cxnLst/>
              <a:rect l="l" t="t" r="r" b="b"/>
              <a:pathLst>
                <a:path w="226568" h="226568">
                  <a:moveTo>
                    <a:pt x="113284" y="0"/>
                  </a:moveTo>
                  <a:cubicBezTo>
                    <a:pt x="50673" y="0"/>
                    <a:pt x="0" y="50673"/>
                    <a:pt x="0" y="113284"/>
                  </a:cubicBezTo>
                  <a:cubicBezTo>
                    <a:pt x="0" y="175895"/>
                    <a:pt x="50673" y="226568"/>
                    <a:pt x="113284" y="226568"/>
                  </a:cubicBezTo>
                  <a:cubicBezTo>
                    <a:pt x="175895" y="226568"/>
                    <a:pt x="226568" y="175895"/>
                    <a:pt x="226568" y="113284"/>
                  </a:cubicBezTo>
                  <a:cubicBezTo>
                    <a:pt x="226568" y="50673"/>
                    <a:pt x="175768" y="0"/>
                    <a:pt x="113284" y="0"/>
                  </a:cubicBezTo>
                  <a:close/>
                </a:path>
              </a:pathLst>
            </a:custGeom>
            <a:solidFill>
              <a:srgbClr val="F14975"/>
            </a:solidFill>
          </p:spPr>
          <p:txBody>
            <a:bodyPr/>
            <a:lstStyle/>
            <a:p>
              <a:endParaRPr lang="en-GB"/>
            </a:p>
          </p:txBody>
        </p:sp>
      </p:grpSp>
      <p:grpSp>
        <p:nvGrpSpPr>
          <p:cNvPr id="8" name="Group 8"/>
          <p:cNvGrpSpPr/>
          <p:nvPr/>
        </p:nvGrpSpPr>
        <p:grpSpPr>
          <a:xfrm>
            <a:off x="17541706" y="4174635"/>
            <a:ext cx="169903" cy="169903"/>
            <a:chOff x="0" y="0"/>
            <a:chExt cx="226537" cy="226537"/>
          </a:xfrm>
        </p:grpSpPr>
        <p:sp>
          <p:nvSpPr>
            <p:cNvPr id="9" name="Freeform 9"/>
            <p:cNvSpPr/>
            <p:nvPr/>
          </p:nvSpPr>
          <p:spPr>
            <a:xfrm>
              <a:off x="0" y="0"/>
              <a:ext cx="226568" cy="226568"/>
            </a:xfrm>
            <a:custGeom>
              <a:avLst/>
              <a:gdLst/>
              <a:ahLst/>
              <a:cxnLst/>
              <a:rect l="l" t="t" r="r" b="b"/>
              <a:pathLst>
                <a:path w="226568" h="226568">
                  <a:moveTo>
                    <a:pt x="113284" y="0"/>
                  </a:moveTo>
                  <a:cubicBezTo>
                    <a:pt x="50673" y="0"/>
                    <a:pt x="0" y="50673"/>
                    <a:pt x="0" y="113284"/>
                  </a:cubicBezTo>
                  <a:cubicBezTo>
                    <a:pt x="0" y="175895"/>
                    <a:pt x="50673" y="226568"/>
                    <a:pt x="113284" y="226568"/>
                  </a:cubicBezTo>
                  <a:cubicBezTo>
                    <a:pt x="175895" y="226568"/>
                    <a:pt x="226568" y="175895"/>
                    <a:pt x="226568" y="113284"/>
                  </a:cubicBezTo>
                  <a:cubicBezTo>
                    <a:pt x="226568" y="50673"/>
                    <a:pt x="175768" y="0"/>
                    <a:pt x="113284" y="0"/>
                  </a:cubicBezTo>
                  <a:close/>
                </a:path>
              </a:pathLst>
            </a:custGeom>
            <a:solidFill>
              <a:srgbClr val="51A681"/>
            </a:solidFill>
          </p:spPr>
          <p:txBody>
            <a:bodyPr/>
            <a:lstStyle/>
            <a:p>
              <a:endParaRPr lang="en-GB"/>
            </a:p>
          </p:txBody>
        </p:sp>
      </p:grpSp>
      <p:grpSp>
        <p:nvGrpSpPr>
          <p:cNvPr id="10" name="Group 10"/>
          <p:cNvGrpSpPr/>
          <p:nvPr/>
        </p:nvGrpSpPr>
        <p:grpSpPr>
          <a:xfrm>
            <a:off x="17456754" y="9422539"/>
            <a:ext cx="169903" cy="169903"/>
            <a:chOff x="0" y="0"/>
            <a:chExt cx="226537" cy="226537"/>
          </a:xfrm>
        </p:grpSpPr>
        <p:sp>
          <p:nvSpPr>
            <p:cNvPr id="11" name="Freeform 11"/>
            <p:cNvSpPr/>
            <p:nvPr/>
          </p:nvSpPr>
          <p:spPr>
            <a:xfrm>
              <a:off x="0" y="0"/>
              <a:ext cx="226568" cy="226568"/>
            </a:xfrm>
            <a:custGeom>
              <a:avLst/>
              <a:gdLst/>
              <a:ahLst/>
              <a:cxnLst/>
              <a:rect l="l" t="t" r="r" b="b"/>
              <a:pathLst>
                <a:path w="226568" h="226568">
                  <a:moveTo>
                    <a:pt x="113284" y="0"/>
                  </a:moveTo>
                  <a:cubicBezTo>
                    <a:pt x="50673" y="0"/>
                    <a:pt x="0" y="50673"/>
                    <a:pt x="0" y="113284"/>
                  </a:cubicBezTo>
                  <a:cubicBezTo>
                    <a:pt x="0" y="175895"/>
                    <a:pt x="50673" y="226568"/>
                    <a:pt x="113284" y="226568"/>
                  </a:cubicBezTo>
                  <a:cubicBezTo>
                    <a:pt x="175895" y="226568"/>
                    <a:pt x="226568" y="175895"/>
                    <a:pt x="226568" y="113284"/>
                  </a:cubicBezTo>
                  <a:cubicBezTo>
                    <a:pt x="226568" y="50673"/>
                    <a:pt x="175768" y="0"/>
                    <a:pt x="113284" y="0"/>
                  </a:cubicBezTo>
                  <a:close/>
                </a:path>
              </a:pathLst>
            </a:custGeom>
            <a:solidFill>
              <a:srgbClr val="51A681"/>
            </a:solidFill>
          </p:spPr>
          <p:txBody>
            <a:bodyPr/>
            <a:lstStyle/>
            <a:p>
              <a:endParaRPr lang="en-GB"/>
            </a:p>
          </p:txBody>
        </p:sp>
      </p:grpSp>
      <p:grpSp>
        <p:nvGrpSpPr>
          <p:cNvPr id="12" name="Group 12"/>
          <p:cNvGrpSpPr/>
          <p:nvPr/>
        </p:nvGrpSpPr>
        <p:grpSpPr>
          <a:xfrm>
            <a:off x="17881511" y="6048563"/>
            <a:ext cx="169903" cy="169903"/>
            <a:chOff x="0" y="0"/>
            <a:chExt cx="226537" cy="226537"/>
          </a:xfrm>
        </p:grpSpPr>
        <p:sp>
          <p:nvSpPr>
            <p:cNvPr id="13" name="Freeform 13"/>
            <p:cNvSpPr/>
            <p:nvPr/>
          </p:nvSpPr>
          <p:spPr>
            <a:xfrm>
              <a:off x="0" y="0"/>
              <a:ext cx="226568" cy="226568"/>
            </a:xfrm>
            <a:custGeom>
              <a:avLst/>
              <a:gdLst/>
              <a:ahLst/>
              <a:cxnLst/>
              <a:rect l="l" t="t" r="r" b="b"/>
              <a:pathLst>
                <a:path w="226568" h="226568">
                  <a:moveTo>
                    <a:pt x="113284" y="0"/>
                  </a:moveTo>
                  <a:cubicBezTo>
                    <a:pt x="50673" y="0"/>
                    <a:pt x="0" y="50673"/>
                    <a:pt x="0" y="113284"/>
                  </a:cubicBezTo>
                  <a:cubicBezTo>
                    <a:pt x="0" y="175895"/>
                    <a:pt x="50673" y="226568"/>
                    <a:pt x="113284" y="226568"/>
                  </a:cubicBezTo>
                  <a:cubicBezTo>
                    <a:pt x="175895" y="226568"/>
                    <a:pt x="226568" y="175895"/>
                    <a:pt x="226568" y="113284"/>
                  </a:cubicBezTo>
                  <a:cubicBezTo>
                    <a:pt x="226568" y="50673"/>
                    <a:pt x="175768" y="0"/>
                    <a:pt x="113284" y="0"/>
                  </a:cubicBezTo>
                  <a:close/>
                </a:path>
              </a:pathLst>
            </a:custGeom>
            <a:solidFill>
              <a:srgbClr val="F7CD34"/>
            </a:solidFill>
          </p:spPr>
          <p:txBody>
            <a:bodyPr/>
            <a:lstStyle/>
            <a:p>
              <a:endParaRPr lang="en-GB"/>
            </a:p>
          </p:txBody>
        </p:sp>
      </p:grpSp>
      <p:grpSp>
        <p:nvGrpSpPr>
          <p:cNvPr id="14" name="Group 14"/>
          <p:cNvGrpSpPr/>
          <p:nvPr/>
        </p:nvGrpSpPr>
        <p:grpSpPr>
          <a:xfrm>
            <a:off x="-4235" y="1994586"/>
            <a:ext cx="18292235" cy="8544835"/>
            <a:chOff x="0" y="0"/>
            <a:chExt cx="5265157" cy="2250491"/>
          </a:xfrm>
        </p:grpSpPr>
        <p:sp>
          <p:nvSpPr>
            <p:cNvPr id="15" name="Freeform 15"/>
            <p:cNvSpPr/>
            <p:nvPr/>
          </p:nvSpPr>
          <p:spPr>
            <a:xfrm>
              <a:off x="0" y="0"/>
              <a:ext cx="5265157" cy="2250492"/>
            </a:xfrm>
            <a:custGeom>
              <a:avLst/>
              <a:gdLst/>
              <a:ahLst/>
              <a:cxnLst/>
              <a:rect l="l" t="t" r="r" b="b"/>
              <a:pathLst>
                <a:path w="5265157" h="2250492">
                  <a:moveTo>
                    <a:pt x="0" y="0"/>
                  </a:moveTo>
                  <a:lnTo>
                    <a:pt x="5265157" y="0"/>
                  </a:lnTo>
                  <a:lnTo>
                    <a:pt x="5265157" y="2250492"/>
                  </a:lnTo>
                  <a:lnTo>
                    <a:pt x="0" y="2250492"/>
                  </a:lnTo>
                  <a:close/>
                </a:path>
              </a:pathLst>
            </a:custGeom>
            <a:solidFill>
              <a:srgbClr val="FFF3DE"/>
            </a:solidFill>
          </p:spPr>
          <p:txBody>
            <a:bodyPr/>
            <a:lstStyle/>
            <a:p>
              <a:endParaRPr lang="en-GB"/>
            </a:p>
          </p:txBody>
        </p:sp>
        <p:sp>
          <p:nvSpPr>
            <p:cNvPr id="16" name="TextBox 16"/>
            <p:cNvSpPr txBox="1"/>
            <p:nvPr/>
          </p:nvSpPr>
          <p:spPr>
            <a:xfrm>
              <a:off x="0" y="-95250"/>
              <a:ext cx="5265157" cy="2345741"/>
            </a:xfrm>
            <a:prstGeom prst="rect">
              <a:avLst/>
            </a:prstGeom>
          </p:spPr>
          <p:txBody>
            <a:bodyPr lIns="50800" tIns="50800" rIns="50800" bIns="50800" rtlCol="0" anchor="ctr"/>
            <a:lstStyle/>
            <a:p>
              <a:pPr algn="ctr">
                <a:lnSpc>
                  <a:spcPts val="3500"/>
                </a:lnSpc>
              </a:pPr>
              <a:endParaRPr/>
            </a:p>
          </p:txBody>
        </p:sp>
      </p:grpSp>
      <p:sp>
        <p:nvSpPr>
          <p:cNvPr id="17" name="Freeform 17"/>
          <p:cNvSpPr/>
          <p:nvPr/>
        </p:nvSpPr>
        <p:spPr>
          <a:xfrm>
            <a:off x="14703847" y="118403"/>
            <a:ext cx="3352981" cy="673289"/>
          </a:xfrm>
          <a:custGeom>
            <a:avLst/>
            <a:gdLst/>
            <a:ahLst/>
            <a:cxnLst/>
            <a:rect l="l" t="t" r="r" b="b"/>
            <a:pathLst>
              <a:path w="3352981" h="673289">
                <a:moveTo>
                  <a:pt x="0" y="0"/>
                </a:moveTo>
                <a:lnTo>
                  <a:pt x="3352981" y="0"/>
                </a:lnTo>
                <a:lnTo>
                  <a:pt x="3352981" y="673289"/>
                </a:lnTo>
                <a:lnTo>
                  <a:pt x="0" y="673289"/>
                </a:lnTo>
                <a:lnTo>
                  <a:pt x="0" y="0"/>
                </a:lnTo>
                <a:close/>
              </a:path>
            </a:pathLst>
          </a:custGeom>
          <a:blipFill>
            <a:blip r:embed="rId3"/>
            <a:stretch>
              <a:fillRect/>
            </a:stretch>
          </a:blipFill>
        </p:spPr>
        <p:txBody>
          <a:bodyPr/>
          <a:lstStyle/>
          <a:p>
            <a:endParaRPr lang="en-GB"/>
          </a:p>
        </p:txBody>
      </p:sp>
      <p:grpSp>
        <p:nvGrpSpPr>
          <p:cNvPr id="18" name="Group 18"/>
          <p:cNvGrpSpPr/>
          <p:nvPr/>
        </p:nvGrpSpPr>
        <p:grpSpPr>
          <a:xfrm rot="-5400000">
            <a:off x="-4233" y="700251"/>
            <a:ext cx="1199085" cy="1199085"/>
            <a:chOff x="0" y="0"/>
            <a:chExt cx="1598780" cy="1598780"/>
          </a:xfrm>
        </p:grpSpPr>
        <p:grpSp>
          <p:nvGrpSpPr>
            <p:cNvPr id="19" name="Group 19"/>
            <p:cNvGrpSpPr/>
            <p:nvPr/>
          </p:nvGrpSpPr>
          <p:grpSpPr>
            <a:xfrm>
              <a:off x="0" y="799390"/>
              <a:ext cx="799390" cy="799390"/>
              <a:chOff x="0" y="0"/>
              <a:chExt cx="338164" cy="338164"/>
            </a:xfrm>
          </p:grpSpPr>
          <p:sp>
            <p:nvSpPr>
              <p:cNvPr id="20" name="Freeform 20"/>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21" name="TextBox 21"/>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nvGrpSpPr>
            <p:cNvPr id="22" name="Group 22"/>
            <p:cNvGrpSpPr/>
            <p:nvPr/>
          </p:nvGrpSpPr>
          <p:grpSpPr>
            <a:xfrm>
              <a:off x="799390" y="0"/>
              <a:ext cx="799390" cy="799390"/>
              <a:chOff x="0" y="0"/>
              <a:chExt cx="338164" cy="338164"/>
            </a:xfrm>
          </p:grpSpPr>
          <p:sp>
            <p:nvSpPr>
              <p:cNvPr id="23" name="Freeform 23"/>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24" name="TextBox 24"/>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sp>
        <p:nvSpPr>
          <p:cNvPr id="25" name="TextBox 25"/>
          <p:cNvSpPr txBox="1"/>
          <p:nvPr/>
        </p:nvSpPr>
        <p:spPr>
          <a:xfrm>
            <a:off x="277279" y="133160"/>
            <a:ext cx="15473151" cy="1543429"/>
          </a:xfrm>
          <a:prstGeom prst="rect">
            <a:avLst/>
          </a:prstGeom>
        </p:spPr>
        <p:txBody>
          <a:bodyPr lIns="0" tIns="0" rIns="0" bIns="0" rtlCol="0" anchor="t">
            <a:spAutoFit/>
          </a:bodyPr>
          <a:lstStyle/>
          <a:p>
            <a:pPr algn="ctr">
              <a:lnSpc>
                <a:spcPts val="11145"/>
              </a:lnSpc>
            </a:pPr>
            <a:r>
              <a:rPr lang="en-US" sz="8573" b="1">
                <a:solidFill>
                  <a:srgbClr val="C3EDFE"/>
                </a:solidFill>
                <a:latin typeface="FH Lecturis Rounded Test Bold"/>
                <a:ea typeface="FH Lecturis Rounded Test Bold"/>
                <a:cs typeface="FH Lecturis Rounded Test Bold"/>
                <a:sym typeface="FH Lecturis Rounded Test Bold"/>
              </a:rPr>
              <a:t>Go Abroad Opportunities</a:t>
            </a:r>
          </a:p>
        </p:txBody>
      </p:sp>
      <p:sp>
        <p:nvSpPr>
          <p:cNvPr id="26" name="TextBox 26"/>
          <p:cNvSpPr txBox="1"/>
          <p:nvPr/>
        </p:nvSpPr>
        <p:spPr>
          <a:xfrm>
            <a:off x="863436" y="2248231"/>
            <a:ext cx="7789272" cy="7608642"/>
          </a:xfrm>
          <a:prstGeom prst="rect">
            <a:avLst/>
          </a:prstGeom>
        </p:spPr>
        <p:txBody>
          <a:bodyPr lIns="0" tIns="0" rIns="0" bIns="0" rtlCol="0" anchor="t">
            <a:spAutoFit/>
          </a:bodyPr>
          <a:lstStyle/>
          <a:p>
            <a:pPr algn="just">
              <a:lnSpc>
                <a:spcPts val="4740"/>
              </a:lnSpc>
            </a:pPr>
            <a:r>
              <a:rPr lang="en-US" sz="3385">
                <a:solidFill>
                  <a:srgbClr val="000000"/>
                </a:solidFill>
                <a:latin typeface="DIN Offc 3"/>
                <a:ea typeface="DIN Offc 3"/>
                <a:cs typeface="DIN Offc 3"/>
                <a:sym typeface="DIN Offc 3"/>
              </a:rPr>
              <a:t>Summer &amp; Placement Highlights</a:t>
            </a:r>
          </a:p>
          <a:p>
            <a:pPr marL="623061" lvl="1" indent="-311531" algn="just">
              <a:lnSpc>
                <a:spcPts val="4040"/>
              </a:lnSpc>
              <a:buFont typeface="Arial"/>
              <a:buChar char="•"/>
            </a:pPr>
            <a:r>
              <a:rPr lang="en-US" sz="2885">
                <a:solidFill>
                  <a:srgbClr val="000000"/>
                </a:solidFill>
                <a:latin typeface="DIN Offc 1"/>
                <a:ea typeface="DIN Offc 1"/>
                <a:cs typeface="DIN Offc 1"/>
                <a:sym typeface="DIN Offc 1"/>
              </a:rPr>
              <a:t>Think Pacific (Thailand) – Sustainable Engineering</a:t>
            </a:r>
          </a:p>
          <a:p>
            <a:pPr marL="623061" lvl="1" indent="-311531" algn="just">
              <a:lnSpc>
                <a:spcPts val="4040"/>
              </a:lnSpc>
              <a:buFont typeface="Arial"/>
              <a:buChar char="•"/>
            </a:pPr>
            <a:r>
              <a:rPr lang="en-US" sz="2885">
                <a:solidFill>
                  <a:srgbClr val="000000"/>
                </a:solidFill>
                <a:latin typeface="DIN Offc 1"/>
                <a:ea typeface="DIN Offc 1"/>
                <a:cs typeface="DIN Offc 1"/>
                <a:sym typeface="DIN Offc 1"/>
              </a:rPr>
              <a:t>Metropolia University – Computing Summer Programme</a:t>
            </a:r>
          </a:p>
          <a:p>
            <a:pPr marL="623061" lvl="1" indent="-311531" algn="just">
              <a:lnSpc>
                <a:spcPts val="4040"/>
              </a:lnSpc>
              <a:buFont typeface="Arial"/>
              <a:buChar char="•"/>
            </a:pPr>
            <a:r>
              <a:rPr lang="en-US" sz="2885">
                <a:solidFill>
                  <a:srgbClr val="000000"/>
                </a:solidFill>
                <a:latin typeface="DIN Offc 1"/>
                <a:ea typeface="DIN Offc 1"/>
                <a:cs typeface="DIN Offc 1"/>
                <a:sym typeface="DIN Offc 1"/>
              </a:rPr>
              <a:t>Travelteer (Nepal) – Community Build Projects</a:t>
            </a:r>
          </a:p>
          <a:p>
            <a:pPr marL="623061" lvl="1" indent="-311531" algn="just">
              <a:lnSpc>
                <a:spcPts val="4040"/>
              </a:lnSpc>
              <a:buFont typeface="Arial"/>
              <a:buChar char="•"/>
            </a:pPr>
            <a:r>
              <a:rPr lang="en-US" sz="2885">
                <a:solidFill>
                  <a:srgbClr val="000000"/>
                </a:solidFill>
                <a:latin typeface="DIN Offc 1"/>
                <a:ea typeface="DIN Offc 1"/>
                <a:cs typeface="DIN Offc 1"/>
                <a:sym typeface="DIN Offc 1"/>
              </a:rPr>
              <a:t>Absolute Internship – Barcelona, Seoul, Lisbon, Shanghai</a:t>
            </a:r>
          </a:p>
          <a:p>
            <a:pPr algn="just">
              <a:lnSpc>
                <a:spcPts val="4040"/>
              </a:lnSpc>
            </a:pPr>
            <a:endParaRPr lang="en-US" sz="2885">
              <a:solidFill>
                <a:srgbClr val="000000"/>
              </a:solidFill>
              <a:latin typeface="DIN Offc 1"/>
              <a:ea typeface="DIN Offc 1"/>
              <a:cs typeface="DIN Offc 1"/>
              <a:sym typeface="DIN Offc 1"/>
            </a:endParaRPr>
          </a:p>
          <a:p>
            <a:pPr algn="just">
              <a:lnSpc>
                <a:spcPts val="4040"/>
              </a:lnSpc>
            </a:pPr>
            <a:r>
              <a:rPr lang="en-US" sz="2885">
                <a:solidFill>
                  <a:srgbClr val="000000"/>
                </a:solidFill>
                <a:latin typeface="DIN Offc 3"/>
                <a:ea typeface="DIN Offc 3"/>
                <a:cs typeface="DIN Offc 3"/>
                <a:sym typeface="DIN Offc 3"/>
              </a:rPr>
              <a:t>More info &amp; applications</a:t>
            </a:r>
          </a:p>
          <a:p>
            <a:pPr marL="623061" lvl="1" indent="-311531" algn="just">
              <a:lnSpc>
                <a:spcPts val="4040"/>
              </a:lnSpc>
              <a:buFont typeface="Arial"/>
              <a:buChar char="•"/>
            </a:pPr>
            <a:r>
              <a:rPr lang="en-US" sz="2885">
                <a:solidFill>
                  <a:srgbClr val="000000"/>
                </a:solidFill>
                <a:latin typeface="DIN Offc 1"/>
                <a:ea typeface="DIN Offc 1"/>
                <a:cs typeface="DIN Offc 1"/>
                <a:sym typeface="DIN Offc 1"/>
              </a:rPr>
              <a:t>Moodle:</a:t>
            </a:r>
            <a:r>
              <a:rPr lang="en-US" sz="2885" u="sng">
                <a:solidFill>
                  <a:srgbClr val="000000"/>
                </a:solidFill>
                <a:latin typeface="DIN Offc 1"/>
                <a:ea typeface="DIN Offc 1"/>
                <a:cs typeface="DIN Offc 1"/>
                <a:sym typeface="DIN Offc 1"/>
                <a:hlinkClick r:id="rId4" tooltip="https://moodle.bcu.ac.uk/course/view.php?id=89723"/>
              </a:rPr>
              <a:t>https://moodle.bcu.ac.uk/course/view.php?id=89723</a:t>
            </a:r>
          </a:p>
          <a:p>
            <a:pPr marL="623061" lvl="1" indent="-311531" algn="just">
              <a:lnSpc>
                <a:spcPts val="4040"/>
              </a:lnSpc>
              <a:buFont typeface="Arial"/>
              <a:buChar char="•"/>
            </a:pPr>
            <a:r>
              <a:rPr lang="en-US" sz="2885">
                <a:solidFill>
                  <a:srgbClr val="000000"/>
                </a:solidFill>
                <a:latin typeface="DIN Offc 1"/>
                <a:ea typeface="DIN Offc 1"/>
                <a:cs typeface="DIN Offc 1"/>
                <a:sym typeface="DIN Offc 1"/>
              </a:rPr>
              <a:t>Contact: goabroad@bcu.ac.uk </a:t>
            </a:r>
          </a:p>
          <a:p>
            <a:pPr algn="l">
              <a:lnSpc>
                <a:spcPts val="2780"/>
              </a:lnSpc>
            </a:pPr>
            <a:endParaRPr lang="en-US" sz="2885">
              <a:solidFill>
                <a:srgbClr val="000000"/>
              </a:solidFill>
              <a:latin typeface="DIN Offc 1"/>
              <a:ea typeface="DIN Offc 1"/>
              <a:cs typeface="DIN Offc 1"/>
              <a:sym typeface="DIN Offc 1"/>
            </a:endParaRPr>
          </a:p>
        </p:txBody>
      </p:sp>
      <p:sp>
        <p:nvSpPr>
          <p:cNvPr id="27" name="Freeform 27"/>
          <p:cNvSpPr/>
          <p:nvPr/>
        </p:nvSpPr>
        <p:spPr>
          <a:xfrm>
            <a:off x="15237176" y="6755713"/>
            <a:ext cx="4948866" cy="5005174"/>
          </a:xfrm>
          <a:custGeom>
            <a:avLst/>
            <a:gdLst/>
            <a:ahLst/>
            <a:cxnLst/>
            <a:rect l="l" t="t" r="r" b="b"/>
            <a:pathLst>
              <a:path w="4948866" h="5005174">
                <a:moveTo>
                  <a:pt x="0" y="0"/>
                </a:moveTo>
                <a:lnTo>
                  <a:pt x="4948866" y="0"/>
                </a:lnTo>
                <a:lnTo>
                  <a:pt x="4948866" y="5005174"/>
                </a:lnTo>
                <a:lnTo>
                  <a:pt x="0" y="5005174"/>
                </a:lnTo>
                <a:lnTo>
                  <a:pt x="0" y="0"/>
                </a:lnTo>
                <a:close/>
              </a:path>
            </a:pathLst>
          </a:custGeom>
          <a:blipFill>
            <a:blip r:embed="rId5">
              <a:alphaModFix amt="60000"/>
              <a:extLst>
                <a:ext uri="{96DAC541-7B7A-43D3-8B79-37D633B846F1}">
                  <asvg:svgBlip xmlns:asvg="http://schemas.microsoft.com/office/drawing/2016/SVG/main" r:embed="rId6"/>
                </a:ext>
              </a:extLst>
            </a:blip>
            <a:stretch>
              <a:fillRect/>
            </a:stretch>
          </a:blipFill>
        </p:spPr>
        <p:txBody>
          <a:bodyPr/>
          <a:lstStyle/>
          <a:p>
            <a:endParaRPr lang="en-GB"/>
          </a:p>
        </p:txBody>
      </p:sp>
      <p:sp>
        <p:nvSpPr>
          <p:cNvPr id="28" name="TextBox 28"/>
          <p:cNvSpPr txBox="1"/>
          <p:nvPr/>
        </p:nvSpPr>
        <p:spPr>
          <a:xfrm>
            <a:off x="9384824" y="2238706"/>
            <a:ext cx="6995513" cy="6023657"/>
          </a:xfrm>
          <a:prstGeom prst="rect">
            <a:avLst/>
          </a:prstGeom>
        </p:spPr>
        <p:txBody>
          <a:bodyPr lIns="0" tIns="0" rIns="0" bIns="0" rtlCol="0" anchor="t">
            <a:spAutoFit/>
          </a:bodyPr>
          <a:lstStyle/>
          <a:p>
            <a:pPr algn="l">
              <a:lnSpc>
                <a:spcPts val="5186"/>
              </a:lnSpc>
            </a:pPr>
            <a:r>
              <a:rPr lang="en-US" sz="3704">
                <a:solidFill>
                  <a:srgbClr val="000000"/>
                </a:solidFill>
                <a:latin typeface="DIN Offc 3"/>
                <a:ea typeface="DIN Offc 3"/>
                <a:cs typeface="DIN Offc 3"/>
                <a:sym typeface="DIN Offc 3"/>
              </a:rPr>
              <a:t>Semester Abroad</a:t>
            </a:r>
          </a:p>
          <a:p>
            <a:pPr marL="681237" lvl="1" indent="-340618" algn="l">
              <a:lnSpc>
                <a:spcPts val="4417"/>
              </a:lnSpc>
              <a:spcBef>
                <a:spcPct val="0"/>
              </a:spcBef>
              <a:buFont typeface="Arial"/>
              <a:buChar char="•"/>
            </a:pPr>
            <a:r>
              <a:rPr lang="en-US" sz="3155">
                <a:solidFill>
                  <a:srgbClr val="000000"/>
                </a:solidFill>
                <a:latin typeface="DIN Offc 1"/>
                <a:ea typeface="DIN Offc 1"/>
                <a:cs typeface="DIN Offc 1"/>
                <a:sym typeface="DIN Offc 1"/>
              </a:rPr>
              <a:t>Apply: 17 May 2026 (Y1)</a:t>
            </a:r>
          </a:p>
          <a:p>
            <a:pPr marL="681237" lvl="1" indent="-340618" algn="l">
              <a:lnSpc>
                <a:spcPts val="4417"/>
              </a:lnSpc>
              <a:spcBef>
                <a:spcPct val="0"/>
              </a:spcBef>
              <a:buFont typeface="Arial"/>
              <a:buChar char="•"/>
            </a:pPr>
            <a:r>
              <a:rPr lang="en-US" sz="3155">
                <a:solidFill>
                  <a:srgbClr val="000000"/>
                </a:solidFill>
                <a:latin typeface="DIN Offc 1"/>
                <a:ea typeface="DIN Offc 1"/>
                <a:cs typeface="DIN Offc 1"/>
                <a:sym typeface="DIN Offc 1"/>
              </a:rPr>
              <a:t>Go abroad: Semester 2, Y2</a:t>
            </a:r>
          </a:p>
          <a:p>
            <a:pPr marL="681237" lvl="1" indent="-340618" algn="l">
              <a:lnSpc>
                <a:spcPts val="4417"/>
              </a:lnSpc>
              <a:spcBef>
                <a:spcPct val="0"/>
              </a:spcBef>
              <a:buFont typeface="Arial"/>
              <a:buChar char="•"/>
            </a:pPr>
            <a:r>
              <a:rPr lang="en-US" sz="3155">
                <a:solidFill>
                  <a:srgbClr val="000000"/>
                </a:solidFill>
                <a:latin typeface="DIN Offc 1"/>
                <a:ea typeface="DIN Offc 1"/>
                <a:cs typeface="DIN Offc 1"/>
                <a:sym typeface="DIN Offc 1"/>
              </a:rPr>
              <a:t>Fees: Standard BCU fee</a:t>
            </a:r>
          </a:p>
          <a:p>
            <a:pPr algn="l">
              <a:lnSpc>
                <a:spcPts val="5186"/>
              </a:lnSpc>
              <a:spcBef>
                <a:spcPct val="0"/>
              </a:spcBef>
            </a:pPr>
            <a:endParaRPr lang="en-US" sz="3155">
              <a:solidFill>
                <a:srgbClr val="000000"/>
              </a:solidFill>
              <a:latin typeface="DIN Offc 1"/>
              <a:ea typeface="DIN Offc 1"/>
              <a:cs typeface="DIN Offc 1"/>
              <a:sym typeface="DIN Offc 1"/>
            </a:endParaRPr>
          </a:p>
          <a:p>
            <a:pPr algn="l">
              <a:lnSpc>
                <a:spcPts val="4417"/>
              </a:lnSpc>
              <a:spcBef>
                <a:spcPct val="0"/>
              </a:spcBef>
            </a:pPr>
            <a:r>
              <a:rPr lang="en-US" sz="3155">
                <a:solidFill>
                  <a:srgbClr val="000000"/>
                </a:solidFill>
                <a:latin typeface="DIN Offc 3"/>
                <a:ea typeface="DIN Offc 3"/>
                <a:cs typeface="DIN Offc 3"/>
                <a:sym typeface="DIN Offc 3"/>
              </a:rPr>
              <a:t>Full Year Abroad</a:t>
            </a:r>
          </a:p>
          <a:p>
            <a:pPr marL="681237" lvl="1" indent="-340618" algn="l">
              <a:lnSpc>
                <a:spcPts val="4417"/>
              </a:lnSpc>
              <a:buFont typeface="Arial"/>
              <a:buChar char="•"/>
            </a:pPr>
            <a:r>
              <a:rPr lang="en-US" sz="3155">
                <a:solidFill>
                  <a:srgbClr val="000000"/>
                </a:solidFill>
                <a:latin typeface="DIN Offc 1"/>
                <a:ea typeface="DIN Offc 1"/>
                <a:cs typeface="DIN Offc 1"/>
                <a:sym typeface="DIN Offc 1"/>
              </a:rPr>
              <a:t>Apply: 22 Feb 2026 (Y2)</a:t>
            </a:r>
          </a:p>
          <a:p>
            <a:pPr marL="681237" lvl="1" indent="-340618" algn="l">
              <a:lnSpc>
                <a:spcPts val="4417"/>
              </a:lnSpc>
              <a:spcBef>
                <a:spcPct val="0"/>
              </a:spcBef>
              <a:buFont typeface="Arial"/>
              <a:buChar char="•"/>
            </a:pPr>
            <a:r>
              <a:rPr lang="en-US" sz="3155">
                <a:solidFill>
                  <a:srgbClr val="000000"/>
                </a:solidFill>
                <a:latin typeface="DIN Offc 1"/>
                <a:ea typeface="DIN Offc 1"/>
                <a:cs typeface="DIN Offc 1"/>
                <a:sym typeface="DIN Offc 1"/>
              </a:rPr>
              <a:t>Go abroad: Between Y2 &amp; Y3</a:t>
            </a:r>
          </a:p>
          <a:p>
            <a:pPr marL="681237" lvl="1" indent="-340618" algn="l">
              <a:lnSpc>
                <a:spcPts val="4417"/>
              </a:lnSpc>
              <a:spcBef>
                <a:spcPct val="0"/>
              </a:spcBef>
              <a:buFont typeface="Arial"/>
              <a:buChar char="•"/>
            </a:pPr>
            <a:r>
              <a:rPr lang="en-US" sz="3155">
                <a:solidFill>
                  <a:srgbClr val="000000"/>
                </a:solidFill>
                <a:latin typeface="DIN Offc 1"/>
                <a:ea typeface="DIN Offc 1"/>
                <a:cs typeface="DIN Offc 1"/>
                <a:sym typeface="DIN Offc 1"/>
              </a:rPr>
              <a:t>Fees: Home 15%, International 50%</a:t>
            </a:r>
          </a:p>
          <a:p>
            <a:pPr algn="ctr">
              <a:lnSpc>
                <a:spcPts val="6109"/>
              </a:lnSpc>
              <a:spcBef>
                <a:spcPct val="0"/>
              </a:spcBef>
            </a:pPr>
            <a:endParaRPr lang="en-US" sz="3155">
              <a:solidFill>
                <a:srgbClr val="000000"/>
              </a:solidFill>
              <a:latin typeface="DIN Offc 1"/>
              <a:ea typeface="DIN Offc 1"/>
              <a:cs typeface="DIN Offc 1"/>
              <a:sym typeface="DIN Offc 1"/>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2E4E"/>
        </a:solidFill>
        <a:effectLst/>
      </p:bgPr>
    </p:bg>
    <p:spTree>
      <p:nvGrpSpPr>
        <p:cNvPr id="1" name=""/>
        <p:cNvGrpSpPr/>
        <p:nvPr/>
      </p:nvGrpSpPr>
      <p:grpSpPr>
        <a:xfrm>
          <a:off x="0" y="0"/>
          <a:ext cx="0" cy="0"/>
          <a:chOff x="0" y="0"/>
          <a:chExt cx="0" cy="0"/>
        </a:xfrm>
      </p:grpSpPr>
      <p:pic>
        <p:nvPicPr>
          <p:cNvPr id="26" name="Picture 25" descr="A white rectangle with a yellow background&#10;&#10;AI-generated content may be incorrect.">
            <a:extLst>
              <a:ext uri="{FF2B5EF4-FFF2-40B4-BE49-F238E27FC236}">
                <a16:creationId xmlns:a16="http://schemas.microsoft.com/office/drawing/2014/main" id="{E5CCA1C2-14F8-F8B3-5086-82DB76189C87}"/>
              </a:ext>
            </a:extLst>
          </p:cNvPr>
          <p:cNvPicPr>
            <a:picLocks noChangeAspect="1"/>
          </p:cNvPicPr>
          <p:nvPr/>
        </p:nvPicPr>
        <p:blipFill>
          <a:blip r:embed="rId3"/>
          <a:srcRect t="4218"/>
          <a:stretch>
            <a:fillRect/>
          </a:stretch>
        </p:blipFill>
        <p:spPr>
          <a:xfrm>
            <a:off x="-36286" y="2047199"/>
            <a:ext cx="18324286" cy="8320420"/>
          </a:xfrm>
          <a:prstGeom prst="rect">
            <a:avLst/>
          </a:prstGeom>
        </p:spPr>
      </p:pic>
      <p:sp>
        <p:nvSpPr>
          <p:cNvPr id="2" name="TextBox 2"/>
          <p:cNvSpPr txBox="1"/>
          <p:nvPr/>
        </p:nvSpPr>
        <p:spPr>
          <a:xfrm>
            <a:off x="-1026437" y="55812"/>
            <a:ext cx="14303323" cy="1507627"/>
          </a:xfrm>
          <a:prstGeom prst="rect">
            <a:avLst/>
          </a:prstGeom>
        </p:spPr>
        <p:txBody>
          <a:bodyPr lIns="0" tIns="0" rIns="0" bIns="0" rtlCol="0" anchor="t">
            <a:spAutoFit/>
          </a:bodyPr>
          <a:lstStyle/>
          <a:p>
            <a:pPr marL="0" marR="0" lvl="0" indent="0" algn="ctr" defTabSz="914400" rtl="0" eaLnBrk="1" fontAlgn="auto" latinLnBrk="0" hangingPunct="1">
              <a:lnSpc>
                <a:spcPts val="11618"/>
              </a:lnSpc>
              <a:spcBef>
                <a:spcPts val="0"/>
              </a:spcBef>
              <a:spcAft>
                <a:spcPts val="0"/>
              </a:spcAft>
              <a:buClrTx/>
              <a:buSzTx/>
              <a:buFontTx/>
              <a:buNone/>
              <a:tabLst/>
              <a:defRPr/>
            </a:pPr>
            <a:r>
              <a:rPr kumimoji="0" lang="en-US" sz="7023" b="1" i="0" u="none" strike="noStrike" kern="1200" cap="none" spc="0" normalizeH="0" baseline="0" noProof="0">
                <a:ln>
                  <a:noFill/>
                </a:ln>
                <a:solidFill>
                  <a:srgbClr val="C3EDFE"/>
                </a:solidFill>
                <a:effectLst/>
                <a:uLnTx/>
                <a:uFillTx/>
                <a:latin typeface="FH Lecturis Rounded Test Bold"/>
                <a:ea typeface="FH Lecturis Rounded Test Bold"/>
                <a:cs typeface="FH Lecturis Rounded Test Bold"/>
                <a:sym typeface="FH Lecturis Rounded Test Bold"/>
              </a:rPr>
              <a:t>Professional Bodies </a:t>
            </a:r>
          </a:p>
        </p:txBody>
      </p:sp>
      <p:grpSp>
        <p:nvGrpSpPr>
          <p:cNvPr id="3" name="Group 3"/>
          <p:cNvGrpSpPr>
            <a:grpSpLocks noChangeAspect="1"/>
          </p:cNvGrpSpPr>
          <p:nvPr/>
        </p:nvGrpSpPr>
        <p:grpSpPr>
          <a:xfrm>
            <a:off x="9914574" y="313899"/>
            <a:ext cx="1429601" cy="1429601"/>
            <a:chOff x="0" y="0"/>
            <a:chExt cx="1803392" cy="1803392"/>
          </a:xfrm>
        </p:grpSpPr>
        <p:sp>
          <p:nvSpPr>
            <p:cNvPr id="4" name="Freeform 4" descr="Free Certificate SVG, PNG Icon, Symbol. Download Image."/>
            <p:cNvSpPr/>
            <p:nvPr/>
          </p:nvSpPr>
          <p:spPr>
            <a:xfrm>
              <a:off x="0" y="0"/>
              <a:ext cx="1803400" cy="1803400"/>
            </a:xfrm>
            <a:custGeom>
              <a:avLst/>
              <a:gdLst/>
              <a:ahLst/>
              <a:cxnLst/>
              <a:rect l="l" t="t" r="r" b="b"/>
              <a:pathLst>
                <a:path w="1803400" h="1803400">
                  <a:moveTo>
                    <a:pt x="0" y="0"/>
                  </a:moveTo>
                  <a:lnTo>
                    <a:pt x="1803400" y="0"/>
                  </a:lnTo>
                  <a:lnTo>
                    <a:pt x="1803400" y="1803400"/>
                  </a:lnTo>
                  <a:lnTo>
                    <a:pt x="0" y="1803400"/>
                  </a:lnTo>
                  <a:lnTo>
                    <a:pt x="0" y="0"/>
                  </a:lnTo>
                  <a:close/>
                </a:path>
              </a:pathLst>
            </a:custGeom>
            <a:blipFill>
              <a:blip r:embed="rId4"/>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 name="Group 7"/>
          <p:cNvGrpSpPr/>
          <p:nvPr/>
        </p:nvGrpSpPr>
        <p:grpSpPr>
          <a:xfrm>
            <a:off x="4012320" y="3005383"/>
            <a:ext cx="1288220" cy="382560"/>
            <a:chOff x="0" y="0"/>
            <a:chExt cx="1309821" cy="388975"/>
          </a:xfrm>
        </p:grpSpPr>
        <p:sp>
          <p:nvSpPr>
            <p:cNvPr id="8" name="Freeform 8"/>
            <p:cNvSpPr/>
            <p:nvPr/>
          </p:nvSpPr>
          <p:spPr>
            <a:xfrm>
              <a:off x="16891" y="16891"/>
              <a:ext cx="1275969" cy="355092"/>
            </a:xfrm>
            <a:custGeom>
              <a:avLst/>
              <a:gdLst/>
              <a:ahLst/>
              <a:cxnLst/>
              <a:rect l="l" t="t" r="r" b="b"/>
              <a:pathLst>
                <a:path w="1275969" h="355092">
                  <a:moveTo>
                    <a:pt x="1275969" y="177546"/>
                  </a:moveTo>
                  <a:lnTo>
                    <a:pt x="1086485" y="0"/>
                  </a:lnTo>
                  <a:lnTo>
                    <a:pt x="1086485" y="88773"/>
                  </a:lnTo>
                  <a:lnTo>
                    <a:pt x="0" y="88773"/>
                  </a:lnTo>
                  <a:lnTo>
                    <a:pt x="0" y="266319"/>
                  </a:lnTo>
                  <a:lnTo>
                    <a:pt x="1086485" y="266319"/>
                  </a:lnTo>
                  <a:lnTo>
                    <a:pt x="1086485" y="355092"/>
                  </a:lnTo>
                  <a:close/>
                </a:path>
              </a:pathLst>
            </a:custGeom>
            <a:solidFill>
              <a:srgbClr val="4F81B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Freeform 9"/>
            <p:cNvSpPr/>
            <p:nvPr/>
          </p:nvSpPr>
          <p:spPr>
            <a:xfrm>
              <a:off x="0" y="-1270"/>
              <a:ext cx="1309751" cy="391541"/>
            </a:xfrm>
            <a:custGeom>
              <a:avLst/>
              <a:gdLst/>
              <a:ahLst/>
              <a:cxnLst/>
              <a:rect l="l" t="t" r="r" b="b"/>
              <a:pathLst>
                <a:path w="1309751" h="391541">
                  <a:moveTo>
                    <a:pt x="1281303" y="208153"/>
                  </a:moveTo>
                  <a:lnTo>
                    <a:pt x="1091819" y="30607"/>
                  </a:lnTo>
                  <a:lnTo>
                    <a:pt x="1103376" y="18288"/>
                  </a:lnTo>
                  <a:lnTo>
                    <a:pt x="1120267" y="18288"/>
                  </a:lnTo>
                  <a:lnTo>
                    <a:pt x="1120267" y="106934"/>
                  </a:lnTo>
                  <a:cubicBezTo>
                    <a:pt x="1120267" y="116332"/>
                    <a:pt x="1112647" y="123825"/>
                    <a:pt x="1103376" y="123825"/>
                  </a:cubicBezTo>
                  <a:lnTo>
                    <a:pt x="16891" y="123825"/>
                  </a:lnTo>
                  <a:lnTo>
                    <a:pt x="16891" y="106934"/>
                  </a:lnTo>
                  <a:lnTo>
                    <a:pt x="33909" y="106934"/>
                  </a:lnTo>
                  <a:lnTo>
                    <a:pt x="33909" y="284480"/>
                  </a:lnTo>
                  <a:lnTo>
                    <a:pt x="16891" y="284480"/>
                  </a:lnTo>
                  <a:lnTo>
                    <a:pt x="16891" y="267589"/>
                  </a:lnTo>
                  <a:lnTo>
                    <a:pt x="1103376" y="267589"/>
                  </a:lnTo>
                  <a:cubicBezTo>
                    <a:pt x="1112774" y="267589"/>
                    <a:pt x="1120267" y="275209"/>
                    <a:pt x="1120267" y="284480"/>
                  </a:cubicBezTo>
                  <a:lnTo>
                    <a:pt x="1120267" y="373253"/>
                  </a:lnTo>
                  <a:lnTo>
                    <a:pt x="1103376" y="373253"/>
                  </a:lnTo>
                  <a:lnTo>
                    <a:pt x="1091819" y="360934"/>
                  </a:lnTo>
                  <a:lnTo>
                    <a:pt x="1281303" y="183388"/>
                  </a:lnTo>
                  <a:lnTo>
                    <a:pt x="1292860" y="195707"/>
                  </a:lnTo>
                  <a:lnTo>
                    <a:pt x="1281303" y="208026"/>
                  </a:lnTo>
                  <a:moveTo>
                    <a:pt x="1304417" y="183261"/>
                  </a:moveTo>
                  <a:cubicBezTo>
                    <a:pt x="1307846" y="186436"/>
                    <a:pt x="1309751" y="190881"/>
                    <a:pt x="1309751" y="195580"/>
                  </a:cubicBezTo>
                  <a:cubicBezTo>
                    <a:pt x="1309751" y="200279"/>
                    <a:pt x="1307846" y="204724"/>
                    <a:pt x="1304417" y="207899"/>
                  </a:cubicBezTo>
                  <a:lnTo>
                    <a:pt x="1115060" y="385699"/>
                  </a:lnTo>
                  <a:cubicBezTo>
                    <a:pt x="1110107" y="390271"/>
                    <a:pt x="1102995" y="391541"/>
                    <a:pt x="1096772" y="388874"/>
                  </a:cubicBezTo>
                  <a:cubicBezTo>
                    <a:pt x="1090549" y="386207"/>
                    <a:pt x="1086612" y="380111"/>
                    <a:pt x="1086612" y="373380"/>
                  </a:cubicBezTo>
                  <a:lnTo>
                    <a:pt x="1086612" y="284480"/>
                  </a:lnTo>
                  <a:lnTo>
                    <a:pt x="1103503" y="284480"/>
                  </a:lnTo>
                  <a:lnTo>
                    <a:pt x="1103503" y="301371"/>
                  </a:lnTo>
                  <a:lnTo>
                    <a:pt x="16891" y="301371"/>
                  </a:lnTo>
                  <a:cubicBezTo>
                    <a:pt x="7620" y="301498"/>
                    <a:pt x="0" y="293878"/>
                    <a:pt x="0" y="284480"/>
                  </a:cubicBezTo>
                  <a:lnTo>
                    <a:pt x="0" y="106934"/>
                  </a:lnTo>
                  <a:cubicBezTo>
                    <a:pt x="0" y="97536"/>
                    <a:pt x="7620" y="90043"/>
                    <a:pt x="16891" y="90043"/>
                  </a:cubicBezTo>
                  <a:lnTo>
                    <a:pt x="1103376" y="90043"/>
                  </a:lnTo>
                  <a:lnTo>
                    <a:pt x="1103376" y="106934"/>
                  </a:lnTo>
                  <a:lnTo>
                    <a:pt x="1086485" y="106934"/>
                  </a:lnTo>
                  <a:lnTo>
                    <a:pt x="1086485" y="18161"/>
                  </a:lnTo>
                  <a:cubicBezTo>
                    <a:pt x="1086485" y="11430"/>
                    <a:pt x="1090549" y="5334"/>
                    <a:pt x="1096645" y="2667"/>
                  </a:cubicBezTo>
                  <a:cubicBezTo>
                    <a:pt x="1102741" y="0"/>
                    <a:pt x="1110107" y="1270"/>
                    <a:pt x="1115060" y="5842"/>
                  </a:cubicBezTo>
                  <a:lnTo>
                    <a:pt x="1304544" y="183388"/>
                  </a:lnTo>
                  <a:close/>
                </a:path>
              </a:pathLst>
            </a:custGeom>
            <a:solidFill>
              <a:srgbClr val="1C334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0" name="Group 10"/>
          <p:cNvGrpSpPr/>
          <p:nvPr/>
        </p:nvGrpSpPr>
        <p:grpSpPr>
          <a:xfrm rot="-5400000">
            <a:off x="17088915" y="0"/>
            <a:ext cx="1199085" cy="1199085"/>
            <a:chOff x="0" y="0"/>
            <a:chExt cx="1598780" cy="1598780"/>
          </a:xfrm>
        </p:grpSpPr>
        <p:grpSp>
          <p:nvGrpSpPr>
            <p:cNvPr id="11" name="Group 11"/>
            <p:cNvGrpSpPr/>
            <p:nvPr/>
          </p:nvGrpSpPr>
          <p:grpSpPr>
            <a:xfrm>
              <a:off x="0" y="799390"/>
              <a:ext cx="799390" cy="799390"/>
              <a:chOff x="0" y="0"/>
              <a:chExt cx="338164" cy="338164"/>
            </a:xfrm>
          </p:grpSpPr>
          <p:sp>
            <p:nvSpPr>
              <p:cNvPr id="12" name="Freeform 12"/>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p:cNvSpPr txBox="1"/>
              <p:nvPr/>
            </p:nvSpPr>
            <p:spPr>
              <a:xfrm>
                <a:off x="0" y="-95250"/>
                <a:ext cx="338164" cy="433414"/>
              </a:xfrm>
              <a:prstGeom prst="rect">
                <a:avLst/>
              </a:prstGeom>
            </p:spPr>
            <p:txBody>
              <a:bodyPr lIns="50800" tIns="50800" rIns="50800" bIns="50800" rtlCol="0" anchor="ctr"/>
              <a:lstStyle/>
              <a:p>
                <a:pPr marL="0" marR="0" lvl="0" indent="0" algn="ctr" defTabSz="914400" rtl="0" eaLnBrk="1" fontAlgn="auto" latinLnBrk="0" hangingPunct="1">
                  <a:lnSpc>
                    <a:spcPts val="35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p:cNvGrpSpPr/>
            <p:nvPr/>
          </p:nvGrpSpPr>
          <p:grpSpPr>
            <a:xfrm>
              <a:off x="799390" y="0"/>
              <a:ext cx="799390" cy="799390"/>
              <a:chOff x="0" y="0"/>
              <a:chExt cx="338164" cy="338164"/>
            </a:xfrm>
          </p:grpSpPr>
          <p:sp>
            <p:nvSpPr>
              <p:cNvPr id="15" name="Freeform 15"/>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p:cNvSpPr txBox="1"/>
              <p:nvPr/>
            </p:nvSpPr>
            <p:spPr>
              <a:xfrm>
                <a:off x="0" y="-95250"/>
                <a:ext cx="338164" cy="433414"/>
              </a:xfrm>
              <a:prstGeom prst="rect">
                <a:avLst/>
              </a:prstGeom>
            </p:spPr>
            <p:txBody>
              <a:bodyPr lIns="50800" tIns="50800" rIns="50800" bIns="50800" rtlCol="0" anchor="ctr"/>
              <a:lstStyle/>
              <a:p>
                <a:pPr marL="0" marR="0" lvl="0" indent="0" algn="ctr" defTabSz="914400" rtl="0" eaLnBrk="1" fontAlgn="auto" latinLnBrk="0" hangingPunct="1">
                  <a:lnSpc>
                    <a:spcPts val="35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17" name="Group 17"/>
          <p:cNvGrpSpPr/>
          <p:nvPr/>
        </p:nvGrpSpPr>
        <p:grpSpPr>
          <a:xfrm rot="-5400000">
            <a:off x="0" y="641947"/>
            <a:ext cx="1199085" cy="1199085"/>
            <a:chOff x="0" y="0"/>
            <a:chExt cx="1598780" cy="1598780"/>
          </a:xfrm>
        </p:grpSpPr>
        <p:grpSp>
          <p:nvGrpSpPr>
            <p:cNvPr id="18" name="Group 18"/>
            <p:cNvGrpSpPr/>
            <p:nvPr/>
          </p:nvGrpSpPr>
          <p:grpSpPr>
            <a:xfrm>
              <a:off x="0" y="799390"/>
              <a:ext cx="799390" cy="799390"/>
              <a:chOff x="0" y="0"/>
              <a:chExt cx="338164" cy="338164"/>
            </a:xfrm>
          </p:grpSpPr>
          <p:sp>
            <p:nvSpPr>
              <p:cNvPr id="19" name="Freeform 19"/>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Box 20"/>
              <p:cNvSpPr txBox="1"/>
              <p:nvPr/>
            </p:nvSpPr>
            <p:spPr>
              <a:xfrm>
                <a:off x="0" y="-95250"/>
                <a:ext cx="338164" cy="433414"/>
              </a:xfrm>
              <a:prstGeom prst="rect">
                <a:avLst/>
              </a:prstGeom>
            </p:spPr>
            <p:txBody>
              <a:bodyPr lIns="50800" tIns="50800" rIns="50800" bIns="50800" rtlCol="0" anchor="ctr"/>
              <a:lstStyle/>
              <a:p>
                <a:pPr marL="0" marR="0" lvl="0" indent="0" algn="ctr" defTabSz="914400" rtl="0" eaLnBrk="1" fontAlgn="auto" latinLnBrk="0" hangingPunct="1">
                  <a:lnSpc>
                    <a:spcPts val="35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1" name="Group 21"/>
            <p:cNvGrpSpPr/>
            <p:nvPr/>
          </p:nvGrpSpPr>
          <p:grpSpPr>
            <a:xfrm>
              <a:off x="799390" y="0"/>
              <a:ext cx="799390" cy="799390"/>
              <a:chOff x="0" y="0"/>
              <a:chExt cx="338164" cy="338164"/>
            </a:xfrm>
          </p:grpSpPr>
          <p:sp>
            <p:nvSpPr>
              <p:cNvPr id="22" name="Freeform 22"/>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Box 23"/>
              <p:cNvSpPr txBox="1"/>
              <p:nvPr/>
            </p:nvSpPr>
            <p:spPr>
              <a:xfrm>
                <a:off x="0" y="-95250"/>
                <a:ext cx="338164" cy="433414"/>
              </a:xfrm>
              <a:prstGeom prst="rect">
                <a:avLst/>
              </a:prstGeom>
            </p:spPr>
            <p:txBody>
              <a:bodyPr lIns="50800" tIns="50800" rIns="50800" bIns="50800" rtlCol="0" anchor="ctr"/>
              <a:lstStyle/>
              <a:p>
                <a:pPr marL="0" marR="0" lvl="0" indent="0" algn="ctr" defTabSz="914400" rtl="0" eaLnBrk="1" fontAlgn="auto" latinLnBrk="0" hangingPunct="1">
                  <a:lnSpc>
                    <a:spcPts val="35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24" name="Freeform 24">
            <a:hlinkClick r:id="rId5" tooltip="https://www.bcs.org"/>
          </p:cNvPr>
          <p:cNvSpPr/>
          <p:nvPr/>
        </p:nvSpPr>
        <p:spPr>
          <a:xfrm>
            <a:off x="531860" y="2326756"/>
            <a:ext cx="3737260" cy="3737260"/>
          </a:xfrm>
          <a:custGeom>
            <a:avLst/>
            <a:gdLst/>
            <a:ahLst/>
            <a:cxnLst/>
            <a:rect l="l" t="t" r="r" b="b"/>
            <a:pathLst>
              <a:path w="3737260" h="3737260">
                <a:moveTo>
                  <a:pt x="0" y="0"/>
                </a:moveTo>
                <a:lnTo>
                  <a:pt x="3737260" y="0"/>
                </a:lnTo>
                <a:lnTo>
                  <a:pt x="3737260" y="3737260"/>
                </a:lnTo>
                <a:lnTo>
                  <a:pt x="0" y="3737260"/>
                </a:lnTo>
                <a:lnTo>
                  <a:pt x="0" y="0"/>
                </a:lnTo>
                <a:close/>
              </a:path>
            </a:pathLst>
          </a:custGeom>
          <a:blipFill>
            <a:blip r:embed="rId6"/>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Freeform 25"/>
          <p:cNvSpPr/>
          <p:nvPr/>
        </p:nvSpPr>
        <p:spPr>
          <a:xfrm>
            <a:off x="5406281" y="2131394"/>
            <a:ext cx="12140399" cy="6601342"/>
          </a:xfrm>
          <a:custGeom>
            <a:avLst/>
            <a:gdLst/>
            <a:ahLst/>
            <a:cxnLst/>
            <a:rect l="l" t="t" r="r" b="b"/>
            <a:pathLst>
              <a:path w="12140399" h="6601342">
                <a:moveTo>
                  <a:pt x="0" y="0"/>
                </a:moveTo>
                <a:lnTo>
                  <a:pt x="12140399" y="0"/>
                </a:lnTo>
                <a:lnTo>
                  <a:pt x="12140399" y="6601342"/>
                </a:lnTo>
                <a:lnTo>
                  <a:pt x="0" y="6601342"/>
                </a:lnTo>
                <a:lnTo>
                  <a:pt x="0" y="0"/>
                </a:lnTo>
                <a:close/>
              </a:path>
            </a:pathLst>
          </a:custGeom>
          <a:blipFill>
            <a:blip r:embed="rId7"/>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2F50"/>
        </a:solidFill>
        <a:effectLst/>
      </p:bgPr>
    </p:bg>
    <p:spTree>
      <p:nvGrpSpPr>
        <p:cNvPr id="1" name=""/>
        <p:cNvGrpSpPr/>
        <p:nvPr/>
      </p:nvGrpSpPr>
      <p:grpSpPr>
        <a:xfrm>
          <a:off x="0" y="0"/>
          <a:ext cx="0" cy="0"/>
          <a:chOff x="0" y="0"/>
          <a:chExt cx="0" cy="0"/>
        </a:xfrm>
      </p:grpSpPr>
      <p:pic>
        <p:nvPicPr>
          <p:cNvPr id="15" name="Picture 14" descr="A white rectangle with a yellow background&#10;&#10;AI-generated content may be incorrect.">
            <a:extLst>
              <a:ext uri="{FF2B5EF4-FFF2-40B4-BE49-F238E27FC236}">
                <a16:creationId xmlns:a16="http://schemas.microsoft.com/office/drawing/2014/main" id="{A8E64E53-E874-71C9-6D6B-636B11CC7484}"/>
              </a:ext>
            </a:extLst>
          </p:cNvPr>
          <p:cNvPicPr>
            <a:picLocks noChangeAspect="1"/>
          </p:cNvPicPr>
          <p:nvPr/>
        </p:nvPicPr>
        <p:blipFill>
          <a:blip r:embed="rId2"/>
          <a:srcRect t="4218"/>
          <a:stretch>
            <a:fillRect/>
          </a:stretch>
        </p:blipFill>
        <p:spPr>
          <a:xfrm>
            <a:off x="-36286" y="2047199"/>
            <a:ext cx="18324286" cy="8320420"/>
          </a:xfrm>
          <a:prstGeom prst="rect">
            <a:avLst/>
          </a:prstGeom>
        </p:spPr>
      </p:pic>
      <p:sp>
        <p:nvSpPr>
          <p:cNvPr id="4" name="TextBox 4"/>
          <p:cNvSpPr txBox="1"/>
          <p:nvPr/>
        </p:nvSpPr>
        <p:spPr>
          <a:xfrm>
            <a:off x="-676017" y="318135"/>
            <a:ext cx="18288000" cy="1030598"/>
          </a:xfrm>
          <a:prstGeom prst="rect">
            <a:avLst/>
          </a:prstGeom>
        </p:spPr>
        <p:txBody>
          <a:bodyPr lIns="0" tIns="0" rIns="0" bIns="0" rtlCol="0" anchor="t">
            <a:spAutoFit/>
          </a:bodyPr>
          <a:lstStyle/>
          <a:p>
            <a:pPr algn="ctr">
              <a:lnSpc>
                <a:spcPts val="7798"/>
              </a:lnSpc>
            </a:pPr>
            <a:r>
              <a:rPr lang="en-US" sz="5198" b="1">
                <a:solidFill>
                  <a:srgbClr val="C3EDFE"/>
                </a:solidFill>
                <a:latin typeface="FH Lecturis Rounded Test Bold"/>
                <a:ea typeface="FH Lecturis Rounded Test Bold"/>
                <a:cs typeface="FH Lecturis Rounded Test Bold"/>
                <a:sym typeface="FH Lecturis Rounded Test Bold"/>
              </a:rPr>
              <a:t>Developing your work ready toolkit</a:t>
            </a:r>
          </a:p>
        </p:txBody>
      </p:sp>
      <p:sp>
        <p:nvSpPr>
          <p:cNvPr id="5" name="TextBox 5"/>
          <p:cNvSpPr txBox="1"/>
          <p:nvPr/>
        </p:nvSpPr>
        <p:spPr>
          <a:xfrm>
            <a:off x="-7659" y="2263837"/>
            <a:ext cx="18137122" cy="7646382"/>
          </a:xfrm>
          <a:prstGeom prst="rect">
            <a:avLst/>
          </a:prstGeom>
        </p:spPr>
        <p:txBody>
          <a:bodyPr lIns="0" tIns="0" rIns="0" bIns="0" rtlCol="0" anchor="t">
            <a:spAutoFit/>
          </a:bodyPr>
          <a:lstStyle/>
          <a:p>
            <a:pPr algn="ctr">
              <a:lnSpc>
                <a:spcPts val="5529"/>
              </a:lnSpc>
            </a:pPr>
            <a:r>
              <a:rPr lang="en-US" sz="3892" dirty="0">
                <a:solidFill>
                  <a:srgbClr val="000000"/>
                </a:solidFill>
                <a:latin typeface="Tahoma"/>
                <a:ea typeface="Tahoma"/>
                <a:cs typeface="Tahoma"/>
                <a:sym typeface="Tahoma"/>
              </a:rPr>
              <a:t>Recruitment and selection processes vary from business to business - it is worth starting to develop your knowledge early, so you have plenty of time to practice. Visit the </a:t>
            </a:r>
            <a:r>
              <a:rPr lang="en-US" sz="3892" b="1" u="sng" dirty="0">
                <a:solidFill>
                  <a:srgbClr val="0000FF"/>
                </a:solidFill>
                <a:latin typeface="Tahoma Bold"/>
                <a:ea typeface="Tahoma Bold"/>
                <a:cs typeface="Tahoma Bold"/>
                <a:sym typeface="Tahoma Bold"/>
                <a:hlinkClick r:id="rId3" tooltip="https://bcu.careercentre.me/Members"/>
              </a:rPr>
              <a:t>Careers website</a:t>
            </a:r>
            <a:r>
              <a:rPr lang="en-US" sz="3892" b="1" dirty="0">
                <a:solidFill>
                  <a:srgbClr val="000000"/>
                </a:solidFill>
                <a:latin typeface="Tahoma Bold"/>
                <a:ea typeface="Tahoma Bold"/>
                <a:cs typeface="Tahoma Bold"/>
                <a:sym typeface="Tahoma Bold"/>
              </a:rPr>
              <a:t> </a:t>
            </a:r>
            <a:r>
              <a:rPr lang="en-US" sz="3892" dirty="0">
                <a:solidFill>
                  <a:srgbClr val="000000"/>
                </a:solidFill>
                <a:latin typeface="Tahoma"/>
                <a:ea typeface="Tahoma"/>
                <a:cs typeface="Tahoma"/>
                <a:sym typeface="Tahoma"/>
              </a:rPr>
              <a:t>to access support with​</a:t>
            </a:r>
          </a:p>
          <a:p>
            <a:pPr algn="ctr">
              <a:lnSpc>
                <a:spcPts val="5529"/>
              </a:lnSpc>
            </a:pPr>
            <a:r>
              <a:rPr lang="en-US" sz="3949" dirty="0">
                <a:solidFill>
                  <a:srgbClr val="000000"/>
                </a:solidFill>
                <a:latin typeface="Tahoma"/>
                <a:ea typeface="Tahoma"/>
                <a:cs typeface="Tahoma"/>
                <a:sym typeface="Tahoma"/>
              </a:rPr>
              <a:t>​</a:t>
            </a:r>
          </a:p>
          <a:p>
            <a:pPr marL="896090" lvl="2" indent="-298697" algn="l">
              <a:lnSpc>
                <a:spcPts val="5529"/>
              </a:lnSpc>
              <a:buFont typeface="Arial"/>
              <a:buChar char="⚬"/>
            </a:pPr>
            <a:r>
              <a:rPr lang="en-US" sz="3892" b="1" dirty="0">
                <a:solidFill>
                  <a:srgbClr val="1F497D"/>
                </a:solidFill>
                <a:latin typeface="Tahoma Bold"/>
                <a:ea typeface="Tahoma Bold"/>
                <a:cs typeface="Tahoma Bold"/>
                <a:sym typeface="Tahoma Bold"/>
              </a:rPr>
              <a:t> CV, cover letter and application forms​ ​</a:t>
            </a:r>
          </a:p>
          <a:p>
            <a:pPr marL="896090" lvl="2" indent="-298697" algn="l">
              <a:lnSpc>
                <a:spcPts val="5529"/>
              </a:lnSpc>
              <a:buFont typeface="Arial"/>
              <a:buChar char="⚬"/>
            </a:pPr>
            <a:r>
              <a:rPr lang="en-US" sz="3892" b="1" dirty="0">
                <a:solidFill>
                  <a:srgbClr val="1F497D"/>
                </a:solidFill>
                <a:latin typeface="Tahoma Bold"/>
                <a:ea typeface="Tahoma Bold"/>
                <a:cs typeface="Tahoma Bold"/>
                <a:sym typeface="Tahoma Bold"/>
              </a:rPr>
              <a:t> How to create a great LinkedIn Profile​ ​</a:t>
            </a:r>
          </a:p>
          <a:p>
            <a:pPr marL="896090" lvl="2" indent="-298697" algn="l">
              <a:lnSpc>
                <a:spcPts val="5529"/>
              </a:lnSpc>
              <a:buFont typeface="Arial"/>
              <a:buChar char="⚬"/>
            </a:pPr>
            <a:r>
              <a:rPr lang="en-US" sz="3892" b="1" dirty="0">
                <a:solidFill>
                  <a:srgbClr val="1F497D"/>
                </a:solidFill>
                <a:latin typeface="Tahoma Bold"/>
                <a:ea typeface="Tahoma Bold"/>
                <a:cs typeface="Tahoma Bold"/>
                <a:sym typeface="Tahoma Bold"/>
              </a:rPr>
              <a:t> Interview Techniques ​ ​</a:t>
            </a:r>
          </a:p>
          <a:p>
            <a:pPr marL="896090" lvl="2" indent="-298697" algn="l">
              <a:lnSpc>
                <a:spcPts val="5529"/>
              </a:lnSpc>
              <a:buFont typeface="Arial"/>
              <a:buChar char="⚬"/>
            </a:pPr>
            <a:r>
              <a:rPr lang="en-US" sz="3892" b="1" dirty="0">
                <a:solidFill>
                  <a:srgbClr val="1F497D"/>
                </a:solidFill>
                <a:latin typeface="Tahoma Bold"/>
                <a:ea typeface="Tahoma Bold"/>
                <a:cs typeface="Tahoma Bold"/>
                <a:sym typeface="Tahoma Bold"/>
              </a:rPr>
              <a:t> Psychometric tests and Assessment </a:t>
            </a:r>
            <a:r>
              <a:rPr lang="en-US" sz="3892" b="1" dirty="0" err="1">
                <a:solidFill>
                  <a:srgbClr val="1F497D"/>
                </a:solidFill>
                <a:latin typeface="Tahoma Bold"/>
                <a:ea typeface="Tahoma Bold"/>
                <a:cs typeface="Tahoma Bold"/>
                <a:sym typeface="Tahoma Bold"/>
              </a:rPr>
              <a:t>Centres</a:t>
            </a:r>
            <a:r>
              <a:rPr lang="en-US" sz="3892" b="1" dirty="0">
                <a:solidFill>
                  <a:srgbClr val="1F497D"/>
                </a:solidFill>
                <a:latin typeface="Tahoma Bold"/>
                <a:ea typeface="Tahoma Bold"/>
                <a:cs typeface="Tahoma Bold"/>
                <a:sym typeface="Tahoma Bold"/>
              </a:rPr>
              <a:t> ​</a:t>
            </a:r>
          </a:p>
          <a:p>
            <a:pPr marL="896090" lvl="2" indent="-298697" algn="ctr">
              <a:lnSpc>
                <a:spcPts val="5529"/>
              </a:lnSpc>
            </a:pPr>
            <a:r>
              <a:rPr lang="en-US" sz="3892" dirty="0">
                <a:solidFill>
                  <a:srgbClr val="000000"/>
                </a:solidFill>
                <a:latin typeface="Tahoma"/>
                <a:ea typeface="Tahoma"/>
                <a:cs typeface="Tahoma"/>
                <a:sym typeface="Tahoma"/>
              </a:rPr>
              <a:t>​</a:t>
            </a:r>
          </a:p>
          <a:p>
            <a:pPr marL="896090" lvl="2" indent="-298697" algn="ctr">
              <a:lnSpc>
                <a:spcPts val="5529"/>
              </a:lnSpc>
            </a:pPr>
            <a:r>
              <a:rPr lang="en-US" sz="3892" dirty="0">
                <a:solidFill>
                  <a:srgbClr val="000000"/>
                </a:solidFill>
                <a:latin typeface="Tahoma"/>
                <a:ea typeface="Tahoma"/>
                <a:cs typeface="Tahoma"/>
                <a:sym typeface="Tahoma"/>
              </a:rPr>
              <a:t>Attend Career-promoted events and book to see us for more help and support. </a:t>
            </a:r>
          </a:p>
          <a:p>
            <a:pPr marL="896090" lvl="2" indent="-298697" algn="l">
              <a:lnSpc>
                <a:spcPts val="5529"/>
              </a:lnSpc>
            </a:pPr>
            <a:endParaRPr lang="en-US" sz="3892" dirty="0">
              <a:solidFill>
                <a:srgbClr val="000000"/>
              </a:solidFill>
              <a:latin typeface="Tahoma"/>
              <a:ea typeface="Tahoma"/>
              <a:cs typeface="Tahoma"/>
              <a:sym typeface="Tahoma"/>
            </a:endParaRPr>
          </a:p>
        </p:txBody>
      </p:sp>
      <p:grpSp>
        <p:nvGrpSpPr>
          <p:cNvPr id="6" name="Group 6"/>
          <p:cNvGrpSpPr/>
          <p:nvPr/>
        </p:nvGrpSpPr>
        <p:grpSpPr>
          <a:xfrm rot="-5400000">
            <a:off x="0" y="848114"/>
            <a:ext cx="1199085" cy="1199085"/>
            <a:chOff x="0" y="0"/>
            <a:chExt cx="1598780" cy="1598780"/>
          </a:xfrm>
        </p:grpSpPr>
        <p:grpSp>
          <p:nvGrpSpPr>
            <p:cNvPr id="7" name="Group 7"/>
            <p:cNvGrpSpPr/>
            <p:nvPr/>
          </p:nvGrpSpPr>
          <p:grpSpPr>
            <a:xfrm>
              <a:off x="0" y="799390"/>
              <a:ext cx="799390" cy="799390"/>
              <a:chOff x="0" y="0"/>
              <a:chExt cx="338164" cy="338164"/>
            </a:xfrm>
          </p:grpSpPr>
          <p:sp>
            <p:nvSpPr>
              <p:cNvPr id="8" name="Freeform 8"/>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9" name="TextBox 9"/>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nvGrpSpPr>
            <p:cNvPr id="10" name="Group 10"/>
            <p:cNvGrpSpPr/>
            <p:nvPr/>
          </p:nvGrpSpPr>
          <p:grpSpPr>
            <a:xfrm>
              <a:off x="799390" y="0"/>
              <a:ext cx="799390" cy="799390"/>
              <a:chOff x="0" y="0"/>
              <a:chExt cx="338164" cy="338164"/>
            </a:xfrm>
          </p:grpSpPr>
          <p:sp>
            <p:nvSpPr>
              <p:cNvPr id="11" name="Freeform 11"/>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12" name="TextBox 12"/>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sp>
        <p:nvSpPr>
          <p:cNvPr id="13" name="Freeform 13"/>
          <p:cNvSpPr/>
          <p:nvPr/>
        </p:nvSpPr>
        <p:spPr>
          <a:xfrm>
            <a:off x="14795959" y="110794"/>
            <a:ext cx="3352981" cy="673289"/>
          </a:xfrm>
          <a:custGeom>
            <a:avLst/>
            <a:gdLst/>
            <a:ahLst/>
            <a:cxnLst/>
            <a:rect l="l" t="t" r="r" b="b"/>
            <a:pathLst>
              <a:path w="3352981" h="673289">
                <a:moveTo>
                  <a:pt x="0" y="0"/>
                </a:moveTo>
                <a:lnTo>
                  <a:pt x="3352981" y="0"/>
                </a:lnTo>
                <a:lnTo>
                  <a:pt x="3352981" y="673290"/>
                </a:lnTo>
                <a:lnTo>
                  <a:pt x="0" y="673290"/>
                </a:lnTo>
                <a:lnTo>
                  <a:pt x="0" y="0"/>
                </a:lnTo>
                <a:close/>
              </a:path>
            </a:pathLst>
          </a:custGeom>
          <a:blipFill>
            <a:blip r:embed="rId4"/>
            <a:stretch>
              <a:fillRect/>
            </a:stretch>
          </a:blipFill>
        </p:spPr>
        <p:txBody>
          <a:bodyPr/>
          <a:lstStyle/>
          <a:p>
            <a:endParaRPr lang="en-GB"/>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002F50"/>
        </a:solidFill>
        <a:effectLst/>
      </p:bgPr>
    </p:bg>
    <p:spTree>
      <p:nvGrpSpPr>
        <p:cNvPr id="1" name=""/>
        <p:cNvGrpSpPr/>
        <p:nvPr/>
      </p:nvGrpSpPr>
      <p:grpSpPr>
        <a:xfrm>
          <a:off x="0" y="0"/>
          <a:ext cx="0" cy="0"/>
          <a:chOff x="0" y="0"/>
          <a:chExt cx="0" cy="0"/>
        </a:xfrm>
      </p:grpSpPr>
      <p:sp>
        <p:nvSpPr>
          <p:cNvPr id="2" name="TextBox 2"/>
          <p:cNvSpPr txBox="1"/>
          <p:nvPr/>
        </p:nvSpPr>
        <p:spPr>
          <a:xfrm>
            <a:off x="-615558" y="214482"/>
            <a:ext cx="18288000" cy="1304586"/>
          </a:xfrm>
          <a:prstGeom prst="rect">
            <a:avLst/>
          </a:prstGeom>
        </p:spPr>
        <p:txBody>
          <a:bodyPr lIns="0" tIns="0" rIns="0" bIns="0" rtlCol="0" anchor="t">
            <a:spAutoFit/>
          </a:bodyPr>
          <a:lstStyle/>
          <a:p>
            <a:pPr marL="0" marR="0" lvl="0" indent="0" algn="ctr" defTabSz="914400" rtl="0" eaLnBrk="1" fontAlgn="auto" latinLnBrk="0" hangingPunct="1">
              <a:lnSpc>
                <a:spcPts val="9767"/>
              </a:lnSpc>
              <a:spcBef>
                <a:spcPts val="0"/>
              </a:spcBef>
              <a:spcAft>
                <a:spcPts val="0"/>
              </a:spcAft>
              <a:buClrTx/>
              <a:buSzTx/>
              <a:buFontTx/>
              <a:buNone/>
              <a:tabLst/>
              <a:defRPr/>
            </a:pPr>
            <a:r>
              <a:rPr kumimoji="0" lang="en-US" sz="6449" b="1" i="0" u="none" strike="noStrike" kern="1200" cap="none" spc="0" normalizeH="0" baseline="0" noProof="0">
                <a:ln>
                  <a:noFill/>
                </a:ln>
                <a:solidFill>
                  <a:srgbClr val="C3EDFE"/>
                </a:solidFill>
                <a:effectLst/>
                <a:uLnTx/>
                <a:uFillTx/>
                <a:latin typeface="FH Lecturis Rounded Test Bold"/>
                <a:ea typeface="FH Lecturis Rounded Test Bold"/>
                <a:cs typeface="FH Lecturis Rounded Test Bold"/>
                <a:sym typeface="FH Lecturis Rounded Test Bold"/>
              </a:rPr>
              <a:t>CURRENT PLACEMENT! </a:t>
            </a:r>
          </a:p>
        </p:txBody>
      </p:sp>
      <p:grpSp>
        <p:nvGrpSpPr>
          <p:cNvPr id="5" name="Group 5"/>
          <p:cNvGrpSpPr/>
          <p:nvPr/>
        </p:nvGrpSpPr>
        <p:grpSpPr>
          <a:xfrm rot="-5400000">
            <a:off x="-84436" y="763677"/>
            <a:ext cx="1199086" cy="1367958"/>
            <a:chOff x="0" y="-225163"/>
            <a:chExt cx="1598780" cy="1823943"/>
          </a:xfrm>
        </p:grpSpPr>
        <p:grpSp>
          <p:nvGrpSpPr>
            <p:cNvPr id="6" name="Group 6"/>
            <p:cNvGrpSpPr/>
            <p:nvPr/>
          </p:nvGrpSpPr>
          <p:grpSpPr>
            <a:xfrm>
              <a:off x="0" y="574227"/>
              <a:ext cx="799390" cy="1024553"/>
              <a:chOff x="0" y="-95250"/>
              <a:chExt cx="338164" cy="433414"/>
            </a:xfrm>
          </p:grpSpPr>
          <p:sp>
            <p:nvSpPr>
              <p:cNvPr id="7" name="Freeform 7"/>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8"/>
              <p:cNvSpPr txBox="1"/>
              <p:nvPr/>
            </p:nvSpPr>
            <p:spPr>
              <a:xfrm>
                <a:off x="0" y="-95250"/>
                <a:ext cx="338164" cy="433414"/>
              </a:xfrm>
              <a:prstGeom prst="rect">
                <a:avLst/>
              </a:prstGeom>
            </p:spPr>
            <p:txBody>
              <a:bodyPr lIns="50800" tIns="50800" rIns="50800" bIns="50800" rtlCol="0" anchor="ctr"/>
              <a:lstStyle/>
              <a:p>
                <a:pPr marL="0" marR="0" lvl="0" indent="0" algn="ctr" defTabSz="914400" rtl="0" eaLnBrk="1" fontAlgn="auto" latinLnBrk="0" hangingPunct="1">
                  <a:lnSpc>
                    <a:spcPts val="35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9" name="Group 9"/>
            <p:cNvGrpSpPr/>
            <p:nvPr/>
          </p:nvGrpSpPr>
          <p:grpSpPr>
            <a:xfrm>
              <a:off x="799390" y="-225163"/>
              <a:ext cx="799390" cy="1024553"/>
              <a:chOff x="0" y="-95250"/>
              <a:chExt cx="338164" cy="433414"/>
            </a:xfrm>
          </p:grpSpPr>
          <p:sp>
            <p:nvSpPr>
              <p:cNvPr id="10" name="Freeform 10"/>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Box 11"/>
              <p:cNvSpPr txBox="1"/>
              <p:nvPr/>
            </p:nvSpPr>
            <p:spPr>
              <a:xfrm>
                <a:off x="0" y="-95250"/>
                <a:ext cx="338164" cy="433414"/>
              </a:xfrm>
              <a:prstGeom prst="rect">
                <a:avLst/>
              </a:prstGeom>
            </p:spPr>
            <p:txBody>
              <a:bodyPr lIns="50800" tIns="50800" rIns="50800" bIns="50800" rtlCol="0" anchor="ctr"/>
              <a:lstStyle/>
              <a:p>
                <a:pPr marL="0" marR="0" lvl="0" indent="0" algn="ctr" defTabSz="914400" rtl="0" eaLnBrk="1" fontAlgn="auto" latinLnBrk="0" hangingPunct="1">
                  <a:lnSpc>
                    <a:spcPts val="35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12" name="Freeform 12"/>
          <p:cNvSpPr/>
          <p:nvPr/>
        </p:nvSpPr>
        <p:spPr>
          <a:xfrm>
            <a:off x="14795959" y="110794"/>
            <a:ext cx="3352981" cy="673289"/>
          </a:xfrm>
          <a:custGeom>
            <a:avLst/>
            <a:gdLst/>
            <a:ahLst/>
            <a:cxnLst/>
            <a:rect l="l" t="t" r="r" b="b"/>
            <a:pathLst>
              <a:path w="3352981" h="673289">
                <a:moveTo>
                  <a:pt x="0" y="0"/>
                </a:moveTo>
                <a:lnTo>
                  <a:pt x="3352981" y="0"/>
                </a:lnTo>
                <a:lnTo>
                  <a:pt x="3352981" y="673290"/>
                </a:lnTo>
                <a:lnTo>
                  <a:pt x="0" y="673290"/>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pic>
        <p:nvPicPr>
          <p:cNvPr id="13" name="Picture 12" descr="A white rectangle with a yellow background&#10;&#10;AI-generated content may be incorrect.">
            <a:extLst>
              <a:ext uri="{FF2B5EF4-FFF2-40B4-BE49-F238E27FC236}">
                <a16:creationId xmlns:a16="http://schemas.microsoft.com/office/drawing/2014/main" id="{040A09B2-34FB-3CBD-5384-41AFD70460E8}"/>
              </a:ext>
            </a:extLst>
          </p:cNvPr>
          <p:cNvPicPr>
            <a:picLocks noChangeAspect="1"/>
          </p:cNvPicPr>
          <p:nvPr/>
        </p:nvPicPr>
        <p:blipFill>
          <a:blip r:embed="rId3"/>
          <a:srcRect t="4218"/>
          <a:stretch>
            <a:fillRect/>
          </a:stretch>
        </p:blipFill>
        <p:spPr>
          <a:xfrm>
            <a:off x="-36286" y="2081287"/>
            <a:ext cx="18324286" cy="832042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2F50"/>
        </a:solidFill>
        <a:effectLst/>
      </p:bgPr>
    </p:bg>
    <p:spTree>
      <p:nvGrpSpPr>
        <p:cNvPr id="1" name=""/>
        <p:cNvGrpSpPr/>
        <p:nvPr/>
      </p:nvGrpSpPr>
      <p:grpSpPr>
        <a:xfrm>
          <a:off x="0" y="0"/>
          <a:ext cx="0" cy="0"/>
          <a:chOff x="0" y="0"/>
          <a:chExt cx="0" cy="0"/>
        </a:xfrm>
      </p:grpSpPr>
      <p:sp>
        <p:nvSpPr>
          <p:cNvPr id="2" name="Freeform 2"/>
          <p:cNvSpPr/>
          <p:nvPr/>
        </p:nvSpPr>
        <p:spPr>
          <a:xfrm>
            <a:off x="0" y="11179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GB"/>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F2E4E"/>
        </a:solidFill>
        <a:effectLst/>
      </p:bgPr>
    </p:bg>
    <p:spTree>
      <p:nvGrpSpPr>
        <p:cNvPr id="1" name=""/>
        <p:cNvGrpSpPr/>
        <p:nvPr/>
      </p:nvGrpSpPr>
      <p:grpSpPr>
        <a:xfrm>
          <a:off x="0" y="0"/>
          <a:ext cx="0" cy="0"/>
          <a:chOff x="0" y="0"/>
          <a:chExt cx="0" cy="0"/>
        </a:xfrm>
      </p:grpSpPr>
      <p:pic>
        <p:nvPicPr>
          <p:cNvPr id="22" name="Picture 21" descr="A white rectangle with a yellow background&#10;&#10;AI-generated content may be incorrect.">
            <a:extLst>
              <a:ext uri="{FF2B5EF4-FFF2-40B4-BE49-F238E27FC236}">
                <a16:creationId xmlns:a16="http://schemas.microsoft.com/office/drawing/2014/main" id="{AC000681-FD10-7BAA-2889-D58042C8B5F7}"/>
              </a:ext>
            </a:extLst>
          </p:cNvPr>
          <p:cNvPicPr>
            <a:picLocks noChangeAspect="1"/>
          </p:cNvPicPr>
          <p:nvPr/>
        </p:nvPicPr>
        <p:blipFill>
          <a:blip r:embed="rId2"/>
          <a:srcRect t="4593"/>
          <a:stretch>
            <a:fillRect/>
          </a:stretch>
        </p:blipFill>
        <p:spPr>
          <a:xfrm>
            <a:off x="-25400" y="2377275"/>
            <a:ext cx="18313400" cy="8287814"/>
          </a:xfrm>
          <a:prstGeom prst="rect">
            <a:avLst/>
          </a:prstGeom>
        </p:spPr>
      </p:pic>
      <p:sp>
        <p:nvSpPr>
          <p:cNvPr id="4" name="Freeform 4"/>
          <p:cNvSpPr/>
          <p:nvPr/>
        </p:nvSpPr>
        <p:spPr>
          <a:xfrm>
            <a:off x="1757524" y="4872994"/>
            <a:ext cx="3785509" cy="3640972"/>
          </a:xfrm>
          <a:custGeom>
            <a:avLst/>
            <a:gdLst/>
            <a:ahLst/>
            <a:cxnLst/>
            <a:rect l="l" t="t" r="r" b="b"/>
            <a:pathLst>
              <a:path w="3785509" h="3640972">
                <a:moveTo>
                  <a:pt x="0" y="0"/>
                </a:moveTo>
                <a:lnTo>
                  <a:pt x="3785509" y="0"/>
                </a:lnTo>
                <a:lnTo>
                  <a:pt x="3785509" y="3640972"/>
                </a:lnTo>
                <a:lnTo>
                  <a:pt x="0" y="3640972"/>
                </a:lnTo>
                <a:lnTo>
                  <a:pt x="0" y="0"/>
                </a:lnTo>
                <a:close/>
              </a:path>
            </a:pathLst>
          </a:custGeom>
          <a:blipFill>
            <a:blip r:embed="rId3">
              <a:extLst>
                <a:ext uri="{96DAC541-7B7A-43D3-8B79-37D633B846F1}">
                  <asvg:svgBlip xmlns:asvg="http://schemas.microsoft.com/office/drawing/2016/SVG/main" r:embed="rId4"/>
                </a:ext>
              </a:extLst>
            </a:blip>
            <a:stretch>
              <a:fillRect l="-79" r="-79"/>
            </a:stretch>
          </a:blipFill>
        </p:spPr>
        <p:txBody>
          <a:bodyPr/>
          <a:lstStyle/>
          <a:p>
            <a:endParaRPr lang="en-GB"/>
          </a:p>
        </p:txBody>
      </p:sp>
      <p:sp>
        <p:nvSpPr>
          <p:cNvPr id="5" name="TextBox 5"/>
          <p:cNvSpPr txBox="1"/>
          <p:nvPr/>
        </p:nvSpPr>
        <p:spPr>
          <a:xfrm>
            <a:off x="-2582394" y="458427"/>
            <a:ext cx="23251707" cy="1135567"/>
          </a:xfrm>
          <a:prstGeom prst="rect">
            <a:avLst/>
          </a:prstGeom>
        </p:spPr>
        <p:txBody>
          <a:bodyPr lIns="0" tIns="0" rIns="0" bIns="0" rtlCol="0" anchor="t">
            <a:spAutoFit/>
          </a:bodyPr>
          <a:lstStyle/>
          <a:p>
            <a:pPr algn="ctr">
              <a:lnSpc>
                <a:spcPts val="9915"/>
              </a:lnSpc>
            </a:pPr>
            <a:r>
              <a:rPr lang="en-US" sz="6610" b="1" dirty="0">
                <a:solidFill>
                  <a:srgbClr val="C3EDFE"/>
                </a:solidFill>
                <a:latin typeface="FH Lecturis Rounded Test Bold"/>
                <a:ea typeface="FH Lecturis Rounded Test Bold"/>
                <a:cs typeface="FH Lecturis Rounded Test Bold"/>
                <a:sym typeface="FH Lecturis Rounded Test Bold"/>
              </a:rPr>
              <a:t>Tell us what you think</a:t>
            </a:r>
          </a:p>
        </p:txBody>
      </p:sp>
      <p:grpSp>
        <p:nvGrpSpPr>
          <p:cNvPr id="6" name="Group 6"/>
          <p:cNvGrpSpPr/>
          <p:nvPr/>
        </p:nvGrpSpPr>
        <p:grpSpPr>
          <a:xfrm rot="-5400000">
            <a:off x="17088915" y="0"/>
            <a:ext cx="1199085" cy="1199085"/>
            <a:chOff x="0" y="0"/>
            <a:chExt cx="1598780" cy="1598780"/>
          </a:xfrm>
        </p:grpSpPr>
        <p:grpSp>
          <p:nvGrpSpPr>
            <p:cNvPr id="7" name="Group 7"/>
            <p:cNvGrpSpPr/>
            <p:nvPr/>
          </p:nvGrpSpPr>
          <p:grpSpPr>
            <a:xfrm>
              <a:off x="0" y="799390"/>
              <a:ext cx="799390" cy="799390"/>
              <a:chOff x="0" y="0"/>
              <a:chExt cx="338164" cy="338164"/>
            </a:xfrm>
          </p:grpSpPr>
          <p:sp>
            <p:nvSpPr>
              <p:cNvPr id="8" name="Freeform 8"/>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9" name="TextBox 9"/>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nvGrpSpPr>
            <p:cNvPr id="10" name="Group 10"/>
            <p:cNvGrpSpPr/>
            <p:nvPr/>
          </p:nvGrpSpPr>
          <p:grpSpPr>
            <a:xfrm>
              <a:off x="799390" y="0"/>
              <a:ext cx="799390" cy="799390"/>
              <a:chOff x="0" y="0"/>
              <a:chExt cx="338164" cy="338164"/>
            </a:xfrm>
          </p:grpSpPr>
          <p:sp>
            <p:nvSpPr>
              <p:cNvPr id="11" name="Freeform 11"/>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12" name="TextBox 12"/>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grpSp>
        <p:nvGrpSpPr>
          <p:cNvPr id="13" name="Group 13"/>
          <p:cNvGrpSpPr/>
          <p:nvPr/>
        </p:nvGrpSpPr>
        <p:grpSpPr>
          <a:xfrm rot="-5400000">
            <a:off x="0" y="1178189"/>
            <a:ext cx="1199085" cy="1199085"/>
            <a:chOff x="0" y="0"/>
            <a:chExt cx="1598780" cy="1598780"/>
          </a:xfrm>
        </p:grpSpPr>
        <p:grpSp>
          <p:nvGrpSpPr>
            <p:cNvPr id="14" name="Group 14"/>
            <p:cNvGrpSpPr/>
            <p:nvPr/>
          </p:nvGrpSpPr>
          <p:grpSpPr>
            <a:xfrm>
              <a:off x="0" y="799390"/>
              <a:ext cx="799390" cy="799390"/>
              <a:chOff x="0" y="0"/>
              <a:chExt cx="338164" cy="338164"/>
            </a:xfrm>
          </p:grpSpPr>
          <p:sp>
            <p:nvSpPr>
              <p:cNvPr id="15" name="Freeform 15"/>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16" name="TextBox 16"/>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nvGrpSpPr>
            <p:cNvPr id="17" name="Group 17"/>
            <p:cNvGrpSpPr/>
            <p:nvPr/>
          </p:nvGrpSpPr>
          <p:grpSpPr>
            <a:xfrm>
              <a:off x="799390" y="0"/>
              <a:ext cx="799390" cy="799390"/>
              <a:chOff x="0" y="0"/>
              <a:chExt cx="338164" cy="338164"/>
            </a:xfrm>
          </p:grpSpPr>
          <p:sp>
            <p:nvSpPr>
              <p:cNvPr id="18" name="Freeform 18"/>
              <p:cNvSpPr/>
              <p:nvPr/>
            </p:nvSpPr>
            <p:spPr>
              <a:xfrm>
                <a:off x="0" y="0"/>
                <a:ext cx="338164" cy="338164"/>
              </a:xfrm>
              <a:custGeom>
                <a:avLst/>
                <a:gdLst/>
                <a:ahLst/>
                <a:cxnLst/>
                <a:rect l="l" t="t" r="r" b="b"/>
                <a:pathLst>
                  <a:path w="338164" h="338164">
                    <a:moveTo>
                      <a:pt x="0" y="0"/>
                    </a:moveTo>
                    <a:lnTo>
                      <a:pt x="338164" y="0"/>
                    </a:lnTo>
                    <a:lnTo>
                      <a:pt x="338164" y="338164"/>
                    </a:lnTo>
                    <a:lnTo>
                      <a:pt x="0" y="338164"/>
                    </a:lnTo>
                    <a:close/>
                  </a:path>
                </a:pathLst>
              </a:custGeom>
              <a:solidFill>
                <a:srgbClr val="C3EDFE"/>
              </a:solidFill>
            </p:spPr>
            <p:txBody>
              <a:bodyPr/>
              <a:lstStyle/>
              <a:p>
                <a:endParaRPr lang="en-GB"/>
              </a:p>
            </p:txBody>
          </p:sp>
          <p:sp>
            <p:nvSpPr>
              <p:cNvPr id="19" name="TextBox 19"/>
              <p:cNvSpPr txBox="1"/>
              <p:nvPr/>
            </p:nvSpPr>
            <p:spPr>
              <a:xfrm>
                <a:off x="0" y="-95250"/>
                <a:ext cx="338164" cy="433414"/>
              </a:xfrm>
              <a:prstGeom prst="rect">
                <a:avLst/>
              </a:prstGeom>
            </p:spPr>
            <p:txBody>
              <a:bodyPr lIns="50800" tIns="50800" rIns="50800" bIns="50800" rtlCol="0" anchor="ctr"/>
              <a:lstStyle/>
              <a:p>
                <a:pPr algn="ctr">
                  <a:lnSpc>
                    <a:spcPts val="3500"/>
                  </a:lnSpc>
                </a:pPr>
                <a:endParaRPr/>
              </a:p>
            </p:txBody>
          </p:sp>
        </p:grpSp>
      </p:grpSp>
      <p:pic>
        <p:nvPicPr>
          <p:cNvPr id="20" name="Picture 20"/>
          <p:cNvPicPr>
            <a:picLocks noChangeAspect="1"/>
          </p:cNvPicPr>
          <p:nvPr/>
        </p:nvPicPr>
        <p:blipFill>
          <a:blip r:embed="rId5"/>
          <a:stretch>
            <a:fillRect/>
          </a:stretch>
        </p:blipFill>
        <p:spPr>
          <a:xfrm>
            <a:off x="5223506" y="2011597"/>
            <a:ext cx="8641080" cy="864108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AF3E0"/>
        </a:solidFill>
        <a:effectLst/>
      </p:bgPr>
    </p:bg>
    <p:spTree>
      <p:nvGrpSpPr>
        <p:cNvPr id="1" name=""/>
        <p:cNvGrpSpPr/>
        <p:nvPr/>
      </p:nvGrpSpPr>
      <p:grpSpPr>
        <a:xfrm>
          <a:off x="0" y="0"/>
          <a:ext cx="0" cy="0"/>
          <a:chOff x="0" y="0"/>
          <a:chExt cx="0" cy="0"/>
        </a:xfrm>
      </p:grpSpPr>
      <p:grpSp>
        <p:nvGrpSpPr>
          <p:cNvPr id="2" name="Group 2"/>
          <p:cNvGrpSpPr/>
          <p:nvPr/>
        </p:nvGrpSpPr>
        <p:grpSpPr>
          <a:xfrm>
            <a:off x="-1484232" y="1"/>
            <a:ext cx="22963413" cy="10868294"/>
            <a:chOff x="0" y="0"/>
            <a:chExt cx="30617884" cy="14491059"/>
          </a:xfrm>
        </p:grpSpPr>
        <p:sp>
          <p:nvSpPr>
            <p:cNvPr id="3" name="Freeform 3"/>
            <p:cNvSpPr/>
            <p:nvPr/>
          </p:nvSpPr>
          <p:spPr>
            <a:xfrm>
              <a:off x="0" y="0"/>
              <a:ext cx="30617796" cy="14491081"/>
            </a:xfrm>
            <a:custGeom>
              <a:avLst/>
              <a:gdLst/>
              <a:ahLst/>
              <a:cxnLst/>
              <a:rect l="l" t="t" r="r" b="b"/>
              <a:pathLst>
                <a:path w="30617796" h="14491081">
                  <a:moveTo>
                    <a:pt x="30118431" y="14491081"/>
                  </a:moveTo>
                  <a:lnTo>
                    <a:pt x="499364" y="14491081"/>
                  </a:lnTo>
                  <a:cubicBezTo>
                    <a:pt x="224282" y="14491081"/>
                    <a:pt x="0" y="14266799"/>
                    <a:pt x="0" y="13991589"/>
                  </a:cubicBezTo>
                  <a:lnTo>
                    <a:pt x="0" y="499364"/>
                  </a:lnTo>
                  <a:cubicBezTo>
                    <a:pt x="0" y="224282"/>
                    <a:pt x="224282" y="0"/>
                    <a:pt x="499364" y="0"/>
                  </a:cubicBezTo>
                  <a:lnTo>
                    <a:pt x="30118431" y="0"/>
                  </a:lnTo>
                  <a:cubicBezTo>
                    <a:pt x="30393639" y="0"/>
                    <a:pt x="30617796" y="224282"/>
                    <a:pt x="30617796" y="499364"/>
                  </a:cubicBezTo>
                  <a:lnTo>
                    <a:pt x="30617796" y="13991589"/>
                  </a:lnTo>
                  <a:cubicBezTo>
                    <a:pt x="30617796" y="14266799"/>
                    <a:pt x="30393512" y="14490954"/>
                    <a:pt x="30118431" y="14490954"/>
                  </a:cubicBezTo>
                  <a:close/>
                </a:path>
              </a:pathLst>
            </a:custGeom>
            <a:solidFill>
              <a:srgbClr val="FAF3E0"/>
            </a:solidFill>
          </p:spPr>
          <p:txBody>
            <a:bodyPr/>
            <a:lstStyle/>
            <a:p>
              <a:endParaRPr lang="en-GB"/>
            </a:p>
          </p:txBody>
        </p:sp>
      </p:grpSp>
      <p:grpSp>
        <p:nvGrpSpPr>
          <p:cNvPr id="4" name="Group 4"/>
          <p:cNvGrpSpPr/>
          <p:nvPr/>
        </p:nvGrpSpPr>
        <p:grpSpPr>
          <a:xfrm>
            <a:off x="4720002" y="6698468"/>
            <a:ext cx="3776919" cy="2053398"/>
            <a:chOff x="0" y="0"/>
            <a:chExt cx="5035892" cy="2737864"/>
          </a:xfrm>
        </p:grpSpPr>
        <p:sp>
          <p:nvSpPr>
            <p:cNvPr id="5" name="Freeform 5"/>
            <p:cNvSpPr/>
            <p:nvPr/>
          </p:nvSpPr>
          <p:spPr>
            <a:xfrm>
              <a:off x="13335" y="3048"/>
              <a:ext cx="5009261" cy="2731770"/>
            </a:xfrm>
            <a:custGeom>
              <a:avLst/>
              <a:gdLst/>
              <a:ahLst/>
              <a:cxnLst/>
              <a:rect l="l" t="t" r="r" b="b"/>
              <a:pathLst>
                <a:path w="5009261" h="2731770">
                  <a:moveTo>
                    <a:pt x="0" y="2687066"/>
                  </a:moveTo>
                  <a:lnTo>
                    <a:pt x="4985131" y="0"/>
                  </a:lnTo>
                  <a:lnTo>
                    <a:pt x="5009261" y="44704"/>
                  </a:lnTo>
                  <a:lnTo>
                    <a:pt x="24130" y="2731770"/>
                  </a:lnTo>
                  <a:close/>
                </a:path>
              </a:pathLst>
            </a:custGeom>
            <a:solidFill>
              <a:srgbClr val="A8A8A8"/>
            </a:solidFill>
          </p:spPr>
          <p:txBody>
            <a:bodyPr/>
            <a:lstStyle/>
            <a:p>
              <a:endParaRPr lang="en-GB"/>
            </a:p>
          </p:txBody>
        </p:sp>
      </p:grpSp>
      <p:grpSp>
        <p:nvGrpSpPr>
          <p:cNvPr id="6" name="Group 6"/>
          <p:cNvGrpSpPr/>
          <p:nvPr/>
        </p:nvGrpSpPr>
        <p:grpSpPr>
          <a:xfrm>
            <a:off x="13161175" y="1688573"/>
            <a:ext cx="4944266" cy="1844556"/>
            <a:chOff x="0" y="0"/>
            <a:chExt cx="6592355" cy="2459408"/>
          </a:xfrm>
        </p:grpSpPr>
        <p:sp>
          <p:nvSpPr>
            <p:cNvPr id="7" name="Freeform 7"/>
            <p:cNvSpPr/>
            <p:nvPr/>
          </p:nvSpPr>
          <p:spPr>
            <a:xfrm>
              <a:off x="0" y="0"/>
              <a:ext cx="6592316" cy="2459355"/>
            </a:xfrm>
            <a:custGeom>
              <a:avLst/>
              <a:gdLst/>
              <a:ahLst/>
              <a:cxnLst/>
              <a:rect l="l" t="t" r="r" b="b"/>
              <a:pathLst>
                <a:path w="6592316" h="2459355">
                  <a:moveTo>
                    <a:pt x="23749" y="0"/>
                  </a:moveTo>
                  <a:lnTo>
                    <a:pt x="6568567" y="0"/>
                  </a:lnTo>
                  <a:cubicBezTo>
                    <a:pt x="6574917" y="0"/>
                    <a:pt x="6580886" y="2540"/>
                    <a:pt x="6585331" y="6985"/>
                  </a:cubicBezTo>
                  <a:cubicBezTo>
                    <a:pt x="6589776" y="11430"/>
                    <a:pt x="6592316" y="17526"/>
                    <a:pt x="6592316" y="23749"/>
                  </a:cubicBezTo>
                  <a:lnTo>
                    <a:pt x="6592316" y="2435606"/>
                  </a:lnTo>
                  <a:cubicBezTo>
                    <a:pt x="6592316" y="2441956"/>
                    <a:pt x="6589776" y="2447925"/>
                    <a:pt x="6585331" y="2452370"/>
                  </a:cubicBezTo>
                  <a:cubicBezTo>
                    <a:pt x="6580886" y="2456815"/>
                    <a:pt x="6574790" y="2459355"/>
                    <a:pt x="6568567" y="2459355"/>
                  </a:cubicBezTo>
                  <a:lnTo>
                    <a:pt x="23749" y="2459355"/>
                  </a:lnTo>
                  <a:cubicBezTo>
                    <a:pt x="17399" y="2459355"/>
                    <a:pt x="11430" y="2456815"/>
                    <a:pt x="6985" y="2452370"/>
                  </a:cubicBezTo>
                  <a:cubicBezTo>
                    <a:pt x="2540" y="2447925"/>
                    <a:pt x="0" y="2441956"/>
                    <a:pt x="0" y="2435606"/>
                  </a:cubicBezTo>
                  <a:lnTo>
                    <a:pt x="0" y="23749"/>
                  </a:lnTo>
                  <a:cubicBezTo>
                    <a:pt x="0" y="17526"/>
                    <a:pt x="2540" y="11430"/>
                    <a:pt x="6985" y="6985"/>
                  </a:cubicBezTo>
                  <a:cubicBezTo>
                    <a:pt x="11430" y="2540"/>
                    <a:pt x="17526" y="0"/>
                    <a:pt x="23749" y="0"/>
                  </a:cubicBezTo>
                  <a:close/>
                </a:path>
              </a:pathLst>
            </a:custGeom>
            <a:solidFill>
              <a:srgbClr val="55C4D4"/>
            </a:solidFill>
          </p:spPr>
          <p:txBody>
            <a:bodyPr/>
            <a:lstStyle/>
            <a:p>
              <a:endParaRPr lang="en-GB"/>
            </a:p>
          </p:txBody>
        </p:sp>
      </p:grpSp>
      <p:grpSp>
        <p:nvGrpSpPr>
          <p:cNvPr id="8" name="Group 8"/>
          <p:cNvGrpSpPr/>
          <p:nvPr/>
        </p:nvGrpSpPr>
        <p:grpSpPr>
          <a:xfrm>
            <a:off x="13161175" y="1399251"/>
            <a:ext cx="4944266" cy="2133878"/>
            <a:chOff x="0" y="0"/>
            <a:chExt cx="6592355" cy="2845170"/>
          </a:xfrm>
        </p:grpSpPr>
        <p:sp>
          <p:nvSpPr>
            <p:cNvPr id="9" name="Freeform 9"/>
            <p:cNvSpPr/>
            <p:nvPr/>
          </p:nvSpPr>
          <p:spPr>
            <a:xfrm>
              <a:off x="0" y="0"/>
              <a:ext cx="6592355" cy="2845171"/>
            </a:xfrm>
            <a:custGeom>
              <a:avLst/>
              <a:gdLst/>
              <a:ahLst/>
              <a:cxnLst/>
              <a:rect l="l" t="t" r="r" b="b"/>
              <a:pathLst>
                <a:path w="6592355" h="2845171">
                  <a:moveTo>
                    <a:pt x="0" y="0"/>
                  </a:moveTo>
                  <a:lnTo>
                    <a:pt x="6592355" y="0"/>
                  </a:lnTo>
                  <a:lnTo>
                    <a:pt x="6592355" y="2845171"/>
                  </a:lnTo>
                  <a:lnTo>
                    <a:pt x="0" y="2845171"/>
                  </a:lnTo>
                  <a:close/>
                </a:path>
              </a:pathLst>
            </a:custGeom>
            <a:solidFill>
              <a:srgbClr val="000000">
                <a:alpha val="0"/>
              </a:srgbClr>
            </a:solidFill>
          </p:spPr>
          <p:txBody>
            <a:bodyPr/>
            <a:lstStyle/>
            <a:p>
              <a:endParaRPr lang="en-GB"/>
            </a:p>
          </p:txBody>
        </p:sp>
        <p:sp>
          <p:nvSpPr>
            <p:cNvPr id="10" name="TextBox 10"/>
            <p:cNvSpPr txBox="1"/>
            <p:nvPr/>
          </p:nvSpPr>
          <p:spPr>
            <a:xfrm>
              <a:off x="0" y="-66675"/>
              <a:ext cx="6592355" cy="2911845"/>
            </a:xfrm>
            <a:prstGeom prst="rect">
              <a:avLst/>
            </a:prstGeom>
          </p:spPr>
          <p:txBody>
            <a:bodyPr lIns="0" tIns="0" rIns="0" bIns="0" rtlCol="0" anchor="ctr"/>
            <a:lstStyle/>
            <a:p>
              <a:pPr algn="ctr">
                <a:lnSpc>
                  <a:spcPts val="3449"/>
                </a:lnSpc>
              </a:pPr>
              <a:r>
                <a:rPr lang="en-US" sz="2300" spc="114">
                  <a:solidFill>
                    <a:srgbClr val="000000"/>
                  </a:solidFill>
                  <a:latin typeface="Tahoma"/>
                  <a:ea typeface="Tahoma"/>
                  <a:cs typeface="Tahoma"/>
                  <a:sym typeface="Tahoma"/>
                </a:rPr>
                <a:t>Checking out job profiles on student career sites such as Prospects, All About Careers, iCould, Target Jobs</a:t>
              </a:r>
            </a:p>
          </p:txBody>
        </p:sp>
      </p:grpSp>
      <p:grpSp>
        <p:nvGrpSpPr>
          <p:cNvPr id="11" name="Group 11"/>
          <p:cNvGrpSpPr/>
          <p:nvPr/>
        </p:nvGrpSpPr>
        <p:grpSpPr>
          <a:xfrm>
            <a:off x="14057204" y="3864994"/>
            <a:ext cx="3592835" cy="848301"/>
            <a:chOff x="0" y="0"/>
            <a:chExt cx="4790447" cy="1131068"/>
          </a:xfrm>
        </p:grpSpPr>
        <p:sp>
          <p:nvSpPr>
            <p:cNvPr id="12" name="Freeform 12"/>
            <p:cNvSpPr/>
            <p:nvPr/>
          </p:nvSpPr>
          <p:spPr>
            <a:xfrm>
              <a:off x="0" y="0"/>
              <a:ext cx="4790313" cy="1131062"/>
            </a:xfrm>
            <a:custGeom>
              <a:avLst/>
              <a:gdLst/>
              <a:ahLst/>
              <a:cxnLst/>
              <a:rect l="l" t="t" r="r" b="b"/>
              <a:pathLst>
                <a:path w="4790313" h="1131062">
                  <a:moveTo>
                    <a:pt x="32766" y="0"/>
                  </a:moveTo>
                  <a:lnTo>
                    <a:pt x="4757674" y="0"/>
                  </a:lnTo>
                  <a:cubicBezTo>
                    <a:pt x="4766310" y="0"/>
                    <a:pt x="4774692" y="3429"/>
                    <a:pt x="4780788" y="9525"/>
                  </a:cubicBezTo>
                  <a:cubicBezTo>
                    <a:pt x="4786884" y="15621"/>
                    <a:pt x="4790313" y="24003"/>
                    <a:pt x="4790313" y="32639"/>
                  </a:cubicBezTo>
                  <a:lnTo>
                    <a:pt x="4790313" y="1098296"/>
                  </a:lnTo>
                  <a:cubicBezTo>
                    <a:pt x="4790313" y="1116330"/>
                    <a:pt x="4775708" y="1131062"/>
                    <a:pt x="4757547" y="1131062"/>
                  </a:cubicBezTo>
                  <a:lnTo>
                    <a:pt x="32766" y="1131062"/>
                  </a:lnTo>
                  <a:cubicBezTo>
                    <a:pt x="24130" y="1131062"/>
                    <a:pt x="15748" y="1127633"/>
                    <a:pt x="9652" y="1121537"/>
                  </a:cubicBezTo>
                  <a:cubicBezTo>
                    <a:pt x="3556" y="1115441"/>
                    <a:pt x="0" y="1107059"/>
                    <a:pt x="0" y="1098296"/>
                  </a:cubicBezTo>
                  <a:lnTo>
                    <a:pt x="0" y="32766"/>
                  </a:lnTo>
                  <a:cubicBezTo>
                    <a:pt x="0" y="14605"/>
                    <a:pt x="14605" y="0"/>
                    <a:pt x="32766" y="0"/>
                  </a:cubicBezTo>
                  <a:close/>
                </a:path>
              </a:pathLst>
            </a:custGeom>
            <a:solidFill>
              <a:srgbClr val="3EDAD8"/>
            </a:solidFill>
          </p:spPr>
          <p:txBody>
            <a:bodyPr/>
            <a:lstStyle/>
            <a:p>
              <a:endParaRPr lang="en-GB"/>
            </a:p>
          </p:txBody>
        </p:sp>
      </p:grpSp>
      <p:grpSp>
        <p:nvGrpSpPr>
          <p:cNvPr id="13" name="Group 13"/>
          <p:cNvGrpSpPr/>
          <p:nvPr/>
        </p:nvGrpSpPr>
        <p:grpSpPr>
          <a:xfrm>
            <a:off x="14057204" y="3575671"/>
            <a:ext cx="3592835" cy="1137620"/>
            <a:chOff x="0" y="0"/>
            <a:chExt cx="4790447" cy="1516827"/>
          </a:xfrm>
        </p:grpSpPr>
        <p:sp>
          <p:nvSpPr>
            <p:cNvPr id="14" name="Freeform 14"/>
            <p:cNvSpPr/>
            <p:nvPr/>
          </p:nvSpPr>
          <p:spPr>
            <a:xfrm>
              <a:off x="0" y="0"/>
              <a:ext cx="4790447" cy="1516827"/>
            </a:xfrm>
            <a:custGeom>
              <a:avLst/>
              <a:gdLst/>
              <a:ahLst/>
              <a:cxnLst/>
              <a:rect l="l" t="t" r="r" b="b"/>
              <a:pathLst>
                <a:path w="4790447" h="1516827">
                  <a:moveTo>
                    <a:pt x="0" y="0"/>
                  </a:moveTo>
                  <a:lnTo>
                    <a:pt x="4790447" y="0"/>
                  </a:lnTo>
                  <a:lnTo>
                    <a:pt x="4790447" y="1516827"/>
                  </a:lnTo>
                  <a:lnTo>
                    <a:pt x="0" y="1516827"/>
                  </a:lnTo>
                  <a:close/>
                </a:path>
              </a:pathLst>
            </a:custGeom>
            <a:solidFill>
              <a:srgbClr val="000000">
                <a:alpha val="0"/>
              </a:srgbClr>
            </a:solidFill>
          </p:spPr>
          <p:txBody>
            <a:bodyPr/>
            <a:lstStyle/>
            <a:p>
              <a:endParaRPr lang="en-GB"/>
            </a:p>
          </p:txBody>
        </p:sp>
        <p:sp>
          <p:nvSpPr>
            <p:cNvPr id="15" name="TextBox 15"/>
            <p:cNvSpPr txBox="1"/>
            <p:nvPr/>
          </p:nvSpPr>
          <p:spPr>
            <a:xfrm>
              <a:off x="0" y="-76200"/>
              <a:ext cx="4790447" cy="1593027"/>
            </a:xfrm>
            <a:prstGeom prst="rect">
              <a:avLst/>
            </a:prstGeom>
          </p:spPr>
          <p:txBody>
            <a:bodyPr lIns="0" tIns="0" rIns="0" bIns="0" rtlCol="0" anchor="ctr"/>
            <a:lstStyle/>
            <a:p>
              <a:pPr algn="ctr">
                <a:lnSpc>
                  <a:spcPts val="3898"/>
                </a:lnSpc>
              </a:pPr>
              <a:r>
                <a:rPr lang="en-US" sz="2599" spc="129">
                  <a:solidFill>
                    <a:srgbClr val="000000"/>
                  </a:solidFill>
                  <a:latin typeface="Tahoma"/>
                  <a:ea typeface="Tahoma"/>
                  <a:cs typeface="Tahoma"/>
                  <a:sym typeface="Tahoma"/>
                </a:rPr>
                <a:t>Work shadowing</a:t>
              </a:r>
            </a:p>
          </p:txBody>
        </p:sp>
      </p:grpSp>
      <p:grpSp>
        <p:nvGrpSpPr>
          <p:cNvPr id="16" name="Group 16"/>
          <p:cNvGrpSpPr/>
          <p:nvPr/>
        </p:nvGrpSpPr>
        <p:grpSpPr>
          <a:xfrm>
            <a:off x="565474" y="1688573"/>
            <a:ext cx="3836786" cy="1149072"/>
            <a:chOff x="0" y="0"/>
            <a:chExt cx="5115715" cy="1532096"/>
          </a:xfrm>
        </p:grpSpPr>
        <p:sp>
          <p:nvSpPr>
            <p:cNvPr id="17" name="Freeform 17"/>
            <p:cNvSpPr/>
            <p:nvPr/>
          </p:nvSpPr>
          <p:spPr>
            <a:xfrm>
              <a:off x="0" y="0"/>
              <a:ext cx="5115814" cy="1532001"/>
            </a:xfrm>
            <a:custGeom>
              <a:avLst/>
              <a:gdLst/>
              <a:ahLst/>
              <a:cxnLst/>
              <a:rect l="l" t="t" r="r" b="b"/>
              <a:pathLst>
                <a:path w="5115814" h="1532001">
                  <a:moveTo>
                    <a:pt x="30607" y="0"/>
                  </a:moveTo>
                  <a:lnTo>
                    <a:pt x="5085080" y="0"/>
                  </a:lnTo>
                  <a:cubicBezTo>
                    <a:pt x="5093208" y="0"/>
                    <a:pt x="5100955" y="3175"/>
                    <a:pt x="5106797" y="9017"/>
                  </a:cubicBezTo>
                  <a:cubicBezTo>
                    <a:pt x="5112639" y="14859"/>
                    <a:pt x="5115814" y="22606"/>
                    <a:pt x="5115814" y="30734"/>
                  </a:cubicBezTo>
                  <a:lnTo>
                    <a:pt x="5115814" y="1501394"/>
                  </a:lnTo>
                  <a:cubicBezTo>
                    <a:pt x="5115814" y="1518285"/>
                    <a:pt x="5102098" y="1532001"/>
                    <a:pt x="5085207" y="1532001"/>
                  </a:cubicBezTo>
                  <a:lnTo>
                    <a:pt x="30607" y="1532001"/>
                  </a:lnTo>
                  <a:cubicBezTo>
                    <a:pt x="13716" y="1532001"/>
                    <a:pt x="0" y="1518285"/>
                    <a:pt x="0" y="1501394"/>
                  </a:cubicBezTo>
                  <a:lnTo>
                    <a:pt x="0" y="30607"/>
                  </a:lnTo>
                  <a:cubicBezTo>
                    <a:pt x="0" y="13716"/>
                    <a:pt x="13716" y="0"/>
                    <a:pt x="30607" y="0"/>
                  </a:cubicBezTo>
                  <a:close/>
                </a:path>
              </a:pathLst>
            </a:custGeom>
            <a:solidFill>
              <a:srgbClr val="55C4D4"/>
            </a:solidFill>
          </p:spPr>
          <p:txBody>
            <a:bodyPr/>
            <a:lstStyle/>
            <a:p>
              <a:endParaRPr lang="en-GB"/>
            </a:p>
          </p:txBody>
        </p:sp>
      </p:grpSp>
      <p:grpSp>
        <p:nvGrpSpPr>
          <p:cNvPr id="18" name="Group 18"/>
          <p:cNvGrpSpPr/>
          <p:nvPr/>
        </p:nvGrpSpPr>
        <p:grpSpPr>
          <a:xfrm>
            <a:off x="565474" y="1363086"/>
            <a:ext cx="3836786" cy="1474559"/>
            <a:chOff x="0" y="0"/>
            <a:chExt cx="5115715" cy="1966079"/>
          </a:xfrm>
        </p:grpSpPr>
        <p:sp>
          <p:nvSpPr>
            <p:cNvPr id="19" name="Freeform 19"/>
            <p:cNvSpPr/>
            <p:nvPr/>
          </p:nvSpPr>
          <p:spPr>
            <a:xfrm>
              <a:off x="0" y="0"/>
              <a:ext cx="5115714" cy="1966079"/>
            </a:xfrm>
            <a:custGeom>
              <a:avLst/>
              <a:gdLst/>
              <a:ahLst/>
              <a:cxnLst/>
              <a:rect l="l" t="t" r="r" b="b"/>
              <a:pathLst>
                <a:path w="5115714" h="1966079">
                  <a:moveTo>
                    <a:pt x="0" y="0"/>
                  </a:moveTo>
                  <a:lnTo>
                    <a:pt x="5115714" y="0"/>
                  </a:lnTo>
                  <a:lnTo>
                    <a:pt x="5115714" y="1966079"/>
                  </a:lnTo>
                  <a:lnTo>
                    <a:pt x="0" y="1966079"/>
                  </a:lnTo>
                  <a:close/>
                </a:path>
              </a:pathLst>
            </a:custGeom>
            <a:solidFill>
              <a:srgbClr val="000000">
                <a:alpha val="0"/>
              </a:srgbClr>
            </a:solidFill>
          </p:spPr>
          <p:txBody>
            <a:bodyPr/>
            <a:lstStyle/>
            <a:p>
              <a:endParaRPr lang="en-GB"/>
            </a:p>
          </p:txBody>
        </p:sp>
        <p:sp>
          <p:nvSpPr>
            <p:cNvPr id="20" name="TextBox 20"/>
            <p:cNvSpPr txBox="1"/>
            <p:nvPr/>
          </p:nvSpPr>
          <p:spPr>
            <a:xfrm>
              <a:off x="0" y="-85725"/>
              <a:ext cx="5115715" cy="2051804"/>
            </a:xfrm>
            <a:prstGeom prst="rect">
              <a:avLst/>
            </a:prstGeom>
          </p:spPr>
          <p:txBody>
            <a:bodyPr lIns="0" tIns="0" rIns="0" bIns="0" rtlCol="0" anchor="ctr"/>
            <a:lstStyle/>
            <a:p>
              <a:pPr algn="ctr">
                <a:lnSpc>
                  <a:spcPts val="4049"/>
                </a:lnSpc>
              </a:pPr>
              <a:r>
                <a:rPr lang="en-US" sz="2699" spc="134">
                  <a:solidFill>
                    <a:srgbClr val="000000"/>
                  </a:solidFill>
                  <a:latin typeface="Tahoma"/>
                  <a:ea typeface="Tahoma"/>
                  <a:cs typeface="Tahoma"/>
                  <a:sym typeface="Tahoma"/>
                </a:rPr>
                <a:t>Attending virtual recruitment fairs</a:t>
              </a:r>
            </a:p>
          </p:txBody>
        </p:sp>
      </p:grpSp>
      <p:grpSp>
        <p:nvGrpSpPr>
          <p:cNvPr id="21" name="Group 21"/>
          <p:cNvGrpSpPr/>
          <p:nvPr/>
        </p:nvGrpSpPr>
        <p:grpSpPr>
          <a:xfrm>
            <a:off x="565474" y="3504395"/>
            <a:ext cx="3745361" cy="987306"/>
            <a:chOff x="0" y="0"/>
            <a:chExt cx="4993815" cy="1316408"/>
          </a:xfrm>
        </p:grpSpPr>
        <p:sp>
          <p:nvSpPr>
            <p:cNvPr id="22" name="Freeform 22"/>
            <p:cNvSpPr/>
            <p:nvPr/>
          </p:nvSpPr>
          <p:spPr>
            <a:xfrm>
              <a:off x="0" y="0"/>
              <a:ext cx="4993767" cy="1316355"/>
            </a:xfrm>
            <a:custGeom>
              <a:avLst/>
              <a:gdLst/>
              <a:ahLst/>
              <a:cxnLst/>
              <a:rect l="l" t="t" r="r" b="b"/>
              <a:pathLst>
                <a:path w="4993767" h="1316355">
                  <a:moveTo>
                    <a:pt x="31369" y="0"/>
                  </a:moveTo>
                  <a:lnTo>
                    <a:pt x="4962398" y="0"/>
                  </a:lnTo>
                  <a:cubicBezTo>
                    <a:pt x="4970780" y="0"/>
                    <a:pt x="4978654" y="3302"/>
                    <a:pt x="4984623" y="9144"/>
                  </a:cubicBezTo>
                  <a:cubicBezTo>
                    <a:pt x="4990592" y="14986"/>
                    <a:pt x="4993767" y="22987"/>
                    <a:pt x="4993767" y="31369"/>
                  </a:cubicBezTo>
                  <a:lnTo>
                    <a:pt x="4993767" y="1284986"/>
                  </a:lnTo>
                  <a:cubicBezTo>
                    <a:pt x="4993767" y="1293368"/>
                    <a:pt x="4990465" y="1301242"/>
                    <a:pt x="4984623" y="1307211"/>
                  </a:cubicBezTo>
                  <a:cubicBezTo>
                    <a:pt x="4978781" y="1313180"/>
                    <a:pt x="4970780" y="1316355"/>
                    <a:pt x="4962398" y="1316355"/>
                  </a:cubicBezTo>
                  <a:lnTo>
                    <a:pt x="31369" y="1316355"/>
                  </a:lnTo>
                  <a:cubicBezTo>
                    <a:pt x="13970" y="1316355"/>
                    <a:pt x="0" y="1302258"/>
                    <a:pt x="0" y="1284986"/>
                  </a:cubicBezTo>
                  <a:lnTo>
                    <a:pt x="0" y="31369"/>
                  </a:lnTo>
                  <a:cubicBezTo>
                    <a:pt x="0" y="23114"/>
                    <a:pt x="3302" y="15113"/>
                    <a:pt x="9144" y="9144"/>
                  </a:cubicBezTo>
                  <a:cubicBezTo>
                    <a:pt x="14986" y="3175"/>
                    <a:pt x="23114" y="0"/>
                    <a:pt x="31369" y="0"/>
                  </a:cubicBezTo>
                  <a:close/>
                </a:path>
              </a:pathLst>
            </a:custGeom>
            <a:solidFill>
              <a:srgbClr val="3EDAD8"/>
            </a:solidFill>
          </p:spPr>
          <p:txBody>
            <a:bodyPr/>
            <a:lstStyle/>
            <a:p>
              <a:endParaRPr lang="en-GB"/>
            </a:p>
          </p:txBody>
        </p:sp>
      </p:grpSp>
      <p:grpSp>
        <p:nvGrpSpPr>
          <p:cNvPr id="23" name="Group 23"/>
          <p:cNvGrpSpPr/>
          <p:nvPr/>
        </p:nvGrpSpPr>
        <p:grpSpPr>
          <a:xfrm>
            <a:off x="565474" y="3215073"/>
            <a:ext cx="3745361" cy="1276628"/>
            <a:chOff x="0" y="0"/>
            <a:chExt cx="4993815" cy="1702171"/>
          </a:xfrm>
        </p:grpSpPr>
        <p:sp>
          <p:nvSpPr>
            <p:cNvPr id="24" name="Freeform 24"/>
            <p:cNvSpPr/>
            <p:nvPr/>
          </p:nvSpPr>
          <p:spPr>
            <a:xfrm>
              <a:off x="0" y="0"/>
              <a:ext cx="4993815" cy="1702171"/>
            </a:xfrm>
            <a:custGeom>
              <a:avLst/>
              <a:gdLst/>
              <a:ahLst/>
              <a:cxnLst/>
              <a:rect l="l" t="t" r="r" b="b"/>
              <a:pathLst>
                <a:path w="4993815" h="1702171">
                  <a:moveTo>
                    <a:pt x="0" y="0"/>
                  </a:moveTo>
                  <a:lnTo>
                    <a:pt x="4993815" y="0"/>
                  </a:lnTo>
                  <a:lnTo>
                    <a:pt x="4993815" y="1702171"/>
                  </a:lnTo>
                  <a:lnTo>
                    <a:pt x="0" y="1702171"/>
                  </a:lnTo>
                  <a:close/>
                </a:path>
              </a:pathLst>
            </a:custGeom>
            <a:solidFill>
              <a:srgbClr val="000000">
                <a:alpha val="0"/>
              </a:srgbClr>
            </a:solidFill>
          </p:spPr>
          <p:txBody>
            <a:bodyPr/>
            <a:lstStyle/>
            <a:p>
              <a:endParaRPr lang="en-GB"/>
            </a:p>
          </p:txBody>
        </p:sp>
        <p:sp>
          <p:nvSpPr>
            <p:cNvPr id="25" name="TextBox 25"/>
            <p:cNvSpPr txBox="1"/>
            <p:nvPr/>
          </p:nvSpPr>
          <p:spPr>
            <a:xfrm>
              <a:off x="0" y="-66675"/>
              <a:ext cx="4993815" cy="1768846"/>
            </a:xfrm>
            <a:prstGeom prst="rect">
              <a:avLst/>
            </a:prstGeom>
          </p:spPr>
          <p:txBody>
            <a:bodyPr lIns="0" tIns="0" rIns="0" bIns="0" rtlCol="0" anchor="ctr"/>
            <a:lstStyle/>
            <a:p>
              <a:pPr algn="ctr">
                <a:lnSpc>
                  <a:spcPts val="3449"/>
                </a:lnSpc>
              </a:pPr>
              <a:r>
                <a:rPr lang="en-US" sz="2300" spc="114">
                  <a:solidFill>
                    <a:srgbClr val="000000"/>
                  </a:solidFill>
                  <a:latin typeface="Tahoma"/>
                  <a:ea typeface="Tahoma"/>
                  <a:cs typeface="Tahoma"/>
                  <a:sym typeface="Tahoma"/>
                </a:rPr>
                <a:t>Work experience / Placements</a:t>
              </a:r>
            </a:p>
          </p:txBody>
        </p:sp>
      </p:grpSp>
      <p:grpSp>
        <p:nvGrpSpPr>
          <p:cNvPr id="26" name="Group 26"/>
          <p:cNvGrpSpPr/>
          <p:nvPr/>
        </p:nvGrpSpPr>
        <p:grpSpPr>
          <a:xfrm>
            <a:off x="565472" y="5069261"/>
            <a:ext cx="3773604" cy="848301"/>
            <a:chOff x="0" y="0"/>
            <a:chExt cx="5031472" cy="1131068"/>
          </a:xfrm>
        </p:grpSpPr>
        <p:sp>
          <p:nvSpPr>
            <p:cNvPr id="27" name="Freeform 27"/>
            <p:cNvSpPr/>
            <p:nvPr/>
          </p:nvSpPr>
          <p:spPr>
            <a:xfrm>
              <a:off x="0" y="0"/>
              <a:ext cx="5031486" cy="1131062"/>
            </a:xfrm>
            <a:custGeom>
              <a:avLst/>
              <a:gdLst/>
              <a:ahLst/>
              <a:cxnLst/>
              <a:rect l="l" t="t" r="r" b="b"/>
              <a:pathLst>
                <a:path w="5031486" h="1131062">
                  <a:moveTo>
                    <a:pt x="31115" y="0"/>
                  </a:moveTo>
                  <a:lnTo>
                    <a:pt x="5000371" y="0"/>
                  </a:lnTo>
                  <a:cubicBezTo>
                    <a:pt x="5008626" y="0"/>
                    <a:pt x="5016500" y="3302"/>
                    <a:pt x="5022342" y="9144"/>
                  </a:cubicBezTo>
                  <a:cubicBezTo>
                    <a:pt x="5028184" y="14986"/>
                    <a:pt x="5031486" y="22860"/>
                    <a:pt x="5031486" y="31115"/>
                  </a:cubicBezTo>
                  <a:lnTo>
                    <a:pt x="5031486" y="1099947"/>
                  </a:lnTo>
                  <a:cubicBezTo>
                    <a:pt x="5031486" y="1108202"/>
                    <a:pt x="5028184" y="1116076"/>
                    <a:pt x="5022342" y="1121918"/>
                  </a:cubicBezTo>
                  <a:cubicBezTo>
                    <a:pt x="5016500" y="1127760"/>
                    <a:pt x="5008626" y="1131062"/>
                    <a:pt x="5000371" y="1131062"/>
                  </a:cubicBezTo>
                  <a:lnTo>
                    <a:pt x="31115" y="1131062"/>
                  </a:lnTo>
                  <a:cubicBezTo>
                    <a:pt x="22860" y="1131062"/>
                    <a:pt x="14986" y="1127760"/>
                    <a:pt x="9144" y="1121918"/>
                  </a:cubicBezTo>
                  <a:cubicBezTo>
                    <a:pt x="3302" y="1116076"/>
                    <a:pt x="0" y="1108202"/>
                    <a:pt x="0" y="1099947"/>
                  </a:cubicBezTo>
                  <a:lnTo>
                    <a:pt x="0" y="31115"/>
                  </a:lnTo>
                  <a:cubicBezTo>
                    <a:pt x="0" y="22860"/>
                    <a:pt x="3302" y="14986"/>
                    <a:pt x="9144" y="9144"/>
                  </a:cubicBezTo>
                  <a:cubicBezTo>
                    <a:pt x="14986" y="3302"/>
                    <a:pt x="22860" y="0"/>
                    <a:pt x="31115" y="0"/>
                  </a:cubicBezTo>
                  <a:close/>
                </a:path>
              </a:pathLst>
            </a:custGeom>
            <a:solidFill>
              <a:srgbClr val="37C9EF"/>
            </a:solidFill>
          </p:spPr>
          <p:txBody>
            <a:bodyPr/>
            <a:lstStyle/>
            <a:p>
              <a:endParaRPr lang="en-GB"/>
            </a:p>
          </p:txBody>
        </p:sp>
      </p:grpSp>
      <p:grpSp>
        <p:nvGrpSpPr>
          <p:cNvPr id="28" name="Group 28"/>
          <p:cNvGrpSpPr/>
          <p:nvPr/>
        </p:nvGrpSpPr>
        <p:grpSpPr>
          <a:xfrm>
            <a:off x="565472" y="4779938"/>
            <a:ext cx="3773604" cy="1137620"/>
            <a:chOff x="0" y="0"/>
            <a:chExt cx="5031472" cy="1516827"/>
          </a:xfrm>
        </p:grpSpPr>
        <p:sp>
          <p:nvSpPr>
            <p:cNvPr id="29" name="Freeform 29"/>
            <p:cNvSpPr/>
            <p:nvPr/>
          </p:nvSpPr>
          <p:spPr>
            <a:xfrm>
              <a:off x="0" y="0"/>
              <a:ext cx="5031472" cy="1516827"/>
            </a:xfrm>
            <a:custGeom>
              <a:avLst/>
              <a:gdLst/>
              <a:ahLst/>
              <a:cxnLst/>
              <a:rect l="l" t="t" r="r" b="b"/>
              <a:pathLst>
                <a:path w="5031472" h="1516827">
                  <a:moveTo>
                    <a:pt x="0" y="0"/>
                  </a:moveTo>
                  <a:lnTo>
                    <a:pt x="5031472" y="0"/>
                  </a:lnTo>
                  <a:lnTo>
                    <a:pt x="5031472" y="1516827"/>
                  </a:lnTo>
                  <a:lnTo>
                    <a:pt x="0" y="1516827"/>
                  </a:lnTo>
                  <a:close/>
                </a:path>
              </a:pathLst>
            </a:custGeom>
            <a:solidFill>
              <a:srgbClr val="000000">
                <a:alpha val="0"/>
              </a:srgbClr>
            </a:solidFill>
          </p:spPr>
          <p:txBody>
            <a:bodyPr/>
            <a:lstStyle/>
            <a:p>
              <a:endParaRPr lang="en-GB"/>
            </a:p>
          </p:txBody>
        </p:sp>
        <p:sp>
          <p:nvSpPr>
            <p:cNvPr id="30" name="TextBox 30"/>
            <p:cNvSpPr txBox="1"/>
            <p:nvPr/>
          </p:nvSpPr>
          <p:spPr>
            <a:xfrm>
              <a:off x="0" y="-85725"/>
              <a:ext cx="5031472" cy="1602552"/>
            </a:xfrm>
            <a:prstGeom prst="rect">
              <a:avLst/>
            </a:prstGeom>
          </p:spPr>
          <p:txBody>
            <a:bodyPr lIns="0" tIns="0" rIns="0" bIns="0" rtlCol="0" anchor="ctr"/>
            <a:lstStyle/>
            <a:p>
              <a:pPr algn="ctr">
                <a:lnSpc>
                  <a:spcPts val="3900"/>
                </a:lnSpc>
              </a:pPr>
              <a:r>
                <a:rPr lang="en-US" sz="2599" spc="131">
                  <a:solidFill>
                    <a:srgbClr val="000000"/>
                  </a:solidFill>
                  <a:latin typeface="Tahoma"/>
                  <a:ea typeface="Tahoma"/>
                  <a:cs typeface="Tahoma"/>
                  <a:sym typeface="Tahoma"/>
                </a:rPr>
                <a:t>Reading job adverts</a:t>
              </a:r>
            </a:p>
          </p:txBody>
        </p:sp>
      </p:grpSp>
      <p:grpSp>
        <p:nvGrpSpPr>
          <p:cNvPr id="31" name="Group 31"/>
          <p:cNvGrpSpPr/>
          <p:nvPr/>
        </p:nvGrpSpPr>
        <p:grpSpPr>
          <a:xfrm>
            <a:off x="4383209" y="2244061"/>
            <a:ext cx="4120397" cy="658112"/>
            <a:chOff x="0" y="0"/>
            <a:chExt cx="5493863" cy="877483"/>
          </a:xfrm>
        </p:grpSpPr>
        <p:sp>
          <p:nvSpPr>
            <p:cNvPr id="32" name="Freeform 32"/>
            <p:cNvSpPr/>
            <p:nvPr/>
          </p:nvSpPr>
          <p:spPr>
            <a:xfrm>
              <a:off x="21590" y="254"/>
              <a:ext cx="5450713" cy="876935"/>
            </a:xfrm>
            <a:custGeom>
              <a:avLst/>
              <a:gdLst/>
              <a:ahLst/>
              <a:cxnLst/>
              <a:rect l="l" t="t" r="r" b="b"/>
              <a:pathLst>
                <a:path w="5450713" h="876935">
                  <a:moveTo>
                    <a:pt x="7620" y="0"/>
                  </a:moveTo>
                  <a:lnTo>
                    <a:pt x="5450713" y="826770"/>
                  </a:lnTo>
                  <a:lnTo>
                    <a:pt x="5443093" y="876935"/>
                  </a:lnTo>
                  <a:lnTo>
                    <a:pt x="0" y="50292"/>
                  </a:lnTo>
                  <a:close/>
                </a:path>
              </a:pathLst>
            </a:custGeom>
            <a:solidFill>
              <a:srgbClr val="A8A8A8"/>
            </a:solidFill>
          </p:spPr>
          <p:txBody>
            <a:bodyPr/>
            <a:lstStyle/>
            <a:p>
              <a:endParaRPr lang="en-GB"/>
            </a:p>
          </p:txBody>
        </p:sp>
      </p:grpSp>
      <p:grpSp>
        <p:nvGrpSpPr>
          <p:cNvPr id="33" name="Group 33"/>
          <p:cNvGrpSpPr/>
          <p:nvPr/>
        </p:nvGrpSpPr>
        <p:grpSpPr>
          <a:xfrm>
            <a:off x="9660059" y="2591803"/>
            <a:ext cx="3520164" cy="329273"/>
            <a:chOff x="0" y="0"/>
            <a:chExt cx="4693552" cy="439031"/>
          </a:xfrm>
        </p:grpSpPr>
        <p:sp>
          <p:nvSpPr>
            <p:cNvPr id="34" name="Freeform 34"/>
            <p:cNvSpPr/>
            <p:nvPr/>
          </p:nvSpPr>
          <p:spPr>
            <a:xfrm>
              <a:off x="23241" y="127"/>
              <a:ext cx="4646930" cy="438785"/>
            </a:xfrm>
            <a:custGeom>
              <a:avLst/>
              <a:gdLst/>
              <a:ahLst/>
              <a:cxnLst/>
              <a:rect l="l" t="t" r="r" b="b"/>
              <a:pathLst>
                <a:path w="4646930" h="438785">
                  <a:moveTo>
                    <a:pt x="0" y="388239"/>
                  </a:moveTo>
                  <a:lnTo>
                    <a:pt x="4642739" y="0"/>
                  </a:lnTo>
                  <a:lnTo>
                    <a:pt x="4646930" y="50673"/>
                  </a:lnTo>
                  <a:lnTo>
                    <a:pt x="4318" y="438785"/>
                  </a:lnTo>
                  <a:close/>
                </a:path>
              </a:pathLst>
            </a:custGeom>
            <a:solidFill>
              <a:srgbClr val="A8A8A8"/>
            </a:solidFill>
          </p:spPr>
          <p:txBody>
            <a:bodyPr/>
            <a:lstStyle/>
            <a:p>
              <a:endParaRPr lang="en-GB"/>
            </a:p>
          </p:txBody>
        </p:sp>
      </p:grpSp>
      <p:grpSp>
        <p:nvGrpSpPr>
          <p:cNvPr id="35" name="Group 35"/>
          <p:cNvGrpSpPr/>
          <p:nvPr/>
        </p:nvGrpSpPr>
        <p:grpSpPr>
          <a:xfrm>
            <a:off x="4291784" y="3978998"/>
            <a:ext cx="4210847" cy="753342"/>
            <a:chOff x="0" y="0"/>
            <a:chExt cx="5614463" cy="1004456"/>
          </a:xfrm>
        </p:grpSpPr>
        <p:sp>
          <p:nvSpPr>
            <p:cNvPr id="36" name="Freeform 36"/>
            <p:cNvSpPr/>
            <p:nvPr/>
          </p:nvSpPr>
          <p:spPr>
            <a:xfrm>
              <a:off x="21082" y="381"/>
              <a:ext cx="5572252" cy="1003681"/>
            </a:xfrm>
            <a:custGeom>
              <a:avLst/>
              <a:gdLst/>
              <a:ahLst/>
              <a:cxnLst/>
              <a:rect l="l" t="t" r="r" b="b"/>
              <a:pathLst>
                <a:path w="5572252" h="1003681">
                  <a:moveTo>
                    <a:pt x="8636" y="0"/>
                  </a:moveTo>
                  <a:lnTo>
                    <a:pt x="5572252" y="953643"/>
                  </a:lnTo>
                  <a:lnTo>
                    <a:pt x="5563616" y="1003681"/>
                  </a:lnTo>
                  <a:lnTo>
                    <a:pt x="0" y="50038"/>
                  </a:lnTo>
                  <a:close/>
                </a:path>
              </a:pathLst>
            </a:custGeom>
            <a:solidFill>
              <a:srgbClr val="A8A8A8"/>
            </a:solidFill>
          </p:spPr>
          <p:txBody>
            <a:bodyPr/>
            <a:lstStyle/>
            <a:p>
              <a:endParaRPr lang="en-GB"/>
            </a:p>
          </p:txBody>
        </p:sp>
      </p:grpSp>
      <p:grpSp>
        <p:nvGrpSpPr>
          <p:cNvPr id="37" name="Group 37"/>
          <p:cNvGrpSpPr/>
          <p:nvPr/>
        </p:nvGrpSpPr>
        <p:grpSpPr>
          <a:xfrm>
            <a:off x="4320026" y="5474358"/>
            <a:ext cx="4674839" cy="938283"/>
            <a:chOff x="0" y="0"/>
            <a:chExt cx="6233119" cy="1251044"/>
          </a:xfrm>
        </p:grpSpPr>
        <p:sp>
          <p:nvSpPr>
            <p:cNvPr id="38" name="Freeform 38"/>
            <p:cNvSpPr/>
            <p:nvPr/>
          </p:nvSpPr>
          <p:spPr>
            <a:xfrm>
              <a:off x="20574" y="508"/>
              <a:ext cx="6192012" cy="1250188"/>
            </a:xfrm>
            <a:custGeom>
              <a:avLst/>
              <a:gdLst/>
              <a:ahLst/>
              <a:cxnLst/>
              <a:rect l="l" t="t" r="r" b="b"/>
              <a:pathLst>
                <a:path w="6192012" h="1250188">
                  <a:moveTo>
                    <a:pt x="9652" y="0"/>
                  </a:moveTo>
                  <a:lnTo>
                    <a:pt x="6192012" y="1200277"/>
                  </a:lnTo>
                  <a:lnTo>
                    <a:pt x="6182360" y="1250188"/>
                  </a:lnTo>
                  <a:lnTo>
                    <a:pt x="0" y="49784"/>
                  </a:lnTo>
                  <a:close/>
                </a:path>
              </a:pathLst>
            </a:custGeom>
            <a:solidFill>
              <a:srgbClr val="A8A8A8"/>
            </a:solidFill>
          </p:spPr>
          <p:txBody>
            <a:bodyPr/>
            <a:lstStyle/>
            <a:p>
              <a:endParaRPr lang="en-GB"/>
            </a:p>
          </p:txBody>
        </p:sp>
      </p:grpSp>
      <p:grpSp>
        <p:nvGrpSpPr>
          <p:cNvPr id="39" name="Group 39"/>
          <p:cNvGrpSpPr/>
          <p:nvPr/>
        </p:nvGrpSpPr>
        <p:grpSpPr>
          <a:xfrm rot="-5400000">
            <a:off x="7643304" y="3669428"/>
            <a:ext cx="1687209" cy="38100"/>
            <a:chOff x="0" y="0"/>
            <a:chExt cx="2249612" cy="50800"/>
          </a:xfrm>
        </p:grpSpPr>
        <p:sp>
          <p:nvSpPr>
            <p:cNvPr id="40" name="Freeform 40"/>
            <p:cNvSpPr/>
            <p:nvPr/>
          </p:nvSpPr>
          <p:spPr>
            <a:xfrm>
              <a:off x="25400" y="0"/>
              <a:ext cx="2198751" cy="50800"/>
            </a:xfrm>
            <a:custGeom>
              <a:avLst/>
              <a:gdLst/>
              <a:ahLst/>
              <a:cxnLst/>
              <a:rect l="l" t="t" r="r" b="b"/>
              <a:pathLst>
                <a:path w="2198751" h="50800">
                  <a:moveTo>
                    <a:pt x="0" y="0"/>
                  </a:moveTo>
                  <a:lnTo>
                    <a:pt x="2198751" y="0"/>
                  </a:lnTo>
                  <a:lnTo>
                    <a:pt x="2198751" y="50800"/>
                  </a:lnTo>
                  <a:lnTo>
                    <a:pt x="0" y="50800"/>
                  </a:lnTo>
                  <a:close/>
                </a:path>
              </a:pathLst>
            </a:custGeom>
            <a:solidFill>
              <a:srgbClr val="A8A8A8"/>
            </a:solidFill>
          </p:spPr>
          <p:txBody>
            <a:bodyPr/>
            <a:lstStyle/>
            <a:p>
              <a:endParaRPr lang="en-GB"/>
            </a:p>
          </p:txBody>
        </p:sp>
      </p:grpSp>
      <p:grpSp>
        <p:nvGrpSpPr>
          <p:cNvPr id="41" name="Group 41"/>
          <p:cNvGrpSpPr/>
          <p:nvPr/>
        </p:nvGrpSpPr>
        <p:grpSpPr>
          <a:xfrm rot="-5400000">
            <a:off x="8855696" y="3649238"/>
            <a:ext cx="1646826" cy="38100"/>
            <a:chOff x="0" y="0"/>
            <a:chExt cx="2195768" cy="50800"/>
          </a:xfrm>
        </p:grpSpPr>
        <p:sp>
          <p:nvSpPr>
            <p:cNvPr id="42" name="Freeform 42"/>
            <p:cNvSpPr/>
            <p:nvPr/>
          </p:nvSpPr>
          <p:spPr>
            <a:xfrm>
              <a:off x="25400" y="0"/>
              <a:ext cx="2145030" cy="50800"/>
            </a:xfrm>
            <a:custGeom>
              <a:avLst/>
              <a:gdLst/>
              <a:ahLst/>
              <a:cxnLst/>
              <a:rect l="l" t="t" r="r" b="b"/>
              <a:pathLst>
                <a:path w="2145030" h="50800">
                  <a:moveTo>
                    <a:pt x="0" y="0"/>
                  </a:moveTo>
                  <a:lnTo>
                    <a:pt x="2145030" y="0"/>
                  </a:lnTo>
                  <a:lnTo>
                    <a:pt x="2145030" y="50800"/>
                  </a:lnTo>
                  <a:lnTo>
                    <a:pt x="0" y="50800"/>
                  </a:lnTo>
                  <a:close/>
                </a:path>
              </a:pathLst>
            </a:custGeom>
            <a:solidFill>
              <a:srgbClr val="A8A8A8"/>
            </a:solidFill>
          </p:spPr>
          <p:txBody>
            <a:bodyPr/>
            <a:lstStyle/>
            <a:p>
              <a:endParaRPr lang="en-GB"/>
            </a:p>
          </p:txBody>
        </p:sp>
      </p:grpSp>
      <p:grpSp>
        <p:nvGrpSpPr>
          <p:cNvPr id="43" name="Group 43"/>
          <p:cNvGrpSpPr/>
          <p:nvPr/>
        </p:nvGrpSpPr>
        <p:grpSpPr>
          <a:xfrm>
            <a:off x="9621961" y="4270093"/>
            <a:ext cx="4454294" cy="1242368"/>
            <a:chOff x="0" y="0"/>
            <a:chExt cx="5939059" cy="1656491"/>
          </a:xfrm>
        </p:grpSpPr>
        <p:sp>
          <p:nvSpPr>
            <p:cNvPr id="44" name="Freeform 44"/>
            <p:cNvSpPr/>
            <p:nvPr/>
          </p:nvSpPr>
          <p:spPr>
            <a:xfrm>
              <a:off x="18669" y="889"/>
              <a:ext cx="5901690" cy="1654683"/>
            </a:xfrm>
            <a:custGeom>
              <a:avLst/>
              <a:gdLst/>
              <a:ahLst/>
              <a:cxnLst/>
              <a:rect l="l" t="t" r="r" b="b"/>
              <a:pathLst>
                <a:path w="5901690" h="1654683">
                  <a:moveTo>
                    <a:pt x="0" y="1605661"/>
                  </a:moveTo>
                  <a:lnTo>
                    <a:pt x="5888355" y="0"/>
                  </a:lnTo>
                  <a:lnTo>
                    <a:pt x="5901690" y="49022"/>
                  </a:lnTo>
                  <a:lnTo>
                    <a:pt x="13462" y="1654683"/>
                  </a:lnTo>
                  <a:close/>
                </a:path>
              </a:pathLst>
            </a:custGeom>
            <a:solidFill>
              <a:srgbClr val="A8A8A8"/>
            </a:solidFill>
          </p:spPr>
          <p:txBody>
            <a:bodyPr/>
            <a:lstStyle/>
            <a:p>
              <a:endParaRPr lang="en-GB"/>
            </a:p>
          </p:txBody>
        </p:sp>
      </p:grpSp>
      <p:grpSp>
        <p:nvGrpSpPr>
          <p:cNvPr id="45" name="Group 45"/>
          <p:cNvGrpSpPr/>
          <p:nvPr/>
        </p:nvGrpSpPr>
        <p:grpSpPr>
          <a:xfrm>
            <a:off x="9890505" y="5729203"/>
            <a:ext cx="3995709" cy="561500"/>
            <a:chOff x="0" y="0"/>
            <a:chExt cx="5327612" cy="748667"/>
          </a:xfrm>
        </p:grpSpPr>
        <p:sp>
          <p:nvSpPr>
            <p:cNvPr id="46" name="Freeform 46"/>
            <p:cNvSpPr/>
            <p:nvPr/>
          </p:nvSpPr>
          <p:spPr>
            <a:xfrm>
              <a:off x="22098" y="254"/>
              <a:ext cx="5283454" cy="748157"/>
            </a:xfrm>
            <a:custGeom>
              <a:avLst/>
              <a:gdLst/>
              <a:ahLst/>
              <a:cxnLst/>
              <a:rect l="l" t="t" r="r" b="b"/>
              <a:pathLst>
                <a:path w="5283454" h="748157">
                  <a:moveTo>
                    <a:pt x="5283454" y="50292"/>
                  </a:moveTo>
                  <a:lnTo>
                    <a:pt x="6604" y="748157"/>
                  </a:lnTo>
                  <a:lnTo>
                    <a:pt x="0" y="697738"/>
                  </a:lnTo>
                  <a:lnTo>
                    <a:pt x="5276723" y="0"/>
                  </a:lnTo>
                  <a:close/>
                </a:path>
              </a:pathLst>
            </a:custGeom>
            <a:solidFill>
              <a:srgbClr val="A8A8A8"/>
            </a:solidFill>
          </p:spPr>
          <p:txBody>
            <a:bodyPr/>
            <a:lstStyle/>
            <a:p>
              <a:endParaRPr lang="en-GB"/>
            </a:p>
          </p:txBody>
        </p:sp>
      </p:grpSp>
      <p:grpSp>
        <p:nvGrpSpPr>
          <p:cNvPr id="47" name="Group 47"/>
          <p:cNvGrpSpPr/>
          <p:nvPr/>
        </p:nvGrpSpPr>
        <p:grpSpPr>
          <a:xfrm>
            <a:off x="8979019" y="6541457"/>
            <a:ext cx="5340014" cy="947399"/>
            <a:chOff x="0" y="0"/>
            <a:chExt cx="7120019" cy="1263199"/>
          </a:xfrm>
        </p:grpSpPr>
        <p:sp>
          <p:nvSpPr>
            <p:cNvPr id="48" name="Freeform 48"/>
            <p:cNvSpPr/>
            <p:nvPr/>
          </p:nvSpPr>
          <p:spPr>
            <a:xfrm>
              <a:off x="21082" y="381"/>
              <a:ext cx="7077837" cy="1262507"/>
            </a:xfrm>
            <a:custGeom>
              <a:avLst/>
              <a:gdLst/>
              <a:ahLst/>
              <a:cxnLst/>
              <a:rect l="l" t="t" r="r" b="b"/>
              <a:pathLst>
                <a:path w="7077837" h="1262507">
                  <a:moveTo>
                    <a:pt x="7069201" y="1262507"/>
                  </a:moveTo>
                  <a:lnTo>
                    <a:pt x="0" y="50038"/>
                  </a:lnTo>
                  <a:lnTo>
                    <a:pt x="8636" y="0"/>
                  </a:lnTo>
                  <a:lnTo>
                    <a:pt x="7077837" y="1212342"/>
                  </a:lnTo>
                  <a:close/>
                </a:path>
              </a:pathLst>
            </a:custGeom>
            <a:solidFill>
              <a:srgbClr val="A8A8A8"/>
            </a:solidFill>
          </p:spPr>
          <p:txBody>
            <a:bodyPr/>
            <a:lstStyle/>
            <a:p>
              <a:endParaRPr lang="en-GB"/>
            </a:p>
          </p:txBody>
        </p:sp>
      </p:grpSp>
      <p:grpSp>
        <p:nvGrpSpPr>
          <p:cNvPr id="49" name="Group 49"/>
          <p:cNvGrpSpPr/>
          <p:nvPr/>
        </p:nvGrpSpPr>
        <p:grpSpPr>
          <a:xfrm>
            <a:off x="4054522" y="6568583"/>
            <a:ext cx="4699208" cy="572195"/>
            <a:chOff x="0" y="0"/>
            <a:chExt cx="6265611" cy="762927"/>
          </a:xfrm>
        </p:grpSpPr>
        <p:sp>
          <p:nvSpPr>
            <p:cNvPr id="50" name="Freeform 50"/>
            <p:cNvSpPr/>
            <p:nvPr/>
          </p:nvSpPr>
          <p:spPr>
            <a:xfrm>
              <a:off x="22479" y="127"/>
              <a:ext cx="6220714" cy="762635"/>
            </a:xfrm>
            <a:custGeom>
              <a:avLst/>
              <a:gdLst/>
              <a:ahLst/>
              <a:cxnLst/>
              <a:rect l="l" t="t" r="r" b="b"/>
              <a:pathLst>
                <a:path w="6220714" h="762635">
                  <a:moveTo>
                    <a:pt x="0" y="712216"/>
                  </a:moveTo>
                  <a:lnTo>
                    <a:pt x="6214872" y="0"/>
                  </a:lnTo>
                  <a:lnTo>
                    <a:pt x="6220714" y="50419"/>
                  </a:lnTo>
                  <a:lnTo>
                    <a:pt x="5842" y="762635"/>
                  </a:lnTo>
                  <a:close/>
                </a:path>
              </a:pathLst>
            </a:custGeom>
            <a:solidFill>
              <a:srgbClr val="A8A8A8"/>
            </a:solidFill>
          </p:spPr>
          <p:txBody>
            <a:bodyPr/>
            <a:lstStyle/>
            <a:p>
              <a:endParaRPr lang="en-GB"/>
            </a:p>
          </p:txBody>
        </p:sp>
      </p:grpSp>
      <p:grpSp>
        <p:nvGrpSpPr>
          <p:cNvPr id="51" name="Group 51"/>
          <p:cNvGrpSpPr/>
          <p:nvPr/>
        </p:nvGrpSpPr>
        <p:grpSpPr>
          <a:xfrm>
            <a:off x="8937714" y="3978998"/>
            <a:ext cx="38100" cy="4335608"/>
            <a:chOff x="0" y="0"/>
            <a:chExt cx="50800" cy="5780811"/>
          </a:xfrm>
        </p:grpSpPr>
        <p:sp>
          <p:nvSpPr>
            <p:cNvPr id="52" name="Freeform 52"/>
            <p:cNvSpPr/>
            <p:nvPr/>
          </p:nvSpPr>
          <p:spPr>
            <a:xfrm>
              <a:off x="0" y="25400"/>
              <a:ext cx="50800" cy="5729986"/>
            </a:xfrm>
            <a:custGeom>
              <a:avLst/>
              <a:gdLst/>
              <a:ahLst/>
              <a:cxnLst/>
              <a:rect l="l" t="t" r="r" b="b"/>
              <a:pathLst>
                <a:path w="50800" h="5729986">
                  <a:moveTo>
                    <a:pt x="0" y="5729986"/>
                  </a:moveTo>
                  <a:lnTo>
                    <a:pt x="0" y="0"/>
                  </a:lnTo>
                  <a:lnTo>
                    <a:pt x="50800" y="0"/>
                  </a:lnTo>
                  <a:lnTo>
                    <a:pt x="50800" y="5729986"/>
                  </a:lnTo>
                  <a:close/>
                </a:path>
              </a:pathLst>
            </a:custGeom>
            <a:solidFill>
              <a:srgbClr val="A8A8A8"/>
            </a:solidFill>
          </p:spPr>
          <p:txBody>
            <a:bodyPr/>
            <a:lstStyle/>
            <a:p>
              <a:endParaRPr lang="en-GB"/>
            </a:p>
          </p:txBody>
        </p:sp>
      </p:grpSp>
      <p:grpSp>
        <p:nvGrpSpPr>
          <p:cNvPr id="53" name="Group 53"/>
          <p:cNvGrpSpPr/>
          <p:nvPr/>
        </p:nvGrpSpPr>
        <p:grpSpPr>
          <a:xfrm>
            <a:off x="9621959" y="6698469"/>
            <a:ext cx="3871163" cy="2122635"/>
            <a:chOff x="0" y="0"/>
            <a:chExt cx="5161551" cy="2830180"/>
          </a:xfrm>
        </p:grpSpPr>
        <p:sp>
          <p:nvSpPr>
            <p:cNvPr id="54" name="Freeform 54"/>
            <p:cNvSpPr/>
            <p:nvPr/>
          </p:nvSpPr>
          <p:spPr>
            <a:xfrm>
              <a:off x="13208" y="3048"/>
              <a:ext cx="5135118" cy="2824099"/>
            </a:xfrm>
            <a:custGeom>
              <a:avLst/>
              <a:gdLst/>
              <a:ahLst/>
              <a:cxnLst/>
              <a:rect l="l" t="t" r="r" b="b"/>
              <a:pathLst>
                <a:path w="5135118" h="2824099">
                  <a:moveTo>
                    <a:pt x="5110861" y="2824099"/>
                  </a:moveTo>
                  <a:lnTo>
                    <a:pt x="0" y="44704"/>
                  </a:lnTo>
                  <a:lnTo>
                    <a:pt x="24384" y="0"/>
                  </a:lnTo>
                  <a:lnTo>
                    <a:pt x="5135118" y="2779395"/>
                  </a:lnTo>
                  <a:close/>
                </a:path>
              </a:pathLst>
            </a:custGeom>
            <a:solidFill>
              <a:srgbClr val="A8A8A8"/>
            </a:solidFill>
          </p:spPr>
          <p:txBody>
            <a:bodyPr/>
            <a:lstStyle/>
            <a:p>
              <a:endParaRPr lang="en-GB"/>
            </a:p>
          </p:txBody>
        </p:sp>
      </p:grpSp>
      <p:sp>
        <p:nvSpPr>
          <p:cNvPr id="55" name="Freeform 55"/>
          <p:cNvSpPr/>
          <p:nvPr/>
        </p:nvSpPr>
        <p:spPr>
          <a:xfrm>
            <a:off x="7360827" y="3496439"/>
            <a:ext cx="3359826" cy="3359826"/>
          </a:xfrm>
          <a:custGeom>
            <a:avLst/>
            <a:gdLst/>
            <a:ahLst/>
            <a:cxnLst/>
            <a:rect l="l" t="t" r="r" b="b"/>
            <a:pathLst>
              <a:path w="3359826" h="3359826">
                <a:moveTo>
                  <a:pt x="0" y="0"/>
                </a:moveTo>
                <a:lnTo>
                  <a:pt x="3359826" y="0"/>
                </a:lnTo>
                <a:lnTo>
                  <a:pt x="3359826" y="3359826"/>
                </a:lnTo>
                <a:lnTo>
                  <a:pt x="0" y="33598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56" name="Group 56"/>
          <p:cNvGrpSpPr/>
          <p:nvPr/>
        </p:nvGrpSpPr>
        <p:grpSpPr>
          <a:xfrm>
            <a:off x="13867164" y="5224855"/>
            <a:ext cx="4238274" cy="1046798"/>
            <a:chOff x="0" y="0"/>
            <a:chExt cx="5651032" cy="1395731"/>
          </a:xfrm>
        </p:grpSpPr>
        <p:sp>
          <p:nvSpPr>
            <p:cNvPr id="57" name="Freeform 57"/>
            <p:cNvSpPr/>
            <p:nvPr/>
          </p:nvSpPr>
          <p:spPr>
            <a:xfrm>
              <a:off x="0" y="0"/>
              <a:ext cx="5650992" cy="1395730"/>
            </a:xfrm>
            <a:custGeom>
              <a:avLst/>
              <a:gdLst/>
              <a:ahLst/>
              <a:cxnLst/>
              <a:rect l="l" t="t" r="r" b="b"/>
              <a:pathLst>
                <a:path w="5650992" h="1395730">
                  <a:moveTo>
                    <a:pt x="27686" y="0"/>
                  </a:moveTo>
                  <a:lnTo>
                    <a:pt x="5623306" y="0"/>
                  </a:lnTo>
                  <a:cubicBezTo>
                    <a:pt x="5630672" y="0"/>
                    <a:pt x="5637657" y="2921"/>
                    <a:pt x="5642864" y="8128"/>
                  </a:cubicBezTo>
                  <a:cubicBezTo>
                    <a:pt x="5648071" y="13335"/>
                    <a:pt x="5650992" y="20447"/>
                    <a:pt x="5650992" y="27686"/>
                  </a:cubicBezTo>
                  <a:lnTo>
                    <a:pt x="5650992" y="1368044"/>
                  </a:lnTo>
                  <a:cubicBezTo>
                    <a:pt x="5650992" y="1383411"/>
                    <a:pt x="5638546" y="1395730"/>
                    <a:pt x="5623306" y="1395730"/>
                  </a:cubicBezTo>
                  <a:lnTo>
                    <a:pt x="27686" y="1395730"/>
                  </a:lnTo>
                  <a:cubicBezTo>
                    <a:pt x="20320" y="1395730"/>
                    <a:pt x="13335" y="1392809"/>
                    <a:pt x="8128" y="1387602"/>
                  </a:cubicBezTo>
                  <a:cubicBezTo>
                    <a:pt x="2921" y="1382395"/>
                    <a:pt x="0" y="1375283"/>
                    <a:pt x="0" y="1368044"/>
                  </a:cubicBezTo>
                  <a:lnTo>
                    <a:pt x="0" y="27686"/>
                  </a:lnTo>
                  <a:cubicBezTo>
                    <a:pt x="0" y="20447"/>
                    <a:pt x="2921" y="13335"/>
                    <a:pt x="8128" y="8128"/>
                  </a:cubicBezTo>
                  <a:cubicBezTo>
                    <a:pt x="13335" y="2921"/>
                    <a:pt x="20447" y="0"/>
                    <a:pt x="27686" y="0"/>
                  </a:cubicBezTo>
                  <a:close/>
                </a:path>
              </a:pathLst>
            </a:custGeom>
            <a:solidFill>
              <a:srgbClr val="37C9EF"/>
            </a:solidFill>
          </p:spPr>
          <p:txBody>
            <a:bodyPr/>
            <a:lstStyle/>
            <a:p>
              <a:endParaRPr lang="en-GB"/>
            </a:p>
          </p:txBody>
        </p:sp>
      </p:grpSp>
      <p:grpSp>
        <p:nvGrpSpPr>
          <p:cNvPr id="58" name="Group 58"/>
          <p:cNvGrpSpPr/>
          <p:nvPr/>
        </p:nvGrpSpPr>
        <p:grpSpPr>
          <a:xfrm>
            <a:off x="13867164" y="4935533"/>
            <a:ext cx="4238274" cy="1336120"/>
            <a:chOff x="0" y="0"/>
            <a:chExt cx="5651032" cy="1781493"/>
          </a:xfrm>
        </p:grpSpPr>
        <p:sp>
          <p:nvSpPr>
            <p:cNvPr id="59" name="Freeform 59"/>
            <p:cNvSpPr/>
            <p:nvPr/>
          </p:nvSpPr>
          <p:spPr>
            <a:xfrm>
              <a:off x="0" y="0"/>
              <a:ext cx="5651032" cy="1781493"/>
            </a:xfrm>
            <a:custGeom>
              <a:avLst/>
              <a:gdLst/>
              <a:ahLst/>
              <a:cxnLst/>
              <a:rect l="l" t="t" r="r" b="b"/>
              <a:pathLst>
                <a:path w="5651032" h="1781493">
                  <a:moveTo>
                    <a:pt x="0" y="0"/>
                  </a:moveTo>
                  <a:lnTo>
                    <a:pt x="5651032" y="0"/>
                  </a:lnTo>
                  <a:lnTo>
                    <a:pt x="5651032" y="1781493"/>
                  </a:lnTo>
                  <a:lnTo>
                    <a:pt x="0" y="1781493"/>
                  </a:lnTo>
                  <a:close/>
                </a:path>
              </a:pathLst>
            </a:custGeom>
            <a:solidFill>
              <a:srgbClr val="000000">
                <a:alpha val="0"/>
              </a:srgbClr>
            </a:solidFill>
          </p:spPr>
          <p:txBody>
            <a:bodyPr/>
            <a:lstStyle/>
            <a:p>
              <a:endParaRPr lang="en-GB"/>
            </a:p>
          </p:txBody>
        </p:sp>
        <p:sp>
          <p:nvSpPr>
            <p:cNvPr id="60" name="TextBox 60"/>
            <p:cNvSpPr txBox="1"/>
            <p:nvPr/>
          </p:nvSpPr>
          <p:spPr>
            <a:xfrm>
              <a:off x="0" y="-76200"/>
              <a:ext cx="5651032" cy="1857693"/>
            </a:xfrm>
            <a:prstGeom prst="rect">
              <a:avLst/>
            </a:prstGeom>
          </p:spPr>
          <p:txBody>
            <a:bodyPr lIns="0" tIns="0" rIns="0" bIns="0" rtlCol="0" anchor="ctr"/>
            <a:lstStyle/>
            <a:p>
              <a:pPr algn="ctr">
                <a:lnSpc>
                  <a:spcPts val="3600"/>
                </a:lnSpc>
              </a:pPr>
              <a:r>
                <a:rPr lang="en-US" sz="2400" spc="120">
                  <a:solidFill>
                    <a:srgbClr val="000000"/>
                  </a:solidFill>
                  <a:latin typeface="Tahoma"/>
                  <a:ea typeface="Tahoma"/>
                  <a:cs typeface="Tahoma"/>
                  <a:sym typeface="Tahoma"/>
                </a:rPr>
                <a:t>Checking out company websites</a:t>
              </a:r>
            </a:p>
          </p:txBody>
        </p:sp>
      </p:grpSp>
      <p:grpSp>
        <p:nvGrpSpPr>
          <p:cNvPr id="61" name="Group 61"/>
          <p:cNvGrpSpPr/>
          <p:nvPr/>
        </p:nvGrpSpPr>
        <p:grpSpPr>
          <a:xfrm>
            <a:off x="294315" y="6587634"/>
            <a:ext cx="3779256" cy="1068189"/>
            <a:chOff x="0" y="0"/>
            <a:chExt cx="5039008" cy="1424252"/>
          </a:xfrm>
        </p:grpSpPr>
        <p:sp>
          <p:nvSpPr>
            <p:cNvPr id="62" name="Freeform 62"/>
            <p:cNvSpPr/>
            <p:nvPr/>
          </p:nvSpPr>
          <p:spPr>
            <a:xfrm>
              <a:off x="0" y="0"/>
              <a:ext cx="5038979" cy="1424305"/>
            </a:xfrm>
            <a:custGeom>
              <a:avLst/>
              <a:gdLst/>
              <a:ahLst/>
              <a:cxnLst/>
              <a:rect l="l" t="t" r="r" b="b"/>
              <a:pathLst>
                <a:path w="5038979" h="1424305">
                  <a:moveTo>
                    <a:pt x="31115" y="0"/>
                  </a:moveTo>
                  <a:lnTo>
                    <a:pt x="5007864" y="0"/>
                  </a:lnTo>
                  <a:cubicBezTo>
                    <a:pt x="5016119" y="0"/>
                    <a:pt x="5023993" y="3302"/>
                    <a:pt x="5029835" y="9144"/>
                  </a:cubicBezTo>
                  <a:cubicBezTo>
                    <a:pt x="5035677" y="14986"/>
                    <a:pt x="5038979" y="22860"/>
                    <a:pt x="5038979" y="31115"/>
                  </a:cubicBezTo>
                  <a:lnTo>
                    <a:pt x="5038979" y="1393190"/>
                  </a:lnTo>
                  <a:cubicBezTo>
                    <a:pt x="5038979" y="1410335"/>
                    <a:pt x="5025009" y="1424305"/>
                    <a:pt x="5007864" y="1424305"/>
                  </a:cubicBezTo>
                  <a:lnTo>
                    <a:pt x="31115" y="1424305"/>
                  </a:lnTo>
                  <a:cubicBezTo>
                    <a:pt x="13970" y="1424305"/>
                    <a:pt x="0" y="1410335"/>
                    <a:pt x="0" y="1393190"/>
                  </a:cubicBezTo>
                  <a:lnTo>
                    <a:pt x="0" y="31115"/>
                  </a:lnTo>
                  <a:cubicBezTo>
                    <a:pt x="0" y="13970"/>
                    <a:pt x="13970" y="0"/>
                    <a:pt x="31115" y="0"/>
                  </a:cubicBezTo>
                  <a:close/>
                </a:path>
              </a:pathLst>
            </a:custGeom>
            <a:solidFill>
              <a:srgbClr val="8CD7E7"/>
            </a:solidFill>
          </p:spPr>
          <p:txBody>
            <a:bodyPr/>
            <a:lstStyle/>
            <a:p>
              <a:endParaRPr lang="en-GB"/>
            </a:p>
          </p:txBody>
        </p:sp>
      </p:grpSp>
      <p:grpSp>
        <p:nvGrpSpPr>
          <p:cNvPr id="63" name="Group 63"/>
          <p:cNvGrpSpPr/>
          <p:nvPr/>
        </p:nvGrpSpPr>
        <p:grpSpPr>
          <a:xfrm>
            <a:off x="294315" y="6298312"/>
            <a:ext cx="3779256" cy="1357511"/>
            <a:chOff x="0" y="0"/>
            <a:chExt cx="5039008" cy="1810014"/>
          </a:xfrm>
        </p:grpSpPr>
        <p:sp>
          <p:nvSpPr>
            <p:cNvPr id="64" name="Freeform 64"/>
            <p:cNvSpPr/>
            <p:nvPr/>
          </p:nvSpPr>
          <p:spPr>
            <a:xfrm>
              <a:off x="0" y="0"/>
              <a:ext cx="5039008" cy="1810014"/>
            </a:xfrm>
            <a:custGeom>
              <a:avLst/>
              <a:gdLst/>
              <a:ahLst/>
              <a:cxnLst/>
              <a:rect l="l" t="t" r="r" b="b"/>
              <a:pathLst>
                <a:path w="5039008" h="1810014">
                  <a:moveTo>
                    <a:pt x="0" y="0"/>
                  </a:moveTo>
                  <a:lnTo>
                    <a:pt x="5039008" y="0"/>
                  </a:lnTo>
                  <a:lnTo>
                    <a:pt x="5039008" y="1810014"/>
                  </a:lnTo>
                  <a:lnTo>
                    <a:pt x="0" y="1810014"/>
                  </a:lnTo>
                  <a:close/>
                </a:path>
              </a:pathLst>
            </a:custGeom>
            <a:solidFill>
              <a:srgbClr val="000000">
                <a:alpha val="0"/>
              </a:srgbClr>
            </a:solidFill>
          </p:spPr>
          <p:txBody>
            <a:bodyPr/>
            <a:lstStyle/>
            <a:p>
              <a:endParaRPr lang="en-GB"/>
            </a:p>
          </p:txBody>
        </p:sp>
        <p:sp>
          <p:nvSpPr>
            <p:cNvPr id="65" name="TextBox 65"/>
            <p:cNvSpPr txBox="1"/>
            <p:nvPr/>
          </p:nvSpPr>
          <p:spPr>
            <a:xfrm>
              <a:off x="0" y="-76200"/>
              <a:ext cx="5039008" cy="1886214"/>
            </a:xfrm>
            <a:prstGeom prst="rect">
              <a:avLst/>
            </a:prstGeom>
          </p:spPr>
          <p:txBody>
            <a:bodyPr lIns="0" tIns="0" rIns="0" bIns="0" rtlCol="0" anchor="ctr"/>
            <a:lstStyle/>
            <a:p>
              <a:pPr algn="ctr">
                <a:lnSpc>
                  <a:spcPts val="3749"/>
                </a:lnSpc>
              </a:pPr>
              <a:r>
                <a:rPr lang="en-US" sz="2499" spc="125">
                  <a:solidFill>
                    <a:srgbClr val="000000"/>
                  </a:solidFill>
                  <a:latin typeface="Tahoma"/>
                  <a:ea typeface="Tahoma"/>
                  <a:cs typeface="Tahoma"/>
                  <a:sym typeface="Tahoma"/>
                </a:rPr>
                <a:t>Talking to your course tutor</a:t>
              </a:r>
            </a:p>
          </p:txBody>
        </p:sp>
      </p:grpSp>
      <p:grpSp>
        <p:nvGrpSpPr>
          <p:cNvPr id="66" name="Group 66"/>
          <p:cNvGrpSpPr/>
          <p:nvPr/>
        </p:nvGrpSpPr>
        <p:grpSpPr>
          <a:xfrm>
            <a:off x="14326182" y="6856266"/>
            <a:ext cx="3779256" cy="1068189"/>
            <a:chOff x="0" y="0"/>
            <a:chExt cx="5039008" cy="1424252"/>
          </a:xfrm>
        </p:grpSpPr>
        <p:sp>
          <p:nvSpPr>
            <p:cNvPr id="67" name="Freeform 67"/>
            <p:cNvSpPr/>
            <p:nvPr/>
          </p:nvSpPr>
          <p:spPr>
            <a:xfrm>
              <a:off x="0" y="0"/>
              <a:ext cx="5038979" cy="1424305"/>
            </a:xfrm>
            <a:custGeom>
              <a:avLst/>
              <a:gdLst/>
              <a:ahLst/>
              <a:cxnLst/>
              <a:rect l="l" t="t" r="r" b="b"/>
              <a:pathLst>
                <a:path w="5038979" h="1424305">
                  <a:moveTo>
                    <a:pt x="31115" y="0"/>
                  </a:moveTo>
                  <a:lnTo>
                    <a:pt x="5007864" y="0"/>
                  </a:lnTo>
                  <a:cubicBezTo>
                    <a:pt x="5016119" y="0"/>
                    <a:pt x="5023993" y="3302"/>
                    <a:pt x="5029835" y="9144"/>
                  </a:cubicBezTo>
                  <a:cubicBezTo>
                    <a:pt x="5035677" y="14986"/>
                    <a:pt x="5038979" y="22860"/>
                    <a:pt x="5038979" y="31115"/>
                  </a:cubicBezTo>
                  <a:lnTo>
                    <a:pt x="5038979" y="1393190"/>
                  </a:lnTo>
                  <a:cubicBezTo>
                    <a:pt x="5038979" y="1410335"/>
                    <a:pt x="5025009" y="1424305"/>
                    <a:pt x="5007864" y="1424305"/>
                  </a:cubicBezTo>
                  <a:lnTo>
                    <a:pt x="31115" y="1424305"/>
                  </a:lnTo>
                  <a:cubicBezTo>
                    <a:pt x="13970" y="1424305"/>
                    <a:pt x="0" y="1410335"/>
                    <a:pt x="0" y="1393190"/>
                  </a:cubicBezTo>
                  <a:lnTo>
                    <a:pt x="0" y="31115"/>
                  </a:lnTo>
                  <a:cubicBezTo>
                    <a:pt x="0" y="13970"/>
                    <a:pt x="13970" y="0"/>
                    <a:pt x="31115" y="0"/>
                  </a:cubicBezTo>
                  <a:close/>
                </a:path>
              </a:pathLst>
            </a:custGeom>
            <a:solidFill>
              <a:srgbClr val="8CD7E7"/>
            </a:solidFill>
          </p:spPr>
          <p:txBody>
            <a:bodyPr/>
            <a:lstStyle/>
            <a:p>
              <a:endParaRPr lang="en-GB"/>
            </a:p>
          </p:txBody>
        </p:sp>
      </p:grpSp>
      <p:grpSp>
        <p:nvGrpSpPr>
          <p:cNvPr id="68" name="Group 68"/>
          <p:cNvGrpSpPr/>
          <p:nvPr/>
        </p:nvGrpSpPr>
        <p:grpSpPr>
          <a:xfrm>
            <a:off x="14326182" y="6566944"/>
            <a:ext cx="3779256" cy="1357511"/>
            <a:chOff x="0" y="0"/>
            <a:chExt cx="5039008" cy="1810014"/>
          </a:xfrm>
        </p:grpSpPr>
        <p:sp>
          <p:nvSpPr>
            <p:cNvPr id="69" name="Freeform 69"/>
            <p:cNvSpPr/>
            <p:nvPr/>
          </p:nvSpPr>
          <p:spPr>
            <a:xfrm>
              <a:off x="0" y="0"/>
              <a:ext cx="5039008" cy="1810014"/>
            </a:xfrm>
            <a:custGeom>
              <a:avLst/>
              <a:gdLst/>
              <a:ahLst/>
              <a:cxnLst/>
              <a:rect l="l" t="t" r="r" b="b"/>
              <a:pathLst>
                <a:path w="5039008" h="1810014">
                  <a:moveTo>
                    <a:pt x="0" y="0"/>
                  </a:moveTo>
                  <a:lnTo>
                    <a:pt x="5039008" y="0"/>
                  </a:lnTo>
                  <a:lnTo>
                    <a:pt x="5039008" y="1810014"/>
                  </a:lnTo>
                  <a:lnTo>
                    <a:pt x="0" y="1810014"/>
                  </a:lnTo>
                  <a:close/>
                </a:path>
              </a:pathLst>
            </a:custGeom>
            <a:solidFill>
              <a:srgbClr val="000000">
                <a:alpha val="0"/>
              </a:srgbClr>
            </a:solidFill>
          </p:spPr>
          <p:txBody>
            <a:bodyPr/>
            <a:lstStyle/>
            <a:p>
              <a:endParaRPr lang="en-GB"/>
            </a:p>
          </p:txBody>
        </p:sp>
        <p:sp>
          <p:nvSpPr>
            <p:cNvPr id="70" name="TextBox 70"/>
            <p:cNvSpPr txBox="1"/>
            <p:nvPr/>
          </p:nvSpPr>
          <p:spPr>
            <a:xfrm>
              <a:off x="0" y="-76200"/>
              <a:ext cx="5039008" cy="1886214"/>
            </a:xfrm>
            <a:prstGeom prst="rect">
              <a:avLst/>
            </a:prstGeom>
          </p:spPr>
          <p:txBody>
            <a:bodyPr lIns="0" tIns="0" rIns="0" bIns="0" rtlCol="0" anchor="ctr"/>
            <a:lstStyle/>
            <a:p>
              <a:pPr algn="ctr">
                <a:lnSpc>
                  <a:spcPts val="3749"/>
                </a:lnSpc>
              </a:pPr>
              <a:r>
                <a:rPr lang="en-US" sz="2499" spc="125">
                  <a:solidFill>
                    <a:srgbClr val="000000"/>
                  </a:solidFill>
                  <a:latin typeface="Tahoma"/>
                  <a:ea typeface="Tahoma"/>
                  <a:cs typeface="Tahoma"/>
                  <a:sym typeface="Tahoma"/>
                </a:rPr>
                <a:t>Reading industry journals</a:t>
              </a:r>
            </a:p>
          </p:txBody>
        </p:sp>
      </p:grpSp>
      <p:sp>
        <p:nvSpPr>
          <p:cNvPr id="71" name="Freeform 71"/>
          <p:cNvSpPr/>
          <p:nvPr/>
        </p:nvSpPr>
        <p:spPr>
          <a:xfrm>
            <a:off x="8003848" y="3826599"/>
            <a:ext cx="2170304" cy="2700222"/>
          </a:xfrm>
          <a:custGeom>
            <a:avLst/>
            <a:gdLst/>
            <a:ahLst/>
            <a:cxnLst/>
            <a:rect l="l" t="t" r="r" b="b"/>
            <a:pathLst>
              <a:path w="2170304" h="2700222">
                <a:moveTo>
                  <a:pt x="0" y="0"/>
                </a:moveTo>
                <a:lnTo>
                  <a:pt x="2170304" y="0"/>
                </a:lnTo>
                <a:lnTo>
                  <a:pt x="2170304" y="2700222"/>
                </a:lnTo>
                <a:lnTo>
                  <a:pt x="0" y="2700222"/>
                </a:lnTo>
                <a:lnTo>
                  <a:pt x="0" y="0"/>
                </a:lnTo>
                <a:close/>
              </a:path>
            </a:pathLst>
          </a:custGeom>
          <a:blipFill>
            <a:blip r:embed="rId4">
              <a:extLst>
                <a:ext uri="{96DAC541-7B7A-43D3-8B79-37D633B846F1}">
                  <asvg:svgBlip xmlns:asvg="http://schemas.microsoft.com/office/drawing/2016/SVG/main" r:embed="rId5"/>
                </a:ext>
              </a:extLst>
            </a:blip>
            <a:stretch>
              <a:fillRect t="-234" b="-234"/>
            </a:stretch>
          </a:blipFill>
        </p:spPr>
        <p:txBody>
          <a:bodyPr/>
          <a:lstStyle/>
          <a:p>
            <a:endParaRPr lang="en-GB"/>
          </a:p>
        </p:txBody>
      </p:sp>
      <p:sp>
        <p:nvSpPr>
          <p:cNvPr id="72" name="TextBox 72"/>
          <p:cNvSpPr txBox="1"/>
          <p:nvPr/>
        </p:nvSpPr>
        <p:spPr>
          <a:xfrm>
            <a:off x="0" y="86706"/>
            <a:ext cx="18288000" cy="843327"/>
          </a:xfrm>
          <a:prstGeom prst="rect">
            <a:avLst/>
          </a:prstGeom>
        </p:spPr>
        <p:txBody>
          <a:bodyPr lIns="0" tIns="0" rIns="0" bIns="0" rtlCol="0" anchor="t">
            <a:spAutoFit/>
          </a:bodyPr>
          <a:lstStyle/>
          <a:p>
            <a:pPr algn="ctr">
              <a:lnSpc>
                <a:spcPts val="6811"/>
              </a:lnSpc>
            </a:pPr>
            <a:r>
              <a:rPr lang="en-US" sz="5198" b="1" spc="154">
                <a:solidFill>
                  <a:srgbClr val="191919"/>
                </a:solidFill>
                <a:latin typeface="Tahoma Bold"/>
                <a:ea typeface="Tahoma Bold"/>
                <a:cs typeface="Tahoma Bold"/>
                <a:sym typeface="Tahoma Bold"/>
              </a:rPr>
              <a:t>Develop your understanding of the sector</a:t>
            </a:r>
          </a:p>
        </p:txBody>
      </p:sp>
      <p:grpSp>
        <p:nvGrpSpPr>
          <p:cNvPr id="73" name="Group 73"/>
          <p:cNvGrpSpPr/>
          <p:nvPr/>
        </p:nvGrpSpPr>
        <p:grpSpPr>
          <a:xfrm>
            <a:off x="427742" y="8256194"/>
            <a:ext cx="4311311" cy="1475423"/>
            <a:chOff x="0" y="0"/>
            <a:chExt cx="5748415" cy="1967231"/>
          </a:xfrm>
        </p:grpSpPr>
        <p:sp>
          <p:nvSpPr>
            <p:cNvPr id="74" name="Freeform 74"/>
            <p:cNvSpPr/>
            <p:nvPr/>
          </p:nvSpPr>
          <p:spPr>
            <a:xfrm>
              <a:off x="0" y="0"/>
              <a:ext cx="5748401" cy="1967230"/>
            </a:xfrm>
            <a:custGeom>
              <a:avLst/>
              <a:gdLst/>
              <a:ahLst/>
              <a:cxnLst/>
              <a:rect l="l" t="t" r="r" b="b"/>
              <a:pathLst>
                <a:path w="5748401" h="1967230">
                  <a:moveTo>
                    <a:pt x="27305" y="0"/>
                  </a:moveTo>
                  <a:lnTo>
                    <a:pt x="5721096" y="0"/>
                  </a:lnTo>
                  <a:cubicBezTo>
                    <a:pt x="5728335" y="0"/>
                    <a:pt x="5735320" y="2921"/>
                    <a:pt x="5740400" y="8001"/>
                  </a:cubicBezTo>
                  <a:cubicBezTo>
                    <a:pt x="5745480" y="13081"/>
                    <a:pt x="5748401" y="20066"/>
                    <a:pt x="5748401" y="27305"/>
                  </a:cubicBezTo>
                  <a:lnTo>
                    <a:pt x="5748401" y="1939925"/>
                  </a:lnTo>
                  <a:cubicBezTo>
                    <a:pt x="5748401" y="1947164"/>
                    <a:pt x="5745480" y="1954149"/>
                    <a:pt x="5740400" y="1959229"/>
                  </a:cubicBezTo>
                  <a:cubicBezTo>
                    <a:pt x="5735320" y="1964309"/>
                    <a:pt x="5728335" y="1967230"/>
                    <a:pt x="5721096" y="1967230"/>
                  </a:cubicBezTo>
                  <a:lnTo>
                    <a:pt x="27305" y="1967230"/>
                  </a:lnTo>
                  <a:cubicBezTo>
                    <a:pt x="20066" y="1967230"/>
                    <a:pt x="13081" y="1964309"/>
                    <a:pt x="8001" y="1959229"/>
                  </a:cubicBezTo>
                  <a:cubicBezTo>
                    <a:pt x="2921" y="1954149"/>
                    <a:pt x="0" y="1947164"/>
                    <a:pt x="0" y="1939925"/>
                  </a:cubicBezTo>
                  <a:lnTo>
                    <a:pt x="0" y="27305"/>
                  </a:lnTo>
                  <a:cubicBezTo>
                    <a:pt x="0" y="20066"/>
                    <a:pt x="2921" y="13081"/>
                    <a:pt x="8001" y="8001"/>
                  </a:cubicBezTo>
                  <a:cubicBezTo>
                    <a:pt x="13081" y="2921"/>
                    <a:pt x="20066" y="0"/>
                    <a:pt x="27305" y="0"/>
                  </a:cubicBezTo>
                  <a:close/>
                </a:path>
              </a:pathLst>
            </a:custGeom>
            <a:solidFill>
              <a:srgbClr val="55C4D4"/>
            </a:solidFill>
          </p:spPr>
          <p:txBody>
            <a:bodyPr/>
            <a:lstStyle/>
            <a:p>
              <a:endParaRPr lang="en-GB"/>
            </a:p>
          </p:txBody>
        </p:sp>
      </p:grpSp>
      <p:grpSp>
        <p:nvGrpSpPr>
          <p:cNvPr id="75" name="Group 75"/>
          <p:cNvGrpSpPr/>
          <p:nvPr/>
        </p:nvGrpSpPr>
        <p:grpSpPr>
          <a:xfrm>
            <a:off x="427742" y="7966872"/>
            <a:ext cx="4311311" cy="1764745"/>
            <a:chOff x="0" y="0"/>
            <a:chExt cx="5748415" cy="2352993"/>
          </a:xfrm>
        </p:grpSpPr>
        <p:sp>
          <p:nvSpPr>
            <p:cNvPr id="76" name="Freeform 76"/>
            <p:cNvSpPr/>
            <p:nvPr/>
          </p:nvSpPr>
          <p:spPr>
            <a:xfrm>
              <a:off x="0" y="0"/>
              <a:ext cx="5748415" cy="2352993"/>
            </a:xfrm>
            <a:custGeom>
              <a:avLst/>
              <a:gdLst/>
              <a:ahLst/>
              <a:cxnLst/>
              <a:rect l="l" t="t" r="r" b="b"/>
              <a:pathLst>
                <a:path w="5748415" h="2352993">
                  <a:moveTo>
                    <a:pt x="0" y="0"/>
                  </a:moveTo>
                  <a:lnTo>
                    <a:pt x="5748415" y="0"/>
                  </a:lnTo>
                  <a:lnTo>
                    <a:pt x="5748415" y="2352993"/>
                  </a:lnTo>
                  <a:lnTo>
                    <a:pt x="0" y="2352993"/>
                  </a:lnTo>
                  <a:close/>
                </a:path>
              </a:pathLst>
            </a:custGeom>
            <a:solidFill>
              <a:srgbClr val="000000">
                <a:alpha val="0"/>
              </a:srgbClr>
            </a:solidFill>
          </p:spPr>
          <p:txBody>
            <a:bodyPr/>
            <a:lstStyle/>
            <a:p>
              <a:endParaRPr lang="en-GB"/>
            </a:p>
          </p:txBody>
        </p:sp>
        <p:sp>
          <p:nvSpPr>
            <p:cNvPr id="77" name="TextBox 77"/>
            <p:cNvSpPr txBox="1"/>
            <p:nvPr/>
          </p:nvSpPr>
          <p:spPr>
            <a:xfrm>
              <a:off x="0" y="-76200"/>
              <a:ext cx="5748415" cy="2429193"/>
            </a:xfrm>
            <a:prstGeom prst="rect">
              <a:avLst/>
            </a:prstGeom>
          </p:spPr>
          <p:txBody>
            <a:bodyPr lIns="0" tIns="0" rIns="0" bIns="0" rtlCol="0" anchor="ctr"/>
            <a:lstStyle/>
            <a:p>
              <a:pPr algn="ctr">
                <a:lnSpc>
                  <a:spcPts val="3599"/>
                </a:lnSpc>
              </a:pPr>
              <a:r>
                <a:rPr lang="en-US" sz="2399" spc="119">
                  <a:solidFill>
                    <a:srgbClr val="000000"/>
                  </a:solidFill>
                  <a:latin typeface="Tahoma"/>
                  <a:ea typeface="Tahoma"/>
                  <a:cs typeface="Tahoma"/>
                  <a:sym typeface="Tahoma"/>
                </a:rPr>
                <a:t>Getting insights from people you know who work in those fields</a:t>
              </a:r>
            </a:p>
          </p:txBody>
        </p:sp>
      </p:grpSp>
      <p:grpSp>
        <p:nvGrpSpPr>
          <p:cNvPr id="78" name="Group 78"/>
          <p:cNvGrpSpPr/>
          <p:nvPr/>
        </p:nvGrpSpPr>
        <p:grpSpPr>
          <a:xfrm>
            <a:off x="13482297" y="8569757"/>
            <a:ext cx="3152205" cy="848301"/>
            <a:chOff x="0" y="0"/>
            <a:chExt cx="4202940" cy="1131068"/>
          </a:xfrm>
        </p:grpSpPr>
        <p:sp>
          <p:nvSpPr>
            <p:cNvPr id="79" name="Freeform 79"/>
            <p:cNvSpPr/>
            <p:nvPr/>
          </p:nvSpPr>
          <p:spPr>
            <a:xfrm>
              <a:off x="0" y="0"/>
              <a:ext cx="4202938" cy="1131062"/>
            </a:xfrm>
            <a:custGeom>
              <a:avLst/>
              <a:gdLst/>
              <a:ahLst/>
              <a:cxnLst/>
              <a:rect l="l" t="t" r="r" b="b"/>
              <a:pathLst>
                <a:path w="4202938" h="1131062">
                  <a:moveTo>
                    <a:pt x="37338" y="0"/>
                  </a:moveTo>
                  <a:lnTo>
                    <a:pt x="4165600" y="0"/>
                  </a:lnTo>
                  <a:cubicBezTo>
                    <a:pt x="4186174" y="0"/>
                    <a:pt x="4202938" y="16764"/>
                    <a:pt x="4202938" y="37338"/>
                  </a:cubicBezTo>
                  <a:lnTo>
                    <a:pt x="4202938" y="1093724"/>
                  </a:lnTo>
                  <a:cubicBezTo>
                    <a:pt x="4202938" y="1114298"/>
                    <a:pt x="4186301" y="1131062"/>
                    <a:pt x="4165600" y="1131062"/>
                  </a:cubicBezTo>
                  <a:lnTo>
                    <a:pt x="37338" y="1131062"/>
                  </a:lnTo>
                  <a:cubicBezTo>
                    <a:pt x="16764" y="1131062"/>
                    <a:pt x="0" y="1114425"/>
                    <a:pt x="0" y="1093724"/>
                  </a:cubicBezTo>
                  <a:lnTo>
                    <a:pt x="0" y="37338"/>
                  </a:lnTo>
                  <a:cubicBezTo>
                    <a:pt x="0" y="16764"/>
                    <a:pt x="16764" y="0"/>
                    <a:pt x="37338" y="0"/>
                  </a:cubicBezTo>
                  <a:close/>
                </a:path>
              </a:pathLst>
            </a:custGeom>
            <a:solidFill>
              <a:srgbClr val="3EDAD8"/>
            </a:solidFill>
          </p:spPr>
          <p:txBody>
            <a:bodyPr/>
            <a:lstStyle/>
            <a:p>
              <a:endParaRPr lang="en-GB"/>
            </a:p>
          </p:txBody>
        </p:sp>
      </p:grpSp>
      <p:grpSp>
        <p:nvGrpSpPr>
          <p:cNvPr id="80" name="Group 80"/>
          <p:cNvGrpSpPr/>
          <p:nvPr/>
        </p:nvGrpSpPr>
        <p:grpSpPr>
          <a:xfrm>
            <a:off x="13482297" y="8280434"/>
            <a:ext cx="3152205" cy="1137620"/>
            <a:chOff x="0" y="0"/>
            <a:chExt cx="4202940" cy="1516827"/>
          </a:xfrm>
        </p:grpSpPr>
        <p:sp>
          <p:nvSpPr>
            <p:cNvPr id="81" name="Freeform 81"/>
            <p:cNvSpPr/>
            <p:nvPr/>
          </p:nvSpPr>
          <p:spPr>
            <a:xfrm>
              <a:off x="0" y="0"/>
              <a:ext cx="4202940" cy="1516827"/>
            </a:xfrm>
            <a:custGeom>
              <a:avLst/>
              <a:gdLst/>
              <a:ahLst/>
              <a:cxnLst/>
              <a:rect l="l" t="t" r="r" b="b"/>
              <a:pathLst>
                <a:path w="4202940" h="1516827">
                  <a:moveTo>
                    <a:pt x="0" y="0"/>
                  </a:moveTo>
                  <a:lnTo>
                    <a:pt x="4202940" y="0"/>
                  </a:lnTo>
                  <a:lnTo>
                    <a:pt x="4202940" y="1516827"/>
                  </a:lnTo>
                  <a:lnTo>
                    <a:pt x="0" y="1516827"/>
                  </a:lnTo>
                  <a:close/>
                </a:path>
              </a:pathLst>
            </a:custGeom>
            <a:solidFill>
              <a:srgbClr val="000000">
                <a:alpha val="0"/>
              </a:srgbClr>
            </a:solidFill>
          </p:spPr>
          <p:txBody>
            <a:bodyPr/>
            <a:lstStyle/>
            <a:p>
              <a:endParaRPr lang="en-GB"/>
            </a:p>
          </p:txBody>
        </p:sp>
        <p:sp>
          <p:nvSpPr>
            <p:cNvPr id="82" name="TextBox 82"/>
            <p:cNvSpPr txBox="1"/>
            <p:nvPr/>
          </p:nvSpPr>
          <p:spPr>
            <a:xfrm>
              <a:off x="0" y="-76200"/>
              <a:ext cx="4202940" cy="1593027"/>
            </a:xfrm>
            <a:prstGeom prst="rect">
              <a:avLst/>
            </a:prstGeom>
          </p:spPr>
          <p:txBody>
            <a:bodyPr lIns="0" tIns="0" rIns="0" bIns="0" rtlCol="0" anchor="ctr"/>
            <a:lstStyle/>
            <a:p>
              <a:pPr algn="ctr">
                <a:lnSpc>
                  <a:spcPts val="3898"/>
                </a:lnSpc>
              </a:pPr>
              <a:r>
                <a:rPr lang="en-US" sz="2599" spc="129">
                  <a:solidFill>
                    <a:srgbClr val="000000"/>
                  </a:solidFill>
                  <a:latin typeface="Tahoma"/>
                  <a:ea typeface="Tahoma"/>
                  <a:cs typeface="Tahoma"/>
                  <a:sym typeface="Tahoma"/>
                </a:rPr>
                <a:t>Finding a mentor</a:t>
              </a:r>
            </a:p>
          </p:txBody>
        </p:sp>
      </p:grpSp>
      <p:grpSp>
        <p:nvGrpSpPr>
          <p:cNvPr id="83" name="Group 83"/>
          <p:cNvGrpSpPr/>
          <p:nvPr/>
        </p:nvGrpSpPr>
        <p:grpSpPr>
          <a:xfrm>
            <a:off x="7042098" y="8256194"/>
            <a:ext cx="4135149" cy="1444506"/>
            <a:chOff x="0" y="0"/>
            <a:chExt cx="5513532" cy="1926008"/>
          </a:xfrm>
        </p:grpSpPr>
        <p:sp>
          <p:nvSpPr>
            <p:cNvPr id="84" name="Freeform 84"/>
            <p:cNvSpPr/>
            <p:nvPr/>
          </p:nvSpPr>
          <p:spPr>
            <a:xfrm>
              <a:off x="0" y="0"/>
              <a:ext cx="5513578" cy="1926082"/>
            </a:xfrm>
            <a:custGeom>
              <a:avLst/>
              <a:gdLst/>
              <a:ahLst/>
              <a:cxnLst/>
              <a:rect l="l" t="t" r="r" b="b"/>
              <a:pathLst>
                <a:path w="5513578" h="1926082">
                  <a:moveTo>
                    <a:pt x="28448" y="0"/>
                  </a:moveTo>
                  <a:lnTo>
                    <a:pt x="5485130" y="0"/>
                  </a:lnTo>
                  <a:cubicBezTo>
                    <a:pt x="5492623" y="0"/>
                    <a:pt x="5499862" y="3048"/>
                    <a:pt x="5505196" y="8382"/>
                  </a:cubicBezTo>
                  <a:cubicBezTo>
                    <a:pt x="5510530" y="13716"/>
                    <a:pt x="5513578" y="20955"/>
                    <a:pt x="5513578" y="28448"/>
                  </a:cubicBezTo>
                  <a:lnTo>
                    <a:pt x="5513578" y="1897634"/>
                  </a:lnTo>
                  <a:cubicBezTo>
                    <a:pt x="5513578" y="1913382"/>
                    <a:pt x="5500878" y="1926082"/>
                    <a:pt x="5485130" y="1926082"/>
                  </a:cubicBezTo>
                  <a:lnTo>
                    <a:pt x="28448" y="1926082"/>
                  </a:lnTo>
                  <a:cubicBezTo>
                    <a:pt x="12700" y="1926082"/>
                    <a:pt x="0" y="1913382"/>
                    <a:pt x="0" y="1897634"/>
                  </a:cubicBezTo>
                  <a:lnTo>
                    <a:pt x="0" y="28448"/>
                  </a:lnTo>
                  <a:cubicBezTo>
                    <a:pt x="0" y="12700"/>
                    <a:pt x="12700" y="0"/>
                    <a:pt x="28448" y="0"/>
                  </a:cubicBezTo>
                  <a:close/>
                </a:path>
              </a:pathLst>
            </a:custGeom>
            <a:solidFill>
              <a:srgbClr val="37C9EF"/>
            </a:solidFill>
          </p:spPr>
          <p:txBody>
            <a:bodyPr/>
            <a:lstStyle/>
            <a:p>
              <a:endParaRPr lang="en-GB"/>
            </a:p>
          </p:txBody>
        </p:sp>
      </p:grpSp>
      <p:grpSp>
        <p:nvGrpSpPr>
          <p:cNvPr id="85" name="Group 85"/>
          <p:cNvGrpSpPr/>
          <p:nvPr/>
        </p:nvGrpSpPr>
        <p:grpSpPr>
          <a:xfrm>
            <a:off x="7042098" y="8003037"/>
            <a:ext cx="4135149" cy="1697663"/>
            <a:chOff x="0" y="0"/>
            <a:chExt cx="5513532" cy="2263550"/>
          </a:xfrm>
        </p:grpSpPr>
        <p:sp>
          <p:nvSpPr>
            <p:cNvPr id="86" name="Freeform 86"/>
            <p:cNvSpPr/>
            <p:nvPr/>
          </p:nvSpPr>
          <p:spPr>
            <a:xfrm>
              <a:off x="0" y="0"/>
              <a:ext cx="5513532" cy="2263550"/>
            </a:xfrm>
            <a:custGeom>
              <a:avLst/>
              <a:gdLst/>
              <a:ahLst/>
              <a:cxnLst/>
              <a:rect l="l" t="t" r="r" b="b"/>
              <a:pathLst>
                <a:path w="5513532" h="2263550">
                  <a:moveTo>
                    <a:pt x="0" y="0"/>
                  </a:moveTo>
                  <a:lnTo>
                    <a:pt x="5513532" y="0"/>
                  </a:lnTo>
                  <a:lnTo>
                    <a:pt x="5513532" y="2263550"/>
                  </a:lnTo>
                  <a:lnTo>
                    <a:pt x="0" y="2263550"/>
                  </a:lnTo>
                  <a:close/>
                </a:path>
              </a:pathLst>
            </a:custGeom>
            <a:solidFill>
              <a:srgbClr val="000000">
                <a:alpha val="0"/>
              </a:srgbClr>
            </a:solidFill>
          </p:spPr>
          <p:txBody>
            <a:bodyPr/>
            <a:lstStyle/>
            <a:p>
              <a:endParaRPr lang="en-GB"/>
            </a:p>
          </p:txBody>
        </p:sp>
        <p:sp>
          <p:nvSpPr>
            <p:cNvPr id="87" name="TextBox 87"/>
            <p:cNvSpPr txBox="1"/>
            <p:nvPr/>
          </p:nvSpPr>
          <p:spPr>
            <a:xfrm>
              <a:off x="0" y="-66675"/>
              <a:ext cx="5513532" cy="2330225"/>
            </a:xfrm>
            <a:prstGeom prst="rect">
              <a:avLst/>
            </a:prstGeom>
          </p:spPr>
          <p:txBody>
            <a:bodyPr lIns="0" tIns="0" rIns="0" bIns="0" rtlCol="0" anchor="ctr"/>
            <a:lstStyle/>
            <a:p>
              <a:pPr algn="ctr">
                <a:lnSpc>
                  <a:spcPts val="3450"/>
                </a:lnSpc>
              </a:pPr>
              <a:r>
                <a:rPr lang="en-US" sz="2300" spc="115">
                  <a:solidFill>
                    <a:srgbClr val="000000"/>
                  </a:solidFill>
                  <a:latin typeface="Tahoma"/>
                  <a:ea typeface="Tahoma"/>
                  <a:cs typeface="Tahoma"/>
                  <a:sym typeface="Tahoma"/>
                </a:rPr>
                <a:t>Finding out what graduates of your degree have gone on to do </a:t>
              </a: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AF3E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2667000" y="1943100"/>
            <a:ext cx="13411200" cy="7543800"/>
            <a:chOff x="0" y="0"/>
            <a:chExt cx="17881600" cy="10058400"/>
          </a:xfrm>
        </p:grpSpPr>
        <p:sp>
          <p:nvSpPr>
            <p:cNvPr id="3" name="Freeform 3"/>
            <p:cNvSpPr/>
            <p:nvPr/>
          </p:nvSpPr>
          <p:spPr>
            <a:xfrm>
              <a:off x="0" y="0"/>
              <a:ext cx="17881600" cy="10058400"/>
            </a:xfrm>
            <a:custGeom>
              <a:avLst/>
              <a:gdLst/>
              <a:ahLst/>
              <a:cxnLst/>
              <a:rect l="l" t="t" r="r" b="b"/>
              <a:pathLst>
                <a:path w="17881600" h="10058400">
                  <a:moveTo>
                    <a:pt x="0" y="0"/>
                  </a:moveTo>
                  <a:lnTo>
                    <a:pt x="17881600" y="0"/>
                  </a:lnTo>
                  <a:lnTo>
                    <a:pt x="17881600" y="10058400"/>
                  </a:lnTo>
                  <a:lnTo>
                    <a:pt x="0" y="10058400"/>
                  </a:lnTo>
                  <a:lnTo>
                    <a:pt x="0" y="0"/>
                  </a:lnTo>
                  <a:close/>
                </a:path>
              </a:pathLst>
            </a:custGeom>
            <a:blipFill>
              <a:blip r:embed="rId2"/>
              <a:stretch>
                <a:fillRect/>
              </a:stretch>
            </a:blipFill>
          </p:spPr>
          <p:txBody>
            <a:bodyPr/>
            <a:lstStyle/>
            <a:p>
              <a:endParaRPr lang="en-GB"/>
            </a:p>
          </p:txBody>
        </p:sp>
      </p:grpSp>
      <p:sp>
        <p:nvSpPr>
          <p:cNvPr id="4" name="TextBox 4"/>
          <p:cNvSpPr txBox="1"/>
          <p:nvPr/>
        </p:nvSpPr>
        <p:spPr>
          <a:xfrm>
            <a:off x="0" y="442277"/>
            <a:ext cx="18288000" cy="939135"/>
          </a:xfrm>
          <a:prstGeom prst="rect">
            <a:avLst/>
          </a:prstGeom>
        </p:spPr>
        <p:txBody>
          <a:bodyPr lIns="0" tIns="0" rIns="0" bIns="0" rtlCol="0" anchor="t">
            <a:spAutoFit/>
          </a:bodyPr>
          <a:lstStyle/>
          <a:p>
            <a:pPr algn="ctr">
              <a:lnSpc>
                <a:spcPts val="7280"/>
              </a:lnSpc>
            </a:pPr>
            <a:r>
              <a:rPr lang="en-US" sz="5198" b="1">
                <a:solidFill>
                  <a:srgbClr val="000000"/>
                </a:solidFill>
                <a:latin typeface="Tahoma Bold"/>
                <a:ea typeface="Tahoma Bold"/>
                <a:cs typeface="Tahoma Bold"/>
                <a:sym typeface="Tahoma Bold"/>
              </a:rPr>
              <a:t>Year-long Placements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BDE4E"/>
        </a:solidFill>
        <a:effectLst/>
      </p:bgPr>
    </p:bg>
    <p:spTree>
      <p:nvGrpSpPr>
        <p:cNvPr id="1" name=""/>
        <p:cNvGrpSpPr/>
        <p:nvPr/>
      </p:nvGrpSpPr>
      <p:grpSpPr>
        <a:xfrm>
          <a:off x="0" y="0"/>
          <a:ext cx="0" cy="0"/>
          <a:chOff x="0" y="0"/>
          <a:chExt cx="0" cy="0"/>
        </a:xfrm>
      </p:grpSpPr>
      <p:grpSp>
        <p:nvGrpSpPr>
          <p:cNvPr id="2" name="Group 2"/>
          <p:cNvGrpSpPr/>
          <p:nvPr/>
        </p:nvGrpSpPr>
        <p:grpSpPr>
          <a:xfrm>
            <a:off x="1215648" y="621967"/>
            <a:ext cx="16230600" cy="8636336"/>
            <a:chOff x="0" y="0"/>
            <a:chExt cx="21640800" cy="11515115"/>
          </a:xfrm>
        </p:grpSpPr>
        <p:sp>
          <p:nvSpPr>
            <p:cNvPr id="3" name="Freeform 3"/>
            <p:cNvSpPr/>
            <p:nvPr/>
          </p:nvSpPr>
          <p:spPr>
            <a:xfrm>
              <a:off x="0" y="0"/>
              <a:ext cx="21640800" cy="11515090"/>
            </a:xfrm>
            <a:custGeom>
              <a:avLst/>
              <a:gdLst/>
              <a:ahLst/>
              <a:cxnLst/>
              <a:rect l="l" t="t" r="r" b="b"/>
              <a:pathLst>
                <a:path w="21640800" h="11515090">
                  <a:moveTo>
                    <a:pt x="21150199" y="11515090"/>
                  </a:moveTo>
                  <a:lnTo>
                    <a:pt x="490601" y="11515090"/>
                  </a:lnTo>
                  <a:cubicBezTo>
                    <a:pt x="220218" y="11515090"/>
                    <a:pt x="0" y="11294872"/>
                    <a:pt x="0" y="11024489"/>
                  </a:cubicBezTo>
                  <a:lnTo>
                    <a:pt x="0" y="490601"/>
                  </a:lnTo>
                  <a:cubicBezTo>
                    <a:pt x="0" y="220218"/>
                    <a:pt x="220218" y="0"/>
                    <a:pt x="490601" y="0"/>
                  </a:cubicBezTo>
                  <a:lnTo>
                    <a:pt x="21150199" y="0"/>
                  </a:lnTo>
                  <a:cubicBezTo>
                    <a:pt x="21420582" y="0"/>
                    <a:pt x="21640800" y="220218"/>
                    <a:pt x="21640800" y="490601"/>
                  </a:cubicBezTo>
                  <a:lnTo>
                    <a:pt x="21640800" y="11024489"/>
                  </a:lnTo>
                  <a:cubicBezTo>
                    <a:pt x="21640800" y="11294745"/>
                    <a:pt x="21420582" y="11515090"/>
                    <a:pt x="21150199" y="11515090"/>
                  </a:cubicBezTo>
                  <a:close/>
                </a:path>
              </a:pathLst>
            </a:custGeom>
            <a:solidFill>
              <a:srgbClr val="FAF3E0"/>
            </a:solidFill>
          </p:spPr>
          <p:txBody>
            <a:bodyPr/>
            <a:lstStyle/>
            <a:p>
              <a:endParaRPr lang="en-GB"/>
            </a:p>
          </p:txBody>
        </p:sp>
      </p:grpSp>
      <p:sp>
        <p:nvSpPr>
          <p:cNvPr id="4" name="Freeform 4"/>
          <p:cNvSpPr/>
          <p:nvPr/>
        </p:nvSpPr>
        <p:spPr>
          <a:xfrm rot="1311026">
            <a:off x="16809542" y="5476213"/>
            <a:ext cx="1273415" cy="5885531"/>
          </a:xfrm>
          <a:custGeom>
            <a:avLst/>
            <a:gdLst/>
            <a:ahLst/>
            <a:cxnLst/>
            <a:rect l="l" t="t" r="r" b="b"/>
            <a:pathLst>
              <a:path w="1273415" h="5885531">
                <a:moveTo>
                  <a:pt x="0" y="0"/>
                </a:moveTo>
                <a:lnTo>
                  <a:pt x="1273415" y="0"/>
                </a:lnTo>
                <a:lnTo>
                  <a:pt x="1273415" y="5885531"/>
                </a:lnTo>
                <a:lnTo>
                  <a:pt x="0" y="5885531"/>
                </a:lnTo>
                <a:lnTo>
                  <a:pt x="0" y="0"/>
                </a:lnTo>
                <a:close/>
              </a:path>
            </a:pathLst>
          </a:custGeom>
          <a:blipFill>
            <a:blip r:embed="rId2">
              <a:extLst>
                <a:ext uri="{96DAC541-7B7A-43D3-8B79-37D633B846F1}">
                  <asvg:svgBlip xmlns:asvg="http://schemas.microsoft.com/office/drawing/2016/SVG/main" r:embed="rId3"/>
                </a:ext>
              </a:extLst>
            </a:blip>
            <a:stretch>
              <a:fillRect t="-215" b="-215"/>
            </a:stretch>
          </a:blipFill>
        </p:spPr>
        <p:txBody>
          <a:bodyPr/>
          <a:lstStyle/>
          <a:p>
            <a:endParaRPr lang="en-GB"/>
          </a:p>
        </p:txBody>
      </p:sp>
      <p:sp>
        <p:nvSpPr>
          <p:cNvPr id="5" name="Freeform 5"/>
          <p:cNvSpPr/>
          <p:nvPr/>
        </p:nvSpPr>
        <p:spPr>
          <a:xfrm rot="1781186">
            <a:off x="-150849" y="-314288"/>
            <a:ext cx="993849" cy="5577726"/>
          </a:xfrm>
          <a:custGeom>
            <a:avLst/>
            <a:gdLst/>
            <a:ahLst/>
            <a:cxnLst/>
            <a:rect l="l" t="t" r="r" b="b"/>
            <a:pathLst>
              <a:path w="993849" h="5577726">
                <a:moveTo>
                  <a:pt x="0" y="0"/>
                </a:moveTo>
                <a:lnTo>
                  <a:pt x="993849" y="0"/>
                </a:lnTo>
                <a:lnTo>
                  <a:pt x="993849" y="5577726"/>
                </a:lnTo>
                <a:lnTo>
                  <a:pt x="0" y="5577726"/>
                </a:lnTo>
                <a:lnTo>
                  <a:pt x="0" y="0"/>
                </a:lnTo>
                <a:close/>
              </a:path>
            </a:pathLst>
          </a:custGeom>
          <a:blipFill>
            <a:blip r:embed="rId4">
              <a:extLst>
                <a:ext uri="{96DAC541-7B7A-43D3-8B79-37D633B846F1}">
                  <asvg:svgBlip xmlns:asvg="http://schemas.microsoft.com/office/drawing/2016/SVG/main" r:embed="rId5"/>
                </a:ext>
              </a:extLst>
            </a:blip>
            <a:stretch>
              <a:fillRect l="-759" r="-759"/>
            </a:stretch>
          </a:blipFill>
        </p:spPr>
        <p:txBody>
          <a:bodyPr/>
          <a:lstStyle/>
          <a:p>
            <a:endParaRPr lang="en-GB"/>
          </a:p>
        </p:txBody>
      </p:sp>
      <p:sp>
        <p:nvSpPr>
          <p:cNvPr id="6" name="Freeform 6"/>
          <p:cNvSpPr/>
          <p:nvPr/>
        </p:nvSpPr>
        <p:spPr>
          <a:xfrm>
            <a:off x="7327128" y="4036452"/>
            <a:ext cx="3633744" cy="2401545"/>
          </a:xfrm>
          <a:custGeom>
            <a:avLst/>
            <a:gdLst/>
            <a:ahLst/>
            <a:cxnLst/>
            <a:rect l="l" t="t" r="r" b="b"/>
            <a:pathLst>
              <a:path w="3633744" h="2401545">
                <a:moveTo>
                  <a:pt x="0" y="0"/>
                </a:moveTo>
                <a:lnTo>
                  <a:pt x="3633744" y="0"/>
                </a:lnTo>
                <a:lnTo>
                  <a:pt x="3633744" y="2401545"/>
                </a:lnTo>
                <a:lnTo>
                  <a:pt x="0" y="240154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7" name="TextBox 7"/>
          <p:cNvSpPr txBox="1"/>
          <p:nvPr/>
        </p:nvSpPr>
        <p:spPr>
          <a:xfrm>
            <a:off x="7402886" y="4248151"/>
            <a:ext cx="3557987" cy="1566044"/>
          </a:xfrm>
          <a:prstGeom prst="rect">
            <a:avLst/>
          </a:prstGeom>
        </p:spPr>
        <p:txBody>
          <a:bodyPr lIns="0" tIns="0" rIns="0" bIns="0" rtlCol="0" anchor="t">
            <a:spAutoFit/>
          </a:bodyPr>
          <a:lstStyle/>
          <a:p>
            <a:pPr algn="ctr">
              <a:lnSpc>
                <a:spcPts val="6000"/>
              </a:lnSpc>
            </a:pPr>
            <a:r>
              <a:rPr lang="en-US" sz="3999">
                <a:solidFill>
                  <a:srgbClr val="000000"/>
                </a:solidFill>
                <a:latin typeface="Tahoma"/>
                <a:ea typeface="Tahoma"/>
                <a:cs typeface="Tahoma"/>
                <a:sym typeface="Tahoma"/>
              </a:rPr>
              <a:t>Help</a:t>
            </a:r>
          </a:p>
          <a:p>
            <a:pPr algn="ctr">
              <a:lnSpc>
                <a:spcPts val="6000"/>
              </a:lnSpc>
            </a:pPr>
            <a:r>
              <a:rPr lang="en-US" sz="3999">
                <a:solidFill>
                  <a:srgbClr val="000000"/>
                </a:solidFill>
                <a:latin typeface="Tahoma"/>
                <a:ea typeface="Tahoma"/>
                <a:cs typeface="Tahoma"/>
                <a:sym typeface="Tahoma"/>
              </a:rPr>
              <a:t>avaliable...</a:t>
            </a:r>
          </a:p>
        </p:txBody>
      </p:sp>
      <p:grpSp>
        <p:nvGrpSpPr>
          <p:cNvPr id="8" name="Group 8"/>
          <p:cNvGrpSpPr/>
          <p:nvPr/>
        </p:nvGrpSpPr>
        <p:grpSpPr>
          <a:xfrm>
            <a:off x="5770044" y="3699838"/>
            <a:ext cx="1849496" cy="921755"/>
            <a:chOff x="0" y="0"/>
            <a:chExt cx="2465995" cy="1229007"/>
          </a:xfrm>
        </p:grpSpPr>
        <p:sp>
          <p:nvSpPr>
            <p:cNvPr id="9" name="Freeform 9"/>
            <p:cNvSpPr/>
            <p:nvPr/>
          </p:nvSpPr>
          <p:spPr>
            <a:xfrm>
              <a:off x="17907" y="3175"/>
              <a:ext cx="2430145" cy="1222629"/>
            </a:xfrm>
            <a:custGeom>
              <a:avLst/>
              <a:gdLst/>
              <a:ahLst/>
              <a:cxnLst/>
              <a:rect l="l" t="t" r="r" b="b"/>
              <a:pathLst>
                <a:path w="2430145" h="1222629">
                  <a:moveTo>
                    <a:pt x="2402459" y="1222629"/>
                  </a:moveTo>
                  <a:lnTo>
                    <a:pt x="0" y="57150"/>
                  </a:lnTo>
                  <a:lnTo>
                    <a:pt x="27686" y="0"/>
                  </a:lnTo>
                  <a:lnTo>
                    <a:pt x="2430145" y="1165479"/>
                  </a:lnTo>
                  <a:close/>
                </a:path>
              </a:pathLst>
            </a:custGeom>
            <a:solidFill>
              <a:srgbClr val="000000"/>
            </a:solidFill>
          </p:spPr>
          <p:txBody>
            <a:bodyPr/>
            <a:lstStyle/>
            <a:p>
              <a:endParaRPr lang="en-GB"/>
            </a:p>
          </p:txBody>
        </p:sp>
      </p:grpSp>
      <p:grpSp>
        <p:nvGrpSpPr>
          <p:cNvPr id="10" name="Group 10"/>
          <p:cNvGrpSpPr/>
          <p:nvPr/>
        </p:nvGrpSpPr>
        <p:grpSpPr>
          <a:xfrm>
            <a:off x="10558574" y="3543180"/>
            <a:ext cx="1788774" cy="986541"/>
            <a:chOff x="0" y="0"/>
            <a:chExt cx="2385032" cy="1315388"/>
          </a:xfrm>
        </p:grpSpPr>
        <p:sp>
          <p:nvSpPr>
            <p:cNvPr id="11" name="Freeform 11"/>
            <p:cNvSpPr/>
            <p:nvPr/>
          </p:nvSpPr>
          <p:spPr>
            <a:xfrm>
              <a:off x="16637" y="3810"/>
              <a:ext cx="2351659" cy="1307719"/>
            </a:xfrm>
            <a:custGeom>
              <a:avLst/>
              <a:gdLst/>
              <a:ahLst/>
              <a:cxnLst/>
              <a:rect l="l" t="t" r="r" b="b"/>
              <a:pathLst>
                <a:path w="2351659" h="1307719">
                  <a:moveTo>
                    <a:pt x="0" y="1251839"/>
                  </a:moveTo>
                  <a:lnTo>
                    <a:pt x="2321560" y="0"/>
                  </a:lnTo>
                  <a:lnTo>
                    <a:pt x="2351659" y="55880"/>
                  </a:lnTo>
                  <a:lnTo>
                    <a:pt x="30226" y="1307719"/>
                  </a:lnTo>
                  <a:close/>
                </a:path>
              </a:pathLst>
            </a:custGeom>
            <a:solidFill>
              <a:srgbClr val="000000"/>
            </a:solidFill>
          </p:spPr>
          <p:txBody>
            <a:bodyPr/>
            <a:lstStyle/>
            <a:p>
              <a:endParaRPr lang="en-GB"/>
            </a:p>
          </p:txBody>
        </p:sp>
      </p:grpSp>
      <p:grpSp>
        <p:nvGrpSpPr>
          <p:cNvPr id="12" name="Group 12"/>
          <p:cNvGrpSpPr/>
          <p:nvPr/>
        </p:nvGrpSpPr>
        <p:grpSpPr>
          <a:xfrm>
            <a:off x="1586064" y="2921342"/>
            <a:ext cx="4008354" cy="883893"/>
            <a:chOff x="0" y="0"/>
            <a:chExt cx="5344472" cy="1178524"/>
          </a:xfrm>
        </p:grpSpPr>
        <p:sp>
          <p:nvSpPr>
            <p:cNvPr id="13" name="Freeform 13"/>
            <p:cNvSpPr/>
            <p:nvPr/>
          </p:nvSpPr>
          <p:spPr>
            <a:xfrm>
              <a:off x="0" y="0"/>
              <a:ext cx="5344414" cy="1178560"/>
            </a:xfrm>
            <a:custGeom>
              <a:avLst/>
              <a:gdLst/>
              <a:ahLst/>
              <a:cxnLst/>
              <a:rect l="l" t="t" r="r" b="b"/>
              <a:pathLst>
                <a:path w="5344414" h="1178560">
                  <a:moveTo>
                    <a:pt x="0" y="0"/>
                  </a:moveTo>
                  <a:lnTo>
                    <a:pt x="5344414" y="0"/>
                  </a:lnTo>
                  <a:lnTo>
                    <a:pt x="5344414" y="1178560"/>
                  </a:lnTo>
                  <a:lnTo>
                    <a:pt x="0" y="1178560"/>
                  </a:lnTo>
                  <a:lnTo>
                    <a:pt x="0" y="0"/>
                  </a:lnTo>
                  <a:close/>
                </a:path>
              </a:pathLst>
            </a:custGeom>
            <a:blipFill>
              <a:blip r:embed="rId8"/>
              <a:stretch>
                <a:fillRect t="-249" r="-1" b="-246"/>
              </a:stretch>
            </a:blipFill>
          </p:spPr>
          <p:txBody>
            <a:bodyPr/>
            <a:lstStyle/>
            <a:p>
              <a:endParaRPr lang="en-GB"/>
            </a:p>
          </p:txBody>
        </p:sp>
      </p:grpSp>
      <p:grpSp>
        <p:nvGrpSpPr>
          <p:cNvPr id="14" name="Group 14"/>
          <p:cNvGrpSpPr/>
          <p:nvPr/>
        </p:nvGrpSpPr>
        <p:grpSpPr>
          <a:xfrm>
            <a:off x="12323537" y="2677139"/>
            <a:ext cx="2711844" cy="1359312"/>
            <a:chOff x="0" y="0"/>
            <a:chExt cx="3615792" cy="1812416"/>
          </a:xfrm>
        </p:grpSpPr>
        <p:sp>
          <p:nvSpPr>
            <p:cNvPr id="15" name="Freeform 15"/>
            <p:cNvSpPr/>
            <p:nvPr/>
          </p:nvSpPr>
          <p:spPr>
            <a:xfrm>
              <a:off x="0" y="0"/>
              <a:ext cx="3615817" cy="1812417"/>
            </a:xfrm>
            <a:custGeom>
              <a:avLst/>
              <a:gdLst/>
              <a:ahLst/>
              <a:cxnLst/>
              <a:rect l="l" t="t" r="r" b="b"/>
              <a:pathLst>
                <a:path w="3615817" h="1812417">
                  <a:moveTo>
                    <a:pt x="0" y="0"/>
                  </a:moveTo>
                  <a:lnTo>
                    <a:pt x="3615817" y="0"/>
                  </a:lnTo>
                  <a:lnTo>
                    <a:pt x="3615817" y="1812417"/>
                  </a:lnTo>
                  <a:lnTo>
                    <a:pt x="0" y="1812417"/>
                  </a:lnTo>
                  <a:lnTo>
                    <a:pt x="0" y="0"/>
                  </a:lnTo>
                  <a:close/>
                </a:path>
              </a:pathLst>
            </a:custGeom>
            <a:blipFill>
              <a:blip r:embed="rId9"/>
              <a:stretch>
                <a:fillRect t="-124" b="-124"/>
              </a:stretch>
            </a:blipFill>
          </p:spPr>
          <p:txBody>
            <a:bodyPr/>
            <a:lstStyle/>
            <a:p>
              <a:endParaRPr lang="en-GB"/>
            </a:p>
          </p:txBody>
        </p:sp>
      </p:grpSp>
      <p:grpSp>
        <p:nvGrpSpPr>
          <p:cNvPr id="16" name="Group 16"/>
          <p:cNvGrpSpPr/>
          <p:nvPr/>
        </p:nvGrpSpPr>
        <p:grpSpPr>
          <a:xfrm>
            <a:off x="5300608" y="5237224"/>
            <a:ext cx="2050332" cy="47625"/>
            <a:chOff x="0" y="0"/>
            <a:chExt cx="2733776" cy="63500"/>
          </a:xfrm>
        </p:grpSpPr>
        <p:sp>
          <p:nvSpPr>
            <p:cNvPr id="17" name="Freeform 17"/>
            <p:cNvSpPr/>
            <p:nvPr/>
          </p:nvSpPr>
          <p:spPr>
            <a:xfrm>
              <a:off x="31750" y="0"/>
              <a:ext cx="2670302" cy="63500"/>
            </a:xfrm>
            <a:custGeom>
              <a:avLst/>
              <a:gdLst/>
              <a:ahLst/>
              <a:cxnLst/>
              <a:rect l="l" t="t" r="r" b="b"/>
              <a:pathLst>
                <a:path w="2670302" h="63500">
                  <a:moveTo>
                    <a:pt x="2670302" y="63500"/>
                  </a:moveTo>
                  <a:lnTo>
                    <a:pt x="0" y="63500"/>
                  </a:lnTo>
                  <a:lnTo>
                    <a:pt x="0" y="0"/>
                  </a:lnTo>
                  <a:lnTo>
                    <a:pt x="2670302" y="0"/>
                  </a:lnTo>
                  <a:close/>
                </a:path>
              </a:pathLst>
            </a:custGeom>
            <a:solidFill>
              <a:srgbClr val="000000"/>
            </a:solidFill>
          </p:spPr>
          <p:txBody>
            <a:bodyPr/>
            <a:lstStyle/>
            <a:p>
              <a:endParaRPr lang="en-GB"/>
            </a:p>
          </p:txBody>
        </p:sp>
      </p:grpSp>
      <p:grpSp>
        <p:nvGrpSpPr>
          <p:cNvPr id="18" name="Group 18"/>
          <p:cNvGrpSpPr/>
          <p:nvPr/>
        </p:nvGrpSpPr>
        <p:grpSpPr>
          <a:xfrm>
            <a:off x="1586064" y="4291783"/>
            <a:ext cx="3361572" cy="1890884"/>
            <a:chOff x="0" y="0"/>
            <a:chExt cx="4482096" cy="2521179"/>
          </a:xfrm>
        </p:grpSpPr>
        <p:sp>
          <p:nvSpPr>
            <p:cNvPr id="19" name="Freeform 19"/>
            <p:cNvSpPr/>
            <p:nvPr/>
          </p:nvSpPr>
          <p:spPr>
            <a:xfrm>
              <a:off x="0" y="0"/>
              <a:ext cx="4482084" cy="2521204"/>
            </a:xfrm>
            <a:custGeom>
              <a:avLst/>
              <a:gdLst/>
              <a:ahLst/>
              <a:cxnLst/>
              <a:rect l="l" t="t" r="r" b="b"/>
              <a:pathLst>
                <a:path w="4482084" h="2521204">
                  <a:moveTo>
                    <a:pt x="0" y="0"/>
                  </a:moveTo>
                  <a:lnTo>
                    <a:pt x="4482084" y="0"/>
                  </a:lnTo>
                  <a:lnTo>
                    <a:pt x="4482084" y="2521204"/>
                  </a:lnTo>
                  <a:lnTo>
                    <a:pt x="0" y="2521204"/>
                  </a:lnTo>
                  <a:lnTo>
                    <a:pt x="0" y="0"/>
                  </a:lnTo>
                  <a:close/>
                </a:path>
              </a:pathLst>
            </a:custGeom>
            <a:blipFill>
              <a:blip r:embed="rId10"/>
              <a:stretch>
                <a:fillRect b="1"/>
              </a:stretch>
            </a:blipFill>
          </p:spPr>
          <p:txBody>
            <a:bodyPr/>
            <a:lstStyle/>
            <a:p>
              <a:endParaRPr lang="en-GB"/>
            </a:p>
          </p:txBody>
        </p:sp>
      </p:grpSp>
      <p:grpSp>
        <p:nvGrpSpPr>
          <p:cNvPr id="20" name="Group 20"/>
          <p:cNvGrpSpPr/>
          <p:nvPr/>
        </p:nvGrpSpPr>
        <p:grpSpPr>
          <a:xfrm>
            <a:off x="10937060" y="5261038"/>
            <a:ext cx="2050332" cy="47625"/>
            <a:chOff x="0" y="0"/>
            <a:chExt cx="2733776" cy="63500"/>
          </a:xfrm>
        </p:grpSpPr>
        <p:sp>
          <p:nvSpPr>
            <p:cNvPr id="21" name="Freeform 21"/>
            <p:cNvSpPr/>
            <p:nvPr/>
          </p:nvSpPr>
          <p:spPr>
            <a:xfrm>
              <a:off x="31750" y="0"/>
              <a:ext cx="2670302" cy="63500"/>
            </a:xfrm>
            <a:custGeom>
              <a:avLst/>
              <a:gdLst/>
              <a:ahLst/>
              <a:cxnLst/>
              <a:rect l="l" t="t" r="r" b="b"/>
              <a:pathLst>
                <a:path w="2670302" h="63500">
                  <a:moveTo>
                    <a:pt x="0" y="0"/>
                  </a:moveTo>
                  <a:lnTo>
                    <a:pt x="2670302" y="0"/>
                  </a:lnTo>
                  <a:lnTo>
                    <a:pt x="2670302" y="63500"/>
                  </a:lnTo>
                  <a:lnTo>
                    <a:pt x="0" y="63500"/>
                  </a:lnTo>
                  <a:close/>
                </a:path>
              </a:pathLst>
            </a:custGeom>
            <a:solidFill>
              <a:srgbClr val="000000"/>
            </a:solidFill>
          </p:spPr>
          <p:txBody>
            <a:bodyPr/>
            <a:lstStyle/>
            <a:p>
              <a:endParaRPr lang="en-GB"/>
            </a:p>
          </p:txBody>
        </p:sp>
      </p:grpSp>
      <p:grpSp>
        <p:nvGrpSpPr>
          <p:cNvPr id="22" name="Group 22"/>
          <p:cNvGrpSpPr/>
          <p:nvPr/>
        </p:nvGrpSpPr>
        <p:grpSpPr>
          <a:xfrm>
            <a:off x="5784063" y="5852958"/>
            <a:ext cx="1845872" cy="929184"/>
            <a:chOff x="0" y="0"/>
            <a:chExt cx="2461163" cy="1238912"/>
          </a:xfrm>
        </p:grpSpPr>
        <p:sp>
          <p:nvSpPr>
            <p:cNvPr id="23" name="Freeform 23"/>
            <p:cNvSpPr/>
            <p:nvPr/>
          </p:nvSpPr>
          <p:spPr>
            <a:xfrm>
              <a:off x="17780" y="3302"/>
              <a:ext cx="2425573" cy="1232408"/>
            </a:xfrm>
            <a:custGeom>
              <a:avLst/>
              <a:gdLst/>
              <a:ahLst/>
              <a:cxnLst/>
              <a:rect l="l" t="t" r="r" b="b"/>
              <a:pathLst>
                <a:path w="2425573" h="1232408">
                  <a:moveTo>
                    <a:pt x="2425573" y="56896"/>
                  </a:moveTo>
                  <a:lnTo>
                    <a:pt x="27940" y="1232408"/>
                  </a:lnTo>
                  <a:lnTo>
                    <a:pt x="0" y="1175385"/>
                  </a:lnTo>
                  <a:lnTo>
                    <a:pt x="2397633" y="0"/>
                  </a:lnTo>
                  <a:close/>
                </a:path>
              </a:pathLst>
            </a:custGeom>
            <a:solidFill>
              <a:srgbClr val="000000"/>
            </a:solidFill>
          </p:spPr>
          <p:txBody>
            <a:bodyPr/>
            <a:lstStyle/>
            <a:p>
              <a:endParaRPr lang="en-GB"/>
            </a:p>
          </p:txBody>
        </p:sp>
      </p:grpSp>
      <p:grpSp>
        <p:nvGrpSpPr>
          <p:cNvPr id="24" name="Group 24"/>
          <p:cNvGrpSpPr/>
          <p:nvPr/>
        </p:nvGrpSpPr>
        <p:grpSpPr>
          <a:xfrm>
            <a:off x="10595416" y="5917433"/>
            <a:ext cx="1739186" cy="1119755"/>
            <a:chOff x="0" y="0"/>
            <a:chExt cx="2318915" cy="1493007"/>
          </a:xfrm>
        </p:grpSpPr>
        <p:sp>
          <p:nvSpPr>
            <p:cNvPr id="25" name="Freeform 25"/>
            <p:cNvSpPr/>
            <p:nvPr/>
          </p:nvSpPr>
          <p:spPr>
            <a:xfrm>
              <a:off x="14732" y="4953"/>
              <a:ext cx="2289429" cy="1483106"/>
            </a:xfrm>
            <a:custGeom>
              <a:avLst/>
              <a:gdLst/>
              <a:ahLst/>
              <a:cxnLst/>
              <a:rect l="l" t="t" r="r" b="b"/>
              <a:pathLst>
                <a:path w="2289429" h="1483106">
                  <a:moveTo>
                    <a:pt x="34036" y="0"/>
                  </a:moveTo>
                  <a:lnTo>
                    <a:pt x="2289429" y="1429512"/>
                  </a:lnTo>
                  <a:lnTo>
                    <a:pt x="2255393" y="1483106"/>
                  </a:lnTo>
                  <a:lnTo>
                    <a:pt x="0" y="53594"/>
                  </a:lnTo>
                  <a:close/>
                </a:path>
              </a:pathLst>
            </a:custGeom>
            <a:solidFill>
              <a:srgbClr val="000000"/>
            </a:solidFill>
          </p:spPr>
          <p:txBody>
            <a:bodyPr/>
            <a:lstStyle/>
            <a:p>
              <a:endParaRPr lang="en-GB"/>
            </a:p>
          </p:txBody>
        </p:sp>
      </p:grpSp>
      <p:grpSp>
        <p:nvGrpSpPr>
          <p:cNvPr id="26" name="Group 26"/>
          <p:cNvGrpSpPr/>
          <p:nvPr/>
        </p:nvGrpSpPr>
        <p:grpSpPr>
          <a:xfrm>
            <a:off x="1710557" y="6477310"/>
            <a:ext cx="3759369" cy="993506"/>
            <a:chOff x="0" y="0"/>
            <a:chExt cx="5012492" cy="1324675"/>
          </a:xfrm>
        </p:grpSpPr>
        <p:sp>
          <p:nvSpPr>
            <p:cNvPr id="27" name="Freeform 27"/>
            <p:cNvSpPr/>
            <p:nvPr/>
          </p:nvSpPr>
          <p:spPr>
            <a:xfrm>
              <a:off x="0" y="0"/>
              <a:ext cx="5012436" cy="1324737"/>
            </a:xfrm>
            <a:custGeom>
              <a:avLst/>
              <a:gdLst/>
              <a:ahLst/>
              <a:cxnLst/>
              <a:rect l="l" t="t" r="r" b="b"/>
              <a:pathLst>
                <a:path w="5012436" h="1324737">
                  <a:moveTo>
                    <a:pt x="0" y="0"/>
                  </a:moveTo>
                  <a:lnTo>
                    <a:pt x="5012436" y="0"/>
                  </a:lnTo>
                  <a:lnTo>
                    <a:pt x="5012436" y="1324737"/>
                  </a:lnTo>
                  <a:lnTo>
                    <a:pt x="0" y="1324737"/>
                  </a:lnTo>
                  <a:lnTo>
                    <a:pt x="0" y="0"/>
                  </a:lnTo>
                  <a:close/>
                </a:path>
              </a:pathLst>
            </a:custGeom>
            <a:blipFill>
              <a:blip r:embed="rId11"/>
              <a:stretch>
                <a:fillRect t="-8015" r="-1" b="-8010"/>
              </a:stretch>
            </a:blipFill>
          </p:spPr>
          <p:txBody>
            <a:bodyPr/>
            <a:lstStyle/>
            <a:p>
              <a:endParaRPr lang="en-GB"/>
            </a:p>
          </p:txBody>
        </p:sp>
      </p:grpSp>
      <p:grpSp>
        <p:nvGrpSpPr>
          <p:cNvPr id="28" name="Group 28"/>
          <p:cNvGrpSpPr/>
          <p:nvPr/>
        </p:nvGrpSpPr>
        <p:grpSpPr>
          <a:xfrm>
            <a:off x="13167021" y="4757907"/>
            <a:ext cx="3736719" cy="958635"/>
            <a:chOff x="0" y="0"/>
            <a:chExt cx="4982292" cy="1278180"/>
          </a:xfrm>
        </p:grpSpPr>
        <p:sp>
          <p:nvSpPr>
            <p:cNvPr id="29" name="Freeform 29"/>
            <p:cNvSpPr/>
            <p:nvPr/>
          </p:nvSpPr>
          <p:spPr>
            <a:xfrm>
              <a:off x="0" y="0"/>
              <a:ext cx="4982337" cy="1278128"/>
            </a:xfrm>
            <a:custGeom>
              <a:avLst/>
              <a:gdLst/>
              <a:ahLst/>
              <a:cxnLst/>
              <a:rect l="l" t="t" r="r" b="b"/>
              <a:pathLst>
                <a:path w="4982337" h="1278128">
                  <a:moveTo>
                    <a:pt x="0" y="0"/>
                  </a:moveTo>
                  <a:lnTo>
                    <a:pt x="4982337" y="0"/>
                  </a:lnTo>
                  <a:lnTo>
                    <a:pt x="4982337" y="1278128"/>
                  </a:lnTo>
                  <a:lnTo>
                    <a:pt x="0" y="1278128"/>
                  </a:lnTo>
                  <a:lnTo>
                    <a:pt x="0" y="0"/>
                  </a:lnTo>
                  <a:close/>
                </a:path>
              </a:pathLst>
            </a:custGeom>
            <a:blipFill>
              <a:blip r:embed="rId12"/>
              <a:stretch>
                <a:fillRect t="-104" b="-108"/>
              </a:stretch>
            </a:blipFill>
          </p:spPr>
          <p:txBody>
            <a:bodyPr/>
            <a:lstStyle/>
            <a:p>
              <a:endParaRPr lang="en-GB"/>
            </a:p>
          </p:txBody>
        </p:sp>
      </p:grpSp>
      <p:grpSp>
        <p:nvGrpSpPr>
          <p:cNvPr id="30" name="Group 30"/>
          <p:cNvGrpSpPr/>
          <p:nvPr/>
        </p:nvGrpSpPr>
        <p:grpSpPr>
          <a:xfrm>
            <a:off x="7323365" y="6265270"/>
            <a:ext cx="967091" cy="1640186"/>
            <a:chOff x="0" y="0"/>
            <a:chExt cx="1289455" cy="2186915"/>
          </a:xfrm>
        </p:grpSpPr>
        <p:sp>
          <p:nvSpPr>
            <p:cNvPr id="31" name="Freeform 31"/>
            <p:cNvSpPr/>
            <p:nvPr/>
          </p:nvSpPr>
          <p:spPr>
            <a:xfrm>
              <a:off x="4191" y="15875"/>
              <a:ext cx="1281049" cy="2155190"/>
            </a:xfrm>
            <a:custGeom>
              <a:avLst/>
              <a:gdLst/>
              <a:ahLst/>
              <a:cxnLst/>
              <a:rect l="l" t="t" r="r" b="b"/>
              <a:pathLst>
                <a:path w="1281049" h="2155190">
                  <a:moveTo>
                    <a:pt x="1281049" y="31750"/>
                  </a:moveTo>
                  <a:lnTo>
                    <a:pt x="55118" y="2155190"/>
                  </a:lnTo>
                  <a:lnTo>
                    <a:pt x="0" y="2123440"/>
                  </a:lnTo>
                  <a:lnTo>
                    <a:pt x="1226058" y="0"/>
                  </a:lnTo>
                  <a:close/>
                </a:path>
              </a:pathLst>
            </a:custGeom>
            <a:solidFill>
              <a:srgbClr val="000000"/>
            </a:solidFill>
          </p:spPr>
          <p:txBody>
            <a:bodyPr/>
            <a:lstStyle/>
            <a:p>
              <a:endParaRPr lang="en-GB"/>
            </a:p>
          </p:txBody>
        </p:sp>
      </p:grpSp>
      <p:grpSp>
        <p:nvGrpSpPr>
          <p:cNvPr id="32" name="Group 32"/>
          <p:cNvGrpSpPr/>
          <p:nvPr/>
        </p:nvGrpSpPr>
        <p:grpSpPr>
          <a:xfrm>
            <a:off x="5922313" y="8011277"/>
            <a:ext cx="2213897" cy="1115597"/>
            <a:chOff x="0" y="0"/>
            <a:chExt cx="2951863" cy="1487463"/>
          </a:xfrm>
        </p:grpSpPr>
        <p:sp>
          <p:nvSpPr>
            <p:cNvPr id="33" name="Freeform 33"/>
            <p:cNvSpPr/>
            <p:nvPr/>
          </p:nvSpPr>
          <p:spPr>
            <a:xfrm>
              <a:off x="0" y="0"/>
              <a:ext cx="2951861" cy="1487424"/>
            </a:xfrm>
            <a:custGeom>
              <a:avLst/>
              <a:gdLst/>
              <a:ahLst/>
              <a:cxnLst/>
              <a:rect l="l" t="t" r="r" b="b"/>
              <a:pathLst>
                <a:path w="2951861" h="1487424">
                  <a:moveTo>
                    <a:pt x="0" y="0"/>
                  </a:moveTo>
                  <a:lnTo>
                    <a:pt x="2951861" y="0"/>
                  </a:lnTo>
                  <a:lnTo>
                    <a:pt x="2951861" y="1487424"/>
                  </a:lnTo>
                  <a:lnTo>
                    <a:pt x="0" y="1487424"/>
                  </a:lnTo>
                  <a:lnTo>
                    <a:pt x="0" y="0"/>
                  </a:lnTo>
                  <a:close/>
                </a:path>
              </a:pathLst>
            </a:custGeom>
            <a:blipFill>
              <a:blip r:embed="rId13"/>
              <a:stretch>
                <a:fillRect t="-129" b="-131"/>
              </a:stretch>
            </a:blipFill>
          </p:spPr>
          <p:txBody>
            <a:bodyPr/>
            <a:lstStyle/>
            <a:p>
              <a:endParaRPr lang="en-GB"/>
            </a:p>
          </p:txBody>
        </p:sp>
      </p:grpSp>
      <p:grpSp>
        <p:nvGrpSpPr>
          <p:cNvPr id="34" name="Group 34"/>
          <p:cNvGrpSpPr/>
          <p:nvPr/>
        </p:nvGrpSpPr>
        <p:grpSpPr>
          <a:xfrm>
            <a:off x="12514164" y="6530799"/>
            <a:ext cx="3815403" cy="1480479"/>
            <a:chOff x="0" y="0"/>
            <a:chExt cx="5087204" cy="1973972"/>
          </a:xfrm>
        </p:grpSpPr>
        <p:sp>
          <p:nvSpPr>
            <p:cNvPr id="35" name="Freeform 35"/>
            <p:cNvSpPr/>
            <p:nvPr/>
          </p:nvSpPr>
          <p:spPr>
            <a:xfrm>
              <a:off x="0" y="0"/>
              <a:ext cx="5087239" cy="1973961"/>
            </a:xfrm>
            <a:custGeom>
              <a:avLst/>
              <a:gdLst/>
              <a:ahLst/>
              <a:cxnLst/>
              <a:rect l="l" t="t" r="r" b="b"/>
              <a:pathLst>
                <a:path w="5087239" h="1973961">
                  <a:moveTo>
                    <a:pt x="0" y="0"/>
                  </a:moveTo>
                  <a:lnTo>
                    <a:pt x="5087239" y="0"/>
                  </a:lnTo>
                  <a:lnTo>
                    <a:pt x="5087239" y="1973961"/>
                  </a:lnTo>
                  <a:lnTo>
                    <a:pt x="0" y="1973961"/>
                  </a:lnTo>
                  <a:lnTo>
                    <a:pt x="0" y="0"/>
                  </a:lnTo>
                  <a:close/>
                </a:path>
              </a:pathLst>
            </a:custGeom>
            <a:blipFill>
              <a:blip r:embed="rId14"/>
              <a:stretch>
                <a:fillRect t="-26061" b="-26062"/>
              </a:stretch>
            </a:blipFill>
          </p:spPr>
          <p:txBody>
            <a:bodyPr/>
            <a:lstStyle/>
            <a:p>
              <a:endParaRPr lang="en-GB"/>
            </a:p>
          </p:txBody>
        </p:sp>
      </p:grpSp>
      <p:sp>
        <p:nvSpPr>
          <p:cNvPr id="36" name="TextBox 36"/>
          <p:cNvSpPr txBox="1"/>
          <p:nvPr/>
        </p:nvSpPr>
        <p:spPr>
          <a:xfrm>
            <a:off x="0" y="730864"/>
            <a:ext cx="18288000" cy="1125158"/>
          </a:xfrm>
          <a:prstGeom prst="rect">
            <a:avLst/>
          </a:prstGeom>
        </p:spPr>
        <p:txBody>
          <a:bodyPr lIns="0" tIns="0" rIns="0" bIns="0" rtlCol="0" anchor="t">
            <a:spAutoFit/>
          </a:bodyPr>
          <a:lstStyle/>
          <a:p>
            <a:pPr algn="ctr">
              <a:lnSpc>
                <a:spcPts val="8749"/>
              </a:lnSpc>
            </a:pPr>
            <a:r>
              <a:rPr lang="en-US" sz="6248" b="1">
                <a:solidFill>
                  <a:srgbClr val="000000"/>
                </a:solidFill>
                <a:latin typeface="Tahoma Bold"/>
                <a:ea typeface="Tahoma Bold"/>
                <a:cs typeface="Tahoma Bold"/>
                <a:sym typeface="Tahoma Bold"/>
              </a:rPr>
              <a:t>Finding a part-time job</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AF3E0"/>
        </a:solidFill>
        <a:effectLst/>
      </p:bgPr>
    </p:bg>
    <p:spTree>
      <p:nvGrpSpPr>
        <p:cNvPr id="1" name=""/>
        <p:cNvGrpSpPr/>
        <p:nvPr/>
      </p:nvGrpSpPr>
      <p:grpSpPr>
        <a:xfrm>
          <a:off x="0" y="0"/>
          <a:ext cx="0" cy="0"/>
          <a:chOff x="0" y="0"/>
          <a:chExt cx="0" cy="0"/>
        </a:xfrm>
      </p:grpSpPr>
      <p:grpSp>
        <p:nvGrpSpPr>
          <p:cNvPr id="2" name="Group 2"/>
          <p:cNvGrpSpPr/>
          <p:nvPr/>
        </p:nvGrpSpPr>
        <p:grpSpPr>
          <a:xfrm>
            <a:off x="1" y="1866900"/>
            <a:ext cx="18288000" cy="8420100"/>
            <a:chOff x="0" y="0"/>
            <a:chExt cx="27934036" cy="11333612"/>
          </a:xfrm>
        </p:grpSpPr>
        <p:sp>
          <p:nvSpPr>
            <p:cNvPr id="3" name="Freeform 3"/>
            <p:cNvSpPr/>
            <p:nvPr/>
          </p:nvSpPr>
          <p:spPr>
            <a:xfrm>
              <a:off x="0" y="0"/>
              <a:ext cx="27934031" cy="11333607"/>
            </a:xfrm>
            <a:custGeom>
              <a:avLst/>
              <a:gdLst/>
              <a:ahLst/>
              <a:cxnLst/>
              <a:rect l="l" t="t" r="r" b="b"/>
              <a:pathLst>
                <a:path w="27934031" h="11333607">
                  <a:moveTo>
                    <a:pt x="0" y="0"/>
                  </a:moveTo>
                  <a:lnTo>
                    <a:pt x="27934031" y="0"/>
                  </a:lnTo>
                  <a:lnTo>
                    <a:pt x="27934031" y="11333607"/>
                  </a:lnTo>
                  <a:lnTo>
                    <a:pt x="0" y="11333607"/>
                  </a:lnTo>
                  <a:lnTo>
                    <a:pt x="0" y="0"/>
                  </a:lnTo>
                  <a:close/>
                </a:path>
              </a:pathLst>
            </a:custGeom>
            <a:blipFill>
              <a:blip r:embed="rId2"/>
              <a:stretch>
                <a:fillRect t="-19319" b="-19319"/>
              </a:stretch>
            </a:blipFill>
          </p:spPr>
          <p:txBody>
            <a:bodyPr/>
            <a:lstStyle/>
            <a:p>
              <a:endParaRPr lang="en-GB"/>
            </a:p>
          </p:txBody>
        </p:sp>
      </p:grpSp>
      <p:sp>
        <p:nvSpPr>
          <p:cNvPr id="4" name="TextBox 4"/>
          <p:cNvSpPr txBox="1"/>
          <p:nvPr/>
        </p:nvSpPr>
        <p:spPr>
          <a:xfrm>
            <a:off x="0" y="306698"/>
            <a:ext cx="18288000" cy="939135"/>
          </a:xfrm>
          <a:prstGeom prst="rect">
            <a:avLst/>
          </a:prstGeom>
        </p:spPr>
        <p:txBody>
          <a:bodyPr lIns="0" tIns="0" rIns="0" bIns="0" rtlCol="0" anchor="t">
            <a:spAutoFit/>
          </a:bodyPr>
          <a:lstStyle/>
          <a:p>
            <a:pPr algn="ctr">
              <a:lnSpc>
                <a:spcPts val="7280"/>
              </a:lnSpc>
            </a:pPr>
            <a:r>
              <a:rPr lang="en-US" sz="5198" b="1">
                <a:solidFill>
                  <a:srgbClr val="000000"/>
                </a:solidFill>
                <a:latin typeface="Tahoma Bold"/>
                <a:ea typeface="Tahoma Bold"/>
                <a:cs typeface="Tahoma Bold"/>
                <a:sym typeface="Tahoma Bold"/>
              </a:rPr>
              <a:t>Preparation Resources: Careers+ website</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19.0.7022"/>
  <p:tag name="SLIDO_PRESENTATION_ID" val="d9ee0aa4-dc2b-4fbc-8d17-59f9e40fbf09"/>
  <p:tag name="SLIDO_EVENT_UUID" val="ecab9e66-28bc-4f8b-a427-77cc0897d2f4"/>
  <p:tag name="SLIDO_EVENT_SECTION_UUID" val="beaa9956-43f2-4500-ada5-abb025080c48"/>
</p:tagLst>
</file>

<file path=ppt/tags/tag2.xml><?xml version="1.0" encoding="utf-8"?>
<p:tagLst xmlns:a="http://schemas.openxmlformats.org/drawingml/2006/main" xmlns:r="http://schemas.openxmlformats.org/officeDocument/2006/relationships" xmlns:p="http://schemas.openxmlformats.org/presentationml/2006/main">
  <p:tag name="SLIDO_METADATA" val="eyJUaW1lc3RhbXAiOjE3NjkwMTIzMDl9"/>
  <p:tag name="SLIDO_TYPE" val="SlidoPoll"/>
  <p:tag name="SLIDO_POLL_UUID" val="b015c80c-42eb-4d1f-a185-fcea44cc2c11"/>
  <p:tag name="SLIDO_TIMELINE" val="W3sicG9sbFF1ZXN0aW9uVXVpZCI6IjJlMmNiYWMzLTQ3OGUtNDA3Zi05N2QyLTA3YThmYjJjM2EzMiIsInNob3dSZXN1bHRzIjp0cnVlLCJzaG93Q29ycmVjdEFuc3dlcnMiOmZhbHNlLCJ2b3RpbmdMb2NrZWQiOmZhbHNlfV0="/>
</p:tagLst>
</file>

<file path=ppt/tags/tag3.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OpenText"/>
</p:tagLst>
</file>

<file path=ppt/tags/tag4.xml><?xml version="1.0" encoding="utf-8"?>
<p:tagLst xmlns:a="http://schemas.openxmlformats.org/drawingml/2006/main" xmlns:r="http://schemas.openxmlformats.org/officeDocument/2006/relationships" xmlns:p="http://schemas.openxmlformats.org/presentationml/2006/main">
  <p:tag name="SLIDO_ELEMENT" val="titl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f8e9ab4-c849-4d58-8e90-3b713749ba57">
      <Terms xmlns="http://schemas.microsoft.com/office/infopath/2007/PartnerControls"/>
    </lcf76f155ced4ddcb4097134ff3c332f>
    <TaxCatchAll xmlns="bfb7e090-8d21-41c3-9c4e-7c02f064564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69BBA522B33BB4281DFFE975833693B" ma:contentTypeVersion="14" ma:contentTypeDescription="Create a new document." ma:contentTypeScope="" ma:versionID="df4a71343e91aec7deeb0ac1fbc9ea30">
  <xsd:schema xmlns:xsd="http://www.w3.org/2001/XMLSchema" xmlns:xs="http://www.w3.org/2001/XMLSchema" xmlns:p="http://schemas.microsoft.com/office/2006/metadata/properties" xmlns:ns2="1f8e9ab4-c849-4d58-8e90-3b713749ba57" xmlns:ns3="bfb7e090-8d21-41c3-9c4e-7c02f064564a" targetNamespace="http://schemas.microsoft.com/office/2006/metadata/properties" ma:root="true" ma:fieldsID="3d486ebb3fe06133707bcc034c4bdcb6" ns2:_="" ns3:_="">
    <xsd:import namespace="1f8e9ab4-c849-4d58-8e90-3b713749ba57"/>
    <xsd:import namespace="bfb7e090-8d21-41c3-9c4e-7c02f064564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8e9ab4-c849-4d58-8e90-3b713749ba5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0079947-579e-4d23-8b99-80415d201ee4"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descrip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fb7e090-8d21-41c3-9c4e-7c02f064564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795f969-caab-41d4-b687-d81e03764baf}" ma:internalName="TaxCatchAll" ma:showField="CatchAllData" ma:web="bfb7e090-8d21-41c3-9c4e-7c02f064564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2D4A785-3FF5-451C-A1C3-F6CAF16E1213}">
  <ds:schemaRefs>
    <ds:schemaRef ds:uri="http://purl.org/dc/elements/1.1/"/>
    <ds:schemaRef ds:uri="http://schemas.microsoft.com/office/infopath/2007/PartnerControls"/>
    <ds:schemaRef ds:uri="http://schemas.microsoft.com/office/2006/metadata/properties"/>
    <ds:schemaRef ds:uri="1f8e9ab4-c849-4d58-8e90-3b713749ba57"/>
    <ds:schemaRef ds:uri="http://purl.org/dc/terms/"/>
    <ds:schemaRef ds:uri="http://purl.org/dc/dcmitype/"/>
    <ds:schemaRef ds:uri="http://schemas.microsoft.com/office/2006/documentManagement/types"/>
    <ds:schemaRef ds:uri="http://schemas.openxmlformats.org/package/2006/metadata/core-properties"/>
    <ds:schemaRef ds:uri="bfb7e090-8d21-41c3-9c4e-7c02f064564a"/>
    <ds:schemaRef ds:uri="http://www.w3.org/XML/1998/namespace"/>
  </ds:schemaRefs>
</ds:datastoreItem>
</file>

<file path=customXml/itemProps2.xml><?xml version="1.0" encoding="utf-8"?>
<ds:datastoreItem xmlns:ds="http://schemas.openxmlformats.org/officeDocument/2006/customXml" ds:itemID="{E2D3113B-2914-4448-93EB-20C156F31E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f8e9ab4-c849-4d58-8e90-3b713749ba57"/>
    <ds:schemaRef ds:uri="bfb7e090-8d21-41c3-9c4e-7c02f064564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346D4A2-D55E-43F5-A9FF-8FCCC57637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351</TotalTime>
  <Words>1639</Words>
  <Application>Microsoft Office PowerPoint</Application>
  <PresentationFormat>Custom</PresentationFormat>
  <Paragraphs>228</Paragraphs>
  <Slides>31</Slides>
  <Notes>12</Notes>
  <HiddenSlides>2</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31</vt:i4>
      </vt:variant>
    </vt:vector>
  </HeadingPairs>
  <TitlesOfParts>
    <vt:vector size="44" baseType="lpstr">
      <vt:lpstr>FH Lecturis Rounded Test Bold</vt:lpstr>
      <vt:lpstr>DIN Offc 3</vt:lpstr>
      <vt:lpstr>Tahoma</vt:lpstr>
      <vt:lpstr>Calibri</vt:lpstr>
      <vt:lpstr>DIN Offc 1</vt:lpstr>
      <vt:lpstr>Arial</vt:lpstr>
      <vt:lpstr>Tahoma Bold</vt:lpstr>
      <vt:lpstr>Abadi</vt:lpstr>
      <vt:lpstr>Footlight MT Light</vt:lpstr>
      <vt:lpstr>DIN Offc 2</vt:lpstr>
      <vt:lpstr>Agency FB</vt:lpstr>
      <vt:lpstr>Public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L5 Career Planning Slides</dc:title>
  <dc:creator>Joel O'Toole</dc:creator>
  <cp:lastModifiedBy>Marlene Vassell</cp:lastModifiedBy>
  <cp:revision>3</cp:revision>
  <dcterms:created xsi:type="dcterms:W3CDTF">2006-08-16T00:00:00Z</dcterms:created>
  <dcterms:modified xsi:type="dcterms:W3CDTF">2026-02-02T09:14:44Z</dcterms:modified>
  <dc:identifier>DAGztZYzrkc</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0x010100F69BBA522B33BB4281DFFE975833693B</vt:lpwstr>
  </property>
  <property fmtid="{D5CDD505-2E9C-101B-9397-08002B2CF9AE}" pid="3" name="MediaServiceImageTags">
    <vt:lpwstr/>
  </property>
</Properties>
</file>